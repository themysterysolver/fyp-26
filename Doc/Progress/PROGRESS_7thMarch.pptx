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8" r:id="rId1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37524-8608-4B16-BC45-35DD96E42492}">
  <a:tblStyle styleId="{73B37524-8608-4B16-BC45-35DD96E424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18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7b5b97c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7b5b97c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7b5b97c7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7b5b97c7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7b5b97c7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7b5b97c7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54ac20c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54ac20c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2D3FFC6-CC10-3845-3235-E9E6E4B8C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E7E781AE-0802-87CC-6D68-57D45ABF5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5BC95C3F-C418-F26F-3A2C-BA50914515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596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A37214C-D630-D352-DE30-315878EF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82236268-557C-F467-84E7-CAEFDD95B2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35D8A82B-7895-350D-E1FB-C39EF3AF7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3114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965EC1D-A71A-5511-E9A3-0113A88EB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2BFC575F-625B-0945-CF40-1E874AEFC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8E27AA3-3257-478B-9278-B48A3DF82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677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B1C4098-D81D-081C-C6D8-B3BBEF34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4C118F44-9981-474D-F3E9-7536F2E41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E0BDD2A0-345C-00C0-188D-43C4A4203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420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83BC59C-21E2-2416-760C-1FC52A70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78B148B8-499C-00E3-8769-3E92016A5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B1CC4C2F-57A9-C4A1-CE0E-D5837FA66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462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C3FA156-32CD-DEFD-0271-A3725F78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4081558C-BFF5-4CBD-9F50-AD80E8AFC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9A4C7C9-1A3F-43CC-51BA-672F41180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283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../Pipeline%20construction/AST+DYNMAIC+LIB_API/final_dataset_v2.csv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B8B670-62CD-5B56-BF4D-7F23D590A3E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279400" marR="635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/>
              <a:t>Federated Learning for Code Generation with Hallucination-Aware Fine Tuning</a:t>
            </a:r>
            <a:endParaRPr sz="22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79" y="3679587"/>
            <a:ext cx="2974875" cy="10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BF0FC89-364A-B060-FD66-D0ABA63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E93A0-171F-26CD-CDF3-E083911A513F}"/>
              </a:ext>
            </a:extLst>
          </p:cNvPr>
          <p:cNvSpPr txBox="1"/>
          <p:nvPr/>
        </p:nvSpPr>
        <p:spPr>
          <a:xfrm>
            <a:off x="2725615" y="1062382"/>
            <a:ext cx="3739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CS6811 – Project Work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80D0B-7259-0BDE-42B1-D560F27479CB}"/>
              </a:ext>
            </a:extLst>
          </p:cNvPr>
          <p:cNvSpPr txBox="1"/>
          <p:nvPr/>
        </p:nvSpPr>
        <p:spPr>
          <a:xfrm>
            <a:off x="7039778" y="3734718"/>
            <a:ext cx="179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Thanasekhar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Technology, MIT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163100" y="10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INTRODUCTION</a:t>
            </a:r>
            <a:endParaRPr sz="1720" b="1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48700" y="681450"/>
            <a:ext cx="8895300" cy="4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Large Language Models (LLMs) have  remarkable capabilities in code generation ,enabling automated solutions to a wide range of software engineering tasks.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 However  LLMs frequently suffer from hallucinations in code generation, producing syntactically valid but semantically incorrect programs, non-existent APIs, or logically flawed implementations.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Existing approaches to mitigating code hallucinations primarily rely on prompt engineering, repeated sampling, or full model fine-tuning.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 Full fine-tuning is computationally expensive and impractical in low-resource or decentralized settings, and repeated sampling does not address the underlying causes and mitigation of hallucination.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In real-world development environments, code generation systems are often deployed across multiple decentralized clients where data cannot be centrally aggregated due to privacy, ownership.</a:t>
            </a:r>
            <a:endParaRPr sz="1360" dirty="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 dirty="0">
                <a:solidFill>
                  <a:schemeClr val="dk1"/>
                </a:solidFill>
              </a:rPr>
              <a:t>To address these limitations we propose a hallucination-aware code generation framework that combines program analysis, targeted automatic program repair, and federated parameter-efficient fine-tuning using LoRA.</a:t>
            </a:r>
            <a:endParaRPr sz="136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36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85887-3AF5-B7BF-F37B-DF5D5B29410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3109946-00BA-10F5-050F-85C317F8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PROBLEM STATEMENT</a:t>
            </a:r>
            <a:endParaRPr sz="1720" b="1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24350" y="316523"/>
            <a:ext cx="8895300" cy="4624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Code generation using large language models (LLMs) is currently hindered by hallucinations.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Existing mitigation strategies typically rely on supervised fine-tuning or reinforcement learning from human feedback (RLHF), where models are trained to align with human preferences 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While parameter-efficient fine-tuning methods such as LoRA reduce computational overhead compared to full fine-tuning, both approaches primarily optimize model behavior but without explicit verification of program correctness.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 As a result, these methods may improve correctness but often fail to systematically detect and correct deeper structural, semantic, and execution-level errors in generated code.</a:t>
            </a:r>
            <a:endParaRPr sz="1388" dirty="0">
              <a:solidFill>
                <a:schemeClr val="dk1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Furthermore, in real world scenarios, high-quality code and execution feedback are distributed across multiple organizations making centralized data collection infeasible due to privacy concerns. 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Without a secure and decentralized learning mechanism, models are unable to effectively learn from diverse hallucination patterns observed across clients. 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" sz="1388" dirty="0">
                <a:solidFill>
                  <a:schemeClr val="dk1"/>
                </a:solidFill>
              </a:rPr>
              <a:t>This creates a critical gap for a unified framework that integrates explicit hallucination detection and automated program verification with privacy-preserving, parameter-efficient adaptation to improve the quality of code generation .</a:t>
            </a:r>
            <a:endParaRPr sz="1388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075"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768264-C0F3-1231-F996-DD7CC1B12AA8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BAA4D4-6C1C-EB49-40FE-BF3E2415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81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OBJECTIVES</a:t>
            </a:r>
            <a:endParaRPr sz="1720" b="1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124350" y="1054550"/>
            <a:ext cx="8895300" cy="3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design a hallucination-aware code generation framework that integrates static and dynamic program analysis.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detect and classify different types of hallucinations in generated code using oracle-based verification.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apply automatic program repair for correcting hallucinated code using knowledge-guided patching.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fine-tune large language models using parameter-efficient LoRA in a federated learning setting.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evaluate the proposed framework on standard code generation benchmarks and analyze hallucination reduction.</a:t>
            </a:r>
            <a:endParaRPr sz="146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46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0B119-3AAD-D2FF-D013-2AD7FC43E74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2E21217-6E82-46C8-71AE-06EEB751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C8BF9-75E2-B7B2-ECF0-9A40F06A8B7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5653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ARCHITECTURE DIAGRAM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3172449" y="4436606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Client side hallucination detection and mitigation framework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8B23330-663D-1AEF-F51C-EE96C793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AE0978-3985-EE48-1C83-E20FC2D5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6" y="896273"/>
            <a:ext cx="7765256" cy="33509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ARCHITECTURE DIAGRAM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756200" y="4493700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Federated learning + LoRA for fine-tuning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400" y="745200"/>
            <a:ext cx="5820704" cy="37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6BB976-DEB5-A5C2-93C1-523D90EC711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ED99A-9F58-45EF-73A3-80A411D1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436839E-B1CE-E4E4-3397-6ABD7C18F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4ACB4DB0-CB42-168C-36E0-2BCAE73328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8243" y="219381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DATASET CREATION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95F105-337E-8770-9715-26CE2708A71F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98DDA3-3D2A-CAA4-51C1-B2E2C6D5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4C1A8-136D-2BA4-4C2C-F802C9142748}"/>
              </a:ext>
            </a:extLst>
          </p:cNvPr>
          <p:cNvSpPr txBox="1"/>
          <p:nvPr/>
        </p:nvSpPr>
        <p:spPr>
          <a:xfrm>
            <a:off x="435768" y="885825"/>
            <a:ext cx="63321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is the final output of hallucination detection and mitigation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contains these columns,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3BCAF-9A95-7738-B6E3-B9385063710A}"/>
              </a:ext>
            </a:extLst>
          </p:cNvPr>
          <p:cNvSpPr txBox="1"/>
          <p:nvPr/>
        </p:nvSpPr>
        <p:spPr>
          <a:xfrm>
            <a:off x="864393" y="1573323"/>
            <a:ext cx="72937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IN" dirty="0"/>
              <a:t>Dataset ,</a:t>
            </a:r>
            <a:r>
              <a:rPr lang="en-IN" dirty="0" err="1"/>
              <a:t>task_id</a:t>
            </a:r>
            <a:r>
              <a:rPr lang="en-IN" dirty="0"/>
              <a:t> , prompt ,status , </a:t>
            </a:r>
            <a:r>
              <a:rPr lang="en-IN" dirty="0" err="1"/>
              <a:t>ast_info</a:t>
            </a:r>
            <a:r>
              <a:rPr lang="en-IN" dirty="0"/>
              <a:t> ,</a:t>
            </a:r>
            <a:r>
              <a:rPr lang="en-IN" dirty="0" err="1"/>
              <a:t>dynamic_info</a:t>
            </a:r>
            <a:r>
              <a:rPr lang="en-IN" dirty="0"/>
              <a:t> ,</a:t>
            </a:r>
            <a:r>
              <a:rPr lang="en-IN" dirty="0" err="1"/>
              <a:t>lib_info</a:t>
            </a:r>
            <a:r>
              <a:rPr lang="en-IN" dirty="0"/>
              <a:t>, </a:t>
            </a:r>
            <a:r>
              <a:rPr lang="en-IN" dirty="0" err="1"/>
              <a:t>generated_code</a:t>
            </a:r>
            <a:endParaRPr lang="en-IN" dirty="0"/>
          </a:p>
          <a:p>
            <a:pPr lvl="2"/>
            <a:r>
              <a:rPr lang="en-IN" dirty="0" err="1"/>
              <a:t>patched_code</a:t>
            </a:r>
            <a:r>
              <a:rPr lang="en-IN" dirty="0"/>
              <a:t> , </a:t>
            </a:r>
            <a:r>
              <a:rPr lang="en-IN" dirty="0" err="1"/>
              <a:t>error_sources</a:t>
            </a:r>
            <a:r>
              <a:rPr lang="en-IN" dirty="0"/>
              <a:t> , </a:t>
            </a:r>
            <a:r>
              <a:rPr lang="en-IN" dirty="0" err="1"/>
              <a:t>error_types</a:t>
            </a:r>
            <a:r>
              <a:rPr lang="en-IN" dirty="0"/>
              <a:t> , </a:t>
            </a:r>
            <a:r>
              <a:rPr lang="en-IN" dirty="0" err="1"/>
              <a:t>error_lines</a:t>
            </a:r>
            <a:r>
              <a:rPr lang="en-IN" dirty="0"/>
              <a:t> , </a:t>
            </a:r>
            <a:r>
              <a:rPr lang="en-IN" dirty="0" err="1"/>
              <a:t>canonical_solution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DE4C8-E3D1-6F52-F397-7B187AD2E14E}"/>
              </a:ext>
            </a:extLst>
          </p:cNvPr>
          <p:cNvSpPr txBox="1"/>
          <p:nvPr/>
        </p:nvSpPr>
        <p:spPr>
          <a:xfrm>
            <a:off x="435768" y="2346546"/>
            <a:ext cx="75009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Prompt and canonical solution will be used for fine-tuning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Error count and types will be used against fed weighted average.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hlinkClick r:id="rId3" action="ppaction://hlinkfile"/>
              </a:rPr>
              <a:t>Open final_dataset_v2.csv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90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0D1FF0C-BD66-8149-0E70-32F3D43B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5B86B440-5758-23CB-4F4D-9ABC06698F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 err="1">
                <a:solidFill>
                  <a:schemeClr val="dk1"/>
                </a:solidFill>
              </a:rPr>
              <a:t>LoRA</a:t>
            </a:r>
            <a:r>
              <a:rPr lang="en-IN" sz="1800" b="1" dirty="0">
                <a:solidFill>
                  <a:schemeClr val="dk1"/>
                </a:solidFill>
              </a:rPr>
              <a:t> and FINE TUNING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115856-067B-39A3-7678-3FDBE58A4F14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19A0B-1ED4-5239-1136-C75C6174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DB1D2-4A51-F40B-5B34-F4B09D4A5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87" y="911347"/>
            <a:ext cx="6872287" cy="349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CE8FF-F2C0-49DA-8ACF-05B56DE0C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88" y="1424990"/>
            <a:ext cx="6872287" cy="320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3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6C220E7-EFE9-9EA0-3760-88E95D39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91E3C5D1-0352-AC6E-37D2-5D2FBD1436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ADAPTERS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1759E0-4492-7B2F-9016-15A50E2B8E01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875AF-2583-345D-CEF1-BFEC4283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37C4A-A531-5DC3-8F78-E977A6C4E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2" y="1099582"/>
            <a:ext cx="8015288" cy="6872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2BD6E8-BABC-3142-3F83-6F75541D4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206" y="2048667"/>
            <a:ext cx="6032280" cy="250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32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F7F1B80-181C-CCC5-54B0-F260B0F0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8C8136A9-5B97-B6D6-46AF-A300A58FE02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CHECKING HALLUICNATIONS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A3BEF3-AC89-988B-2D67-23255CB67B49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6ADD1-2B85-43DB-42BF-78CA2466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536B8-95AF-A93E-E2D3-EE78C4EB1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797" y="3276519"/>
            <a:ext cx="5010365" cy="1095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185A20-59E7-73E0-1460-F2957BEC9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28" y="737470"/>
            <a:ext cx="6815138" cy="225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8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C6479DC-49A0-450B-2AEE-4F4CE18A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734D8736-AB18-9942-2974-25E31FB226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126119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FEDERATED AVERAGE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F27A5-16A3-D180-F5FF-D7390BA68B23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39079D-55AE-1EF1-5940-6A775A8F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A0C3C-1B75-ECED-24BA-62ABF987ECA0}"/>
              </a:ext>
            </a:extLst>
          </p:cNvPr>
          <p:cNvSpPr txBox="1"/>
          <p:nvPr/>
        </p:nvSpPr>
        <p:spPr>
          <a:xfrm>
            <a:off x="412215" y="773350"/>
            <a:ext cx="4611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4C564-870B-4002-3D6C-59F4C0AD6848}"/>
                  </a:ext>
                </a:extLst>
              </p:cNvPr>
              <p:cNvSpPr txBox="1"/>
              <p:nvPr/>
            </p:nvSpPr>
            <p:spPr>
              <a:xfrm>
                <a:off x="1384410" y="1475094"/>
                <a:ext cx="1383456" cy="6058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nary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4C564-870B-4002-3D6C-59F4C0AD6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410" y="1475094"/>
                <a:ext cx="1383456" cy="605807"/>
              </a:xfrm>
              <a:prstGeom prst="rect">
                <a:avLst/>
              </a:prstGeom>
              <a:blipFill>
                <a:blip r:embed="rId3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1978C0-65C4-6984-DD1E-19EA5E4C07EA}"/>
                  </a:ext>
                </a:extLst>
              </p:cNvPr>
              <p:cNvSpPr txBox="1"/>
              <p:nvPr/>
            </p:nvSpPr>
            <p:spPr>
              <a:xfrm>
                <a:off x="647959" y="2828072"/>
                <a:ext cx="263335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en-US" sz="1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training samples on client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1978C0-65C4-6984-DD1E-19EA5E4C0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59" y="2828072"/>
                <a:ext cx="2633350" cy="261610"/>
              </a:xfrm>
              <a:prstGeom prst="rect">
                <a:avLst/>
              </a:prstGeom>
              <a:blipFill>
                <a:blip r:embed="rId4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8220A4C-54D0-5C60-E751-F0902A4B9957}"/>
              </a:ext>
            </a:extLst>
          </p:cNvPr>
          <p:cNvSpPr txBox="1"/>
          <p:nvPr/>
        </p:nvSpPr>
        <p:spPr>
          <a:xfrm>
            <a:off x="647959" y="3162368"/>
            <a:ext cx="30364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total number of samples used across all clients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1C04C-E616-C405-BF2C-EE07428065D7}"/>
              </a:ext>
            </a:extLst>
          </p:cNvPr>
          <p:cNvSpPr txBox="1"/>
          <p:nvPr/>
        </p:nvSpPr>
        <p:spPr>
          <a:xfrm>
            <a:off x="647959" y="2541662"/>
            <a:ext cx="22105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- client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A2BAA854-5D91-9BEC-B637-C16B8A73F4B6}"/>
              </a:ext>
            </a:extLst>
          </p:cNvPr>
          <p:cNvSpPr txBox="1"/>
          <p:nvPr/>
        </p:nvSpPr>
        <p:spPr>
          <a:xfrm>
            <a:off x="4444244" y="781629"/>
            <a:ext cx="38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requency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D77CAD68-C3CB-8144-24C8-0896FFC0E5C9}"/>
                  </a:ext>
                </a:extLst>
              </p:cNvPr>
              <p:cNvSpPr txBox="1"/>
              <p:nvPr/>
            </p:nvSpPr>
            <p:spPr>
              <a:xfrm>
                <a:off x="4613972" y="1306286"/>
                <a:ext cx="1565365" cy="8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4">
                <a:extLst>
                  <a:ext uri="{FF2B5EF4-FFF2-40B4-BE49-F238E27FC236}">
                    <a16:creationId xmlns:a16="http://schemas.microsoft.com/office/drawing/2014/main" id="{D77CAD68-C3CB-8144-24C8-0896FFC0E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972" y="1306286"/>
                <a:ext cx="1565365" cy="8615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BB4F4D1-7DCC-BA96-EFF3-8F3EAE957058}"/>
                  </a:ext>
                </a:extLst>
              </p:cNvPr>
              <p:cNvSpPr txBox="1"/>
              <p:nvPr/>
            </p:nvSpPr>
            <p:spPr>
              <a:xfrm>
                <a:off x="4525528" y="3617290"/>
                <a:ext cx="5582093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11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= total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occurrences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error type ‘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across all clients</a:t>
                </a:r>
                <a:b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</a:t>
                </a:r>
                <a:r>
                  <a:rPr lang="en-US" sz="1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k,e</a:t>
                </a:r>
                <a:r>
                  <a:rPr lang="en-US" sz="11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errors of type ‘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client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CBB4F4D1-7DCC-BA96-EFF3-8F3EAE95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528" y="3617290"/>
                <a:ext cx="5582093" cy="507831"/>
              </a:xfrm>
              <a:prstGeom prst="rect">
                <a:avLst/>
              </a:prstGeom>
              <a:blipFill>
                <a:blip r:embed="rId6"/>
                <a:stretch>
                  <a:fillRect t="-3571" b="-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290EFC6E-3297-35CA-E8F4-8EEDCD060B31}"/>
                  </a:ext>
                </a:extLst>
              </p:cNvPr>
              <p:cNvSpPr txBox="1"/>
              <p:nvPr/>
            </p:nvSpPr>
            <p:spPr>
              <a:xfrm>
                <a:off x="4517151" y="2868759"/>
                <a:ext cx="1963614" cy="675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𝑒𝑟𝑟𝑜𝑟𝑠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100" dirty="0"/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290EFC6E-3297-35CA-E8F4-8EEDCD060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151" y="2868759"/>
                <a:ext cx="1963614" cy="675698"/>
              </a:xfrm>
              <a:prstGeom prst="rect">
                <a:avLst/>
              </a:prstGeom>
              <a:blipFill>
                <a:blip r:embed="rId7"/>
                <a:stretch>
                  <a:fillRect l="-2484" t="-20000" b="-46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7">
            <a:extLst>
              <a:ext uri="{FF2B5EF4-FFF2-40B4-BE49-F238E27FC236}">
                <a16:creationId xmlns:a16="http://schemas.microsoft.com/office/drawing/2014/main" id="{BFE39B71-BE77-840E-C05F-F4C69A289461}"/>
              </a:ext>
            </a:extLst>
          </p:cNvPr>
          <p:cNvSpPr txBox="1"/>
          <p:nvPr/>
        </p:nvSpPr>
        <p:spPr>
          <a:xfrm>
            <a:off x="4444244" y="2520295"/>
            <a:ext cx="382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fefinition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087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AB67AAF-35A5-4049-8385-135A59D7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F99E926B-C6E0-3024-3A65-FCC61B4A9A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9637" y="8120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FEDERATED AVERAGE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8CA5A-9BCB-6ABC-6BF4-5537C0F7A56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9A59EB-BFDC-A543-220E-63AE2BA3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F6271-2206-017E-8037-087911063075}"/>
              </a:ext>
            </a:extLst>
          </p:cNvPr>
          <p:cNvSpPr txBox="1"/>
          <p:nvPr/>
        </p:nvSpPr>
        <p:spPr>
          <a:xfrm>
            <a:off x="376792" y="647308"/>
            <a:ext cx="3827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2C29CD0C-3EFE-3231-A1F1-4044B96AA824}"/>
                  </a:ext>
                </a:extLst>
              </p:cNvPr>
              <p:cNvSpPr txBox="1"/>
              <p:nvPr/>
            </p:nvSpPr>
            <p:spPr>
              <a:xfrm>
                <a:off x="376791" y="1161273"/>
                <a:ext cx="3616888" cy="949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𝑒𝑟𝑟𝑜𝑟𝑠</m:t>
                          </m:r>
                        </m:sub>
                        <m:sup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𝑐𝑜𝑢𝑛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2C29CD0C-3EFE-3231-A1F1-4044B96AA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91" y="1161273"/>
                <a:ext cx="3616888" cy="9491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5">
            <a:extLst>
              <a:ext uri="{FF2B5EF4-FFF2-40B4-BE49-F238E27FC236}">
                <a16:creationId xmlns:a16="http://schemas.microsoft.com/office/drawing/2014/main" id="{5F881B0A-7EF1-326F-D44E-DC904316CF47}"/>
              </a:ext>
            </a:extLst>
          </p:cNvPr>
          <p:cNvSpPr txBox="1"/>
          <p:nvPr/>
        </p:nvSpPr>
        <p:spPr>
          <a:xfrm>
            <a:off x="376791" y="2156391"/>
            <a:ext cx="442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client, the total count of each type of error along with its computed weight is accounted for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37DEC84E-AC0D-E61A-B3E7-513DD09EF625}"/>
                  </a:ext>
                </a:extLst>
              </p:cNvPr>
              <p:cNvSpPr txBox="1"/>
              <p:nvPr/>
            </p:nvSpPr>
            <p:spPr>
              <a:xfrm>
                <a:off x="672093" y="3857379"/>
                <a:ext cx="2278444" cy="899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37DEC84E-AC0D-E61A-B3E7-513DD09EF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93" y="3857379"/>
                <a:ext cx="2278444" cy="89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7">
            <a:extLst>
              <a:ext uri="{FF2B5EF4-FFF2-40B4-BE49-F238E27FC236}">
                <a16:creationId xmlns:a16="http://schemas.microsoft.com/office/drawing/2014/main" id="{2ACD350B-B822-E73E-7B88-2721274A3434}"/>
              </a:ext>
            </a:extLst>
          </p:cNvPr>
          <p:cNvSpPr txBox="1"/>
          <p:nvPr/>
        </p:nvSpPr>
        <p:spPr>
          <a:xfrm>
            <a:off x="271374" y="3068440"/>
            <a:ext cx="3827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BDF455AE-23B0-2B54-B837-D4483C1B2D02}"/>
              </a:ext>
            </a:extLst>
          </p:cNvPr>
          <p:cNvSpPr txBox="1"/>
          <p:nvPr/>
        </p:nvSpPr>
        <p:spPr>
          <a:xfrm>
            <a:off x="5729859" y="716427"/>
            <a:ext cx="2721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id="{8AE3B5C0-0158-936D-9F0B-077FBF216F62}"/>
                  </a:ext>
                </a:extLst>
              </p:cNvPr>
              <p:cNvSpPr txBox="1"/>
              <p:nvPr/>
            </p:nvSpPr>
            <p:spPr>
              <a:xfrm>
                <a:off x="5434070" y="1401129"/>
                <a:ext cx="2612767" cy="105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id="{8AE3B5C0-0158-936D-9F0B-077FBF216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070" y="1401129"/>
                <a:ext cx="2612767" cy="10558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8D554E41-9F19-A12B-066F-3D3A87264ECF}"/>
                  </a:ext>
                </a:extLst>
              </p:cNvPr>
              <p:cNvSpPr txBox="1"/>
              <p:nvPr/>
            </p:nvSpPr>
            <p:spPr>
              <a:xfrm>
                <a:off x="4714875" y="2879021"/>
                <a:ext cx="558641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40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- local model weight on round t on client k</a:t>
                </a:r>
              </a:p>
              <a:p>
                <a:r>
                  <a:rPr lang="el-G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k​  - 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normalized weight assigned to client k</a:t>
                </a:r>
                <a:b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t+1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Global model weights after aggregation at round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4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8D554E41-9F19-A12B-066F-3D3A8726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5" y="2879021"/>
                <a:ext cx="5586414" cy="738664"/>
              </a:xfrm>
              <a:prstGeom prst="rect">
                <a:avLst/>
              </a:prstGeom>
              <a:blipFill>
                <a:blip r:embed="rId6"/>
                <a:stretch>
                  <a:fillRect l="-327" t="-826" b="-82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23409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721</Words>
  <Application>Microsoft Office PowerPoint</Application>
  <PresentationFormat>On-screen Show (16:9)</PresentationFormat>
  <Paragraphs>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Cambria Math</vt:lpstr>
      <vt:lpstr>Times New Roman</vt:lpstr>
      <vt:lpstr>Simple Light</vt:lpstr>
      <vt:lpstr>Federated Learning for Code Generation with Hallucination-Aware Fine Tuning </vt:lpstr>
      <vt:lpstr>INTRODUCTION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PRABHAKARA ARJUN R</cp:lastModifiedBy>
  <cp:revision>26</cp:revision>
  <dcterms:modified xsi:type="dcterms:W3CDTF">2026-03-07T03:29:03Z</dcterms:modified>
</cp:coreProperties>
</file>