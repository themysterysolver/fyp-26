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6" r:id="rId10"/>
    <p:sldId id="267" r:id="rId11"/>
    <p:sldId id="268" r:id="rId12"/>
    <p:sldId id="264" r:id="rId13"/>
    <p:sldId id="269" r:id="rId14"/>
    <p:sldId id="271" r:id="rId15"/>
    <p:sldId id="270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1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2D3FFC6-CC10-3845-3235-E9E6E4B8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E7E781AE-0802-87CC-6D68-57D45ABF5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BC95C3F-C418-F26F-3A2C-BA5091451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596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A37214C-D630-D352-DE30-315878EF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2236268-557C-F467-84E7-CAEFDD95B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35D8A82B-7895-350D-E1FB-C39EF3AF7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114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965EC1D-A71A-5511-E9A3-0113A88E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BFC575F-625B-0945-CF40-1E874AEFC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8E27AA3-3257-478B-9278-B48A3DF82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677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83BC59C-21E2-2416-760C-1FC52A70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78B148B8-499C-00E3-8769-3E92016A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1CC4C2F-57A9-C4A1-CE0E-D5837FA6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462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C3FA156-32CD-DEFD-0271-A3725F78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4081558C-BFF5-4CBD-9F50-AD80E8AFC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9A4C7C9-1A3F-43CC-51BA-672F41180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283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B1C4098-D81D-081C-C6D8-B3BBEF34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4C118F44-9981-474D-F3E9-7536F2E41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E0BDD2A0-345C-00C0-188D-43C4A4203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420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3D2EDB9-E732-3DA2-106A-6092999A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48AC9CF-4039-3BB2-99E2-AA10F2BA6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EC659F90-C74C-FB37-1136-4DDEC7ACC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954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5E21ABF-AFE4-4B1F-E553-5E6D1A87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E19F6EEA-767A-6FD0-7483-273766AED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16D5BBCA-E56D-7D2C-A4F6-95960654D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64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E905E53-C77F-9D82-92B5-FC6FE562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18D9CEC2-E0CD-7332-1E75-34A1ABA88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9AEDCFEA-8A38-B921-D859-38FAC881C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085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66780CF-02E2-BF9E-B6F5-8E01F6FE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1BE70E1D-DAB7-7D1B-FD74-FEB6D07A2C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624D5B8-C3EF-280B-23E9-9526068E4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32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369E544-462A-B510-0725-F88A65E3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0F3FF358-6948-7147-C442-5E8AE2565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ADEC1BB0-185D-5010-3035-40D7FD5EB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4965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4CDEF6A-0EF1-E165-53D1-7BC642E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BDBB1007-DD51-524B-D7D7-5EC675B01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4C15B344-AA24-BA85-437B-ABF929045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04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0B2208-17EA-65CB-26DE-88B65274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CEFC38E3-89C0-6173-72F9-CBF9DA3D6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4E35ABFB-1AAA-807C-E51F-1AC2A49E3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001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/>
              <a:t>Federated Learning for Code Generation with Hallucination-Aware Fine Tuning</a:t>
            </a:r>
            <a:endParaRPr sz="2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INTRODUCTION</a:t>
            </a:r>
            <a:endParaRPr sz="1720" b="1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Large Language Models (LLMs) have  remarkable capabilities in code generation ,enabling automated solutions to a wide range of software engineering tasks.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 However  LLMs frequently suffer from hallucinations in code generation, producing syntactically valid but semantically incorrect programs, non-existent APIs, or logically flawed implementations.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Existing approaches to mitigating code hallucinations primarily rely on prompt engineering, repeated sampling, or full model fine-tuning.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 Full fine-tuning is computationally expensive and impractical in low-resource or decentralized settings, and repeated sampling does not address the underlying causes and mitigation of hallucination.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In real-world development environments, code generation systems are often deployed across multiple decentralized clients where data cannot be centrally aggregated due to privacy, ownership.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To address these limitations we propose a hallucination-aware code generation framework that combines program analysis, targeted automatic program repair, and federated parameter-efficient fine-tuning using LoRA.</a:t>
            </a:r>
            <a:endParaRPr sz="136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PROBLEM STATEMENT</a:t>
            </a:r>
            <a:endParaRPr sz="1720" b="1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Code generation using large language models (LLMs) is currently hindered by hallucinations.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Existing mitigation strategies typically rely on supervised fine-tuning or reinforcement learning from human feedback (RLHF), where models are trained to align with human preferences 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While parameter-efficient fine-tuning methods such as LoRA reduce computational overhead compared to full fine-tuning, both approaches primarily optimize model behavior but without explicit verification of program correctness.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Furthermore, in real world scenarios, high-quality code and execution feedback are distributed across multiple organizations making centralized data collection infeasible due to privacy concerns. 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Without a secure and decentralized learning mechanism, models are unable to effectively learn from diverse hallucination patterns observed across clients. 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OBJECTIVES</a:t>
            </a:r>
            <a:endParaRPr sz="1720" b="1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124350" y="1054550"/>
            <a:ext cx="8895300" cy="3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endParaRPr lang="en" sz="1460" dirty="0">
              <a:solidFill>
                <a:schemeClr val="dk1"/>
              </a:solidFill>
            </a:endParaRPr>
          </a:p>
          <a:p>
            <a:pPr lvl="0" indent="-321310">
              <a:lnSpc>
                <a:spcPct val="100000"/>
              </a:lnSpc>
              <a:buClr>
                <a:schemeClr val="dk1"/>
              </a:buClr>
              <a:buSzPts val="1460"/>
            </a:pPr>
            <a:r>
              <a:rPr lang="en-US" sz="1460" dirty="0">
                <a:solidFill>
                  <a:schemeClr val="dk1"/>
                </a:solidFill>
              </a:rPr>
              <a:t>To fine-tune large language models using parameter-efficient </a:t>
            </a:r>
            <a:r>
              <a:rPr lang="en-US" sz="1460" dirty="0" err="1">
                <a:solidFill>
                  <a:schemeClr val="dk1"/>
                </a:solidFill>
              </a:rPr>
              <a:t>LoRA</a:t>
            </a:r>
            <a:r>
              <a:rPr lang="en-US" sz="1460" dirty="0">
                <a:solidFill>
                  <a:schemeClr val="dk1"/>
                </a:solidFill>
              </a:rPr>
              <a:t> in a federated learning setting.</a:t>
            </a:r>
            <a:br>
              <a:rPr lang="en-US" sz="1460" dirty="0">
                <a:solidFill>
                  <a:schemeClr val="dk1"/>
                </a:solidFill>
              </a:rPr>
            </a:br>
            <a:endParaRPr lang="en-US" sz="1460" dirty="0">
              <a:solidFill>
                <a:schemeClr val="dk1"/>
              </a:solidFill>
            </a:endParaRPr>
          </a:p>
          <a:p>
            <a:pPr lvl="0" indent="-321310">
              <a:lnSpc>
                <a:spcPct val="100000"/>
              </a:lnSpc>
              <a:buClr>
                <a:schemeClr val="dk1"/>
              </a:buClr>
              <a:buSzPts val="1460"/>
            </a:pPr>
            <a:r>
              <a:rPr lang="en-US" sz="1460" dirty="0">
                <a:solidFill>
                  <a:schemeClr val="dk1"/>
                </a:solidFill>
              </a:rPr>
              <a:t>To evaluate the proposed framework on standard code generation benchmarks and analyze hallucination reduction.</a:t>
            </a:r>
          </a:p>
          <a:p>
            <a:pPr marL="13589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None/>
            </a:pPr>
            <a:endParaRPr lang="en"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design a hallucination-aware code generation framework that integrates static and dynamic program analysis.</a:t>
            </a: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endParaRPr lang="en" sz="1460" dirty="0">
              <a:solidFill>
                <a:schemeClr val="dk1"/>
              </a:solidFill>
            </a:endParaRPr>
          </a:p>
          <a:p>
            <a:pPr lvl="0" indent="-321310">
              <a:lnSpc>
                <a:spcPct val="100000"/>
              </a:lnSpc>
              <a:buClr>
                <a:schemeClr val="dk1"/>
              </a:buClr>
              <a:buSzPts val="1460"/>
            </a:pPr>
            <a:r>
              <a:rPr lang="en-US" sz="1460" dirty="0">
                <a:solidFill>
                  <a:schemeClr val="dk1"/>
                </a:solidFill>
              </a:rPr>
              <a:t>To detect and classify different types of hallucinations in code generation.</a:t>
            </a:r>
          </a:p>
          <a:p>
            <a:pPr marL="135890" lvl="0" indent="0">
              <a:lnSpc>
                <a:spcPct val="100000"/>
              </a:lnSpc>
              <a:buClr>
                <a:schemeClr val="dk1"/>
              </a:buClr>
              <a:buSzPts val="1460"/>
              <a:buNone/>
            </a:pPr>
            <a:endParaRPr lang="en-US" sz="14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756200" y="4493700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Federated learning + LoRA for fine-tuning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400" y="745200"/>
            <a:ext cx="5820704" cy="3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172449" y="4436606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Client side hallucination detection and mitigation framework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E0978-3985-EE48-1C83-E20FC2D5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6" y="896273"/>
            <a:ext cx="7765256" cy="3350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436839E-B1CE-E4E4-3397-6ABD7C18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4ACB4DB0-CB42-168C-36E0-2BCAE73328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8243" y="219381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DATASET CREATION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95F105-337E-8770-9715-26CE2708A71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8DDA3-3D2A-CAA4-51C1-B2E2C6D5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4C1A8-136D-2BA4-4C2C-F802C9142748}"/>
              </a:ext>
            </a:extLst>
          </p:cNvPr>
          <p:cNvSpPr txBox="1"/>
          <p:nvPr/>
        </p:nvSpPr>
        <p:spPr>
          <a:xfrm>
            <a:off x="435768" y="885825"/>
            <a:ext cx="63321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is the final output of hallucination detection and mitigation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contains these columns,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3BCAF-9A95-7738-B6E3-B9385063710A}"/>
              </a:ext>
            </a:extLst>
          </p:cNvPr>
          <p:cNvSpPr txBox="1"/>
          <p:nvPr/>
        </p:nvSpPr>
        <p:spPr>
          <a:xfrm>
            <a:off x="864393" y="1573323"/>
            <a:ext cx="72937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IN" dirty="0"/>
              <a:t>Dataset ,</a:t>
            </a:r>
            <a:r>
              <a:rPr lang="en-IN" dirty="0" err="1"/>
              <a:t>task_id</a:t>
            </a:r>
            <a:r>
              <a:rPr lang="en-IN" dirty="0"/>
              <a:t> , prompt ,status , </a:t>
            </a:r>
            <a:r>
              <a:rPr lang="en-IN" dirty="0" err="1"/>
              <a:t>ast_info</a:t>
            </a:r>
            <a:r>
              <a:rPr lang="en-IN" dirty="0"/>
              <a:t> ,</a:t>
            </a:r>
            <a:r>
              <a:rPr lang="en-IN" dirty="0" err="1"/>
              <a:t>dynamic_info</a:t>
            </a:r>
            <a:r>
              <a:rPr lang="en-IN" dirty="0"/>
              <a:t> ,</a:t>
            </a:r>
            <a:r>
              <a:rPr lang="en-IN" dirty="0" err="1"/>
              <a:t>lib_info</a:t>
            </a:r>
            <a:r>
              <a:rPr lang="en-IN" dirty="0"/>
              <a:t>, </a:t>
            </a:r>
            <a:r>
              <a:rPr lang="en-IN" dirty="0" err="1"/>
              <a:t>generated_code</a:t>
            </a:r>
            <a:endParaRPr lang="en-IN" dirty="0"/>
          </a:p>
          <a:p>
            <a:pPr lvl="2"/>
            <a:r>
              <a:rPr lang="en-IN" dirty="0" err="1"/>
              <a:t>patched_code</a:t>
            </a:r>
            <a:r>
              <a:rPr lang="en-IN" dirty="0"/>
              <a:t> , </a:t>
            </a:r>
            <a:r>
              <a:rPr lang="en-IN" dirty="0" err="1"/>
              <a:t>error_sources</a:t>
            </a:r>
            <a:r>
              <a:rPr lang="en-IN" dirty="0"/>
              <a:t> , </a:t>
            </a:r>
            <a:r>
              <a:rPr lang="en-IN" dirty="0" err="1"/>
              <a:t>error_types</a:t>
            </a:r>
            <a:r>
              <a:rPr lang="en-IN" dirty="0"/>
              <a:t> , </a:t>
            </a:r>
            <a:r>
              <a:rPr lang="en-IN" dirty="0" err="1"/>
              <a:t>error_lines</a:t>
            </a:r>
            <a:r>
              <a:rPr lang="en-IN" dirty="0"/>
              <a:t> , </a:t>
            </a:r>
            <a:r>
              <a:rPr lang="en-IN" dirty="0" err="1"/>
              <a:t>canonical_solution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DE4C8-E3D1-6F52-F397-7B187AD2E14E}"/>
              </a:ext>
            </a:extLst>
          </p:cNvPr>
          <p:cNvSpPr txBox="1"/>
          <p:nvPr/>
        </p:nvSpPr>
        <p:spPr>
          <a:xfrm>
            <a:off x="435768" y="2346546"/>
            <a:ext cx="75009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Prompt and canonical solution will be used for fine-tuning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Error count and types will be used against fed weighted average.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90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0D1FF0C-BD66-8149-0E70-32F3D43B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B86B440-5758-23CB-4F4D-9ABC06698F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787" y="4399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 err="1">
                <a:solidFill>
                  <a:schemeClr val="dk1"/>
                </a:solidFill>
              </a:rPr>
              <a:t>LoRA</a:t>
            </a:r>
            <a:r>
              <a:rPr lang="en-IN" sz="1800" b="1" dirty="0">
                <a:solidFill>
                  <a:schemeClr val="dk1"/>
                </a:solidFill>
              </a:rPr>
              <a:t> and FINE TUNING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15856-067B-39A3-7678-3FDBE58A4F14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19A0B-1ED4-5239-1136-C75C6174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03749E-CA29-F016-3116-5F8CCC2DEC9F}"/>
              </a:ext>
            </a:extLst>
          </p:cNvPr>
          <p:cNvSpPr txBox="1"/>
          <p:nvPr/>
        </p:nvSpPr>
        <p:spPr>
          <a:xfrm>
            <a:off x="430432" y="1092700"/>
            <a:ext cx="867737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Here we do supervised fine-tuning </a:t>
            </a:r>
            <a:r>
              <a:rPr lang="en-IN" dirty="0" err="1"/>
              <a:t>usng</a:t>
            </a:r>
            <a:r>
              <a:rPr lang="en-IN" dirty="0"/>
              <a:t> Low-rank Adaptation technique.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rank </a:t>
            </a:r>
            <a:r>
              <a:rPr lang="en-IN" dirty="0" err="1"/>
              <a:t>choosen</a:t>
            </a:r>
            <a:r>
              <a:rPr lang="en-IN" dirty="0"/>
              <a:t> is 16 and alpha value to be 32 to bring down the scaling factor as 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 have used the 7 projection layers </a:t>
            </a:r>
            <a:r>
              <a:rPr lang="en-IN" dirty="0" err="1"/>
              <a:t>Query,Key,Value,Object</a:t>
            </a:r>
            <a:r>
              <a:rPr lang="en-IN" dirty="0"/>
              <a:t> projection which belong to </a:t>
            </a:r>
          </a:p>
          <a:p>
            <a:pPr>
              <a:lnSpc>
                <a:spcPct val="150000"/>
              </a:lnSpc>
            </a:pPr>
            <a:r>
              <a:rPr lang="en-IN" dirty="0"/>
              <a:t>      self-attention layer and </a:t>
            </a:r>
            <a:r>
              <a:rPr lang="en-IN" dirty="0" err="1"/>
              <a:t>gate,up,down</a:t>
            </a:r>
            <a:r>
              <a:rPr lang="en-IN" dirty="0"/>
              <a:t> belongs to MLP layer.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For SFT we fine-tuned for 3 epochs with batch size 1 and gradient accumulation to be 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SFT is done for all the datasets MBPP,DS1000,Humaneval and adapters are generated.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fine-tuned adapters are checked for correctness and then verified for improvement in hallucination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       reduction.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83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6C220E7-EFE9-9EA0-3760-88E95D39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1E3C5D1-0352-AC6E-37D2-5D2FBD1436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ADAPTERS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759E0-4492-7B2F-9016-15A50E2B8E0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875AF-2583-345D-CEF1-BFEC4283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37C4A-A531-5DC3-8F78-E977A6C4E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" y="1099582"/>
            <a:ext cx="8015288" cy="687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BD6E8-BABC-3142-3F83-6F75541D4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206" y="2048667"/>
            <a:ext cx="6032280" cy="250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3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C6479DC-49A0-450B-2AEE-4F4CE18A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34D8736-AB18-9942-2974-25E31FB226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FEDERATED AVERAGE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F27A5-16A3-D180-F5FF-D7390BA68B23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9079D-55AE-1EF1-5940-6A775A8F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A0C3C-1B75-ECED-24BA-62ABF987ECA0}"/>
              </a:ext>
            </a:extLst>
          </p:cNvPr>
          <p:cNvSpPr txBox="1"/>
          <p:nvPr/>
        </p:nvSpPr>
        <p:spPr>
          <a:xfrm>
            <a:off x="412215" y="773350"/>
            <a:ext cx="461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/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/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en-US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training samples on client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220A4C-54D0-5C60-E751-F0902A4B9957}"/>
              </a:ext>
            </a:extLst>
          </p:cNvPr>
          <p:cNvSpPr txBox="1"/>
          <p:nvPr/>
        </p:nvSpPr>
        <p:spPr>
          <a:xfrm>
            <a:off x="647959" y="3162368"/>
            <a:ext cx="30364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total number of samples used across all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1C04C-E616-C405-BF2C-EE07428065D7}"/>
              </a:ext>
            </a:extLst>
          </p:cNvPr>
          <p:cNvSpPr txBox="1"/>
          <p:nvPr/>
        </p:nvSpPr>
        <p:spPr>
          <a:xfrm>
            <a:off x="647959" y="2541662"/>
            <a:ext cx="22105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- client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2BAA854-5D91-9BEC-B637-C16B8A73F4B6}"/>
              </a:ext>
            </a:extLst>
          </p:cNvPr>
          <p:cNvSpPr txBox="1"/>
          <p:nvPr/>
        </p:nvSpPr>
        <p:spPr>
          <a:xfrm>
            <a:off x="4444244" y="781629"/>
            <a:ext cx="38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requency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/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/>
              <p:nvPr/>
            </p:nvSpPr>
            <p:spPr>
              <a:xfrm>
                <a:off x="4525528" y="3617290"/>
                <a:ext cx="5582093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total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occurrences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error type ‘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across all clients</a:t>
                </a:r>
                <a:b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</a:t>
                </a:r>
                <a:r>
                  <a:rPr lang="en-US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k,e</a:t>
                </a:r>
                <a:r>
                  <a:rPr lang="en-US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errors of type ‘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client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528" y="3617290"/>
                <a:ext cx="5582093" cy="507831"/>
              </a:xfrm>
              <a:prstGeom prst="rect">
                <a:avLst/>
              </a:prstGeom>
              <a:blipFill>
                <a:blip r:embed="rId6"/>
                <a:stretch>
                  <a:fillRect t="-3571"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/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𝑒𝑟𝑟𝑜𝑟𝑠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1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blipFill>
                <a:blip r:embed="rId7"/>
                <a:stretch>
                  <a:fillRect l="-2484" t="-20000" b="-46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7">
            <a:extLst>
              <a:ext uri="{FF2B5EF4-FFF2-40B4-BE49-F238E27FC236}">
                <a16:creationId xmlns:a16="http://schemas.microsoft.com/office/drawing/2014/main" id="{BFE39B71-BE77-840E-C05F-F4C69A289461}"/>
              </a:ext>
            </a:extLst>
          </p:cNvPr>
          <p:cNvSpPr txBox="1"/>
          <p:nvPr/>
        </p:nvSpPr>
        <p:spPr>
          <a:xfrm>
            <a:off x="4444244" y="2520295"/>
            <a:ext cx="382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fefinition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087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AB67AAF-35A5-4049-8385-135A59D7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99E926B-C6E0-3024-3A65-FCC61B4A9A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637" y="8120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FEDERATED AVERAGE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8CA5A-9BCB-6ABC-6BF4-5537C0F7A56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A59EB-BFDC-A543-220E-63AE2BA3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F6271-2206-017E-8037-087911063075}"/>
              </a:ext>
            </a:extLst>
          </p:cNvPr>
          <p:cNvSpPr txBox="1"/>
          <p:nvPr/>
        </p:nvSpPr>
        <p:spPr>
          <a:xfrm>
            <a:off x="376792" y="647308"/>
            <a:ext cx="3827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/>
              <p:nvPr/>
            </p:nvSpPr>
            <p:spPr>
              <a:xfrm>
                <a:off x="376791" y="1161273"/>
                <a:ext cx="3616888" cy="949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𝑒𝑟𝑟𝑜𝑟𝑠</m:t>
                          </m:r>
                        </m:sub>
                        <m:sup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1" y="1161273"/>
                <a:ext cx="3616888" cy="9491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5">
            <a:extLst>
              <a:ext uri="{FF2B5EF4-FFF2-40B4-BE49-F238E27FC236}">
                <a16:creationId xmlns:a16="http://schemas.microsoft.com/office/drawing/2014/main" id="{5F881B0A-7EF1-326F-D44E-DC904316CF47}"/>
              </a:ext>
            </a:extLst>
          </p:cNvPr>
          <p:cNvSpPr txBox="1"/>
          <p:nvPr/>
        </p:nvSpPr>
        <p:spPr>
          <a:xfrm>
            <a:off x="376791" y="2156391"/>
            <a:ext cx="442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client, the total count of each type of error along with its computed weight is accounted for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/>
              <p:nvPr/>
            </p:nvSpPr>
            <p:spPr>
              <a:xfrm>
                <a:off x="672093" y="3857379"/>
                <a:ext cx="2278444" cy="899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3" y="3857379"/>
                <a:ext cx="2278444" cy="89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7">
            <a:extLst>
              <a:ext uri="{FF2B5EF4-FFF2-40B4-BE49-F238E27FC236}">
                <a16:creationId xmlns:a16="http://schemas.microsoft.com/office/drawing/2014/main" id="{2ACD350B-B822-E73E-7B88-2721274A3434}"/>
              </a:ext>
            </a:extLst>
          </p:cNvPr>
          <p:cNvSpPr txBox="1"/>
          <p:nvPr/>
        </p:nvSpPr>
        <p:spPr>
          <a:xfrm>
            <a:off x="271374" y="3068440"/>
            <a:ext cx="3827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BDF455AE-23B0-2B54-B837-D4483C1B2D02}"/>
              </a:ext>
            </a:extLst>
          </p:cNvPr>
          <p:cNvSpPr txBox="1"/>
          <p:nvPr/>
        </p:nvSpPr>
        <p:spPr>
          <a:xfrm>
            <a:off x="5729859" y="716427"/>
            <a:ext cx="272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/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/>
              <p:nvPr/>
            </p:nvSpPr>
            <p:spPr>
              <a:xfrm>
                <a:off x="4714875" y="2879021"/>
                <a:ext cx="558641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4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- local model weight on round t on client k</a:t>
                </a:r>
              </a:p>
              <a:p>
                <a:r>
                  <a:rPr lang="el-G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k​  - 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 weight assigned to client k</a:t>
                </a:r>
                <a:b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t+1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Global model weights after aggregation at round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5" y="2879021"/>
                <a:ext cx="5586414" cy="738664"/>
              </a:xfrm>
              <a:prstGeom prst="rect">
                <a:avLst/>
              </a:prstGeom>
              <a:blipFill>
                <a:blip r:embed="rId6"/>
                <a:stretch>
                  <a:fillRect l="-327" t="-826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23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F7F1B80-181C-CCC5-54B0-F260B0F0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8C8136A9-5B97-B6D6-46AF-A300A58FE0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3BEF3-AC89-988B-2D67-23255CB67B4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6ADD1-2B85-43DB-42BF-78CA2466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A1ECB-BBDD-D686-D091-CE0A54C612E9}"/>
              </a:ext>
            </a:extLst>
          </p:cNvPr>
          <p:cNvSpPr txBox="1"/>
          <p:nvPr/>
        </p:nvSpPr>
        <p:spPr>
          <a:xfrm>
            <a:off x="1998218" y="4111892"/>
            <a:ext cx="5088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comparison on how federated average and error average </a:t>
            </a:r>
          </a:p>
          <a:p>
            <a:r>
              <a:rPr lang="en-IN" dirty="0"/>
              <a:t>reduces hallucinations across 3 datasets.(using train and test)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E84FB1-6E7F-E88E-EE61-87CC7BF2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506" y="831612"/>
            <a:ext cx="6239772" cy="31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2C979A6-30B5-800A-A305-4DC299DB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4725C29-8D3F-0C84-930A-0F3DA966B3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38398-530E-E398-8F5A-CC8AEB435042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E76C5-C673-169B-829F-FC2EDB78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7C6FA-2A17-BF42-5944-40E14C78622F}"/>
              </a:ext>
            </a:extLst>
          </p:cNvPr>
          <p:cNvSpPr txBox="1"/>
          <p:nvPr/>
        </p:nvSpPr>
        <p:spPr>
          <a:xfrm>
            <a:off x="1998218" y="4111892"/>
            <a:ext cx="5088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comparison on how federated average and error average </a:t>
            </a:r>
          </a:p>
          <a:p>
            <a:r>
              <a:rPr lang="en-IN" dirty="0"/>
              <a:t>reduces hallucinations across 3 datasets.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0AEF4-BCF1-06E4-E37E-6D374CE6C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66" y="705778"/>
            <a:ext cx="6622256" cy="331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99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6C8E9A7-745C-2040-D829-A3CE1076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8AE67DE-7462-31D5-0F36-E0613BC364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5962E-23EA-DBB7-050E-49CEB4190CD2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70C9E4-17A0-B5A5-2EF6-2627B5C7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E9648-021B-80B2-104A-0D98914F1EB2}"/>
              </a:ext>
            </a:extLst>
          </p:cNvPr>
          <p:cNvSpPr txBox="1"/>
          <p:nvPr/>
        </p:nvSpPr>
        <p:spPr>
          <a:xfrm>
            <a:off x="2855467" y="3439533"/>
            <a:ext cx="308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 distribution for </a:t>
            </a:r>
            <a:r>
              <a:rPr lang="en-IN" dirty="0" err="1"/>
              <a:t>HumanEval</a:t>
            </a:r>
            <a:r>
              <a:rPr lang="en-IN" dirty="0"/>
              <a:t> after federated average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A0A935A-2434-B7C6-27CD-3C56CF393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317440"/>
              </p:ext>
            </p:extLst>
          </p:nvPr>
        </p:nvGraphicFramePr>
        <p:xfrm>
          <a:off x="2408800" y="1214167"/>
          <a:ext cx="4177739" cy="1571896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1161431">
                  <a:extLst>
                    <a:ext uri="{9D8B030D-6E8A-4147-A177-3AD203B41FA5}">
                      <a16:colId xmlns:a16="http://schemas.microsoft.com/office/drawing/2014/main" val="4218437024"/>
                    </a:ext>
                  </a:extLst>
                </a:gridCol>
                <a:gridCol w="927438">
                  <a:extLst>
                    <a:ext uri="{9D8B030D-6E8A-4147-A177-3AD203B41FA5}">
                      <a16:colId xmlns:a16="http://schemas.microsoft.com/office/drawing/2014/main" val="1961499115"/>
                    </a:ext>
                  </a:extLst>
                </a:gridCol>
                <a:gridCol w="1044435">
                  <a:extLst>
                    <a:ext uri="{9D8B030D-6E8A-4147-A177-3AD203B41FA5}">
                      <a16:colId xmlns:a16="http://schemas.microsoft.com/office/drawing/2014/main" val="2323124840"/>
                    </a:ext>
                  </a:extLst>
                </a:gridCol>
                <a:gridCol w="1044435">
                  <a:extLst>
                    <a:ext uri="{9D8B030D-6E8A-4147-A177-3AD203B41FA5}">
                      <a16:colId xmlns:a16="http://schemas.microsoft.com/office/drawing/2014/main" val="1677072306"/>
                    </a:ext>
                  </a:extLst>
                </a:gridCol>
              </a:tblGrid>
              <a:tr h="38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tx1"/>
                          </a:solidFill>
                          <a:effectLst/>
                        </a:rPr>
                        <a:t>Error type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tx1"/>
                          </a:solidFill>
                          <a:effectLst/>
                        </a:rPr>
                        <a:t>Baseline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tx1"/>
                          </a:solidFill>
                          <a:effectLst/>
                        </a:rPr>
                        <a:t>FedAvg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tx1"/>
                          </a:solidFill>
                          <a:effectLst/>
                        </a:rPr>
                        <a:t>Reduction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169184591"/>
                  </a:ext>
                </a:extLst>
              </a:tr>
              <a:tr h="38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AssertionError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241559042"/>
                  </a:ext>
                </a:extLst>
              </a:tr>
              <a:tr h="38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NameError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95837004"/>
                  </a:ext>
                </a:extLst>
              </a:tr>
              <a:tr h="409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SyntaxError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98253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054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3C9CDD3C-ACEA-E507-E39F-D322F210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AADEA378-7A2C-1DF0-91E8-6ED7CF1D86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2AD63-8E18-D171-EFA8-510261B1F48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B629D7-A39A-627A-7638-148F8984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56D1D6-5FF8-793C-4A78-2710751B22C1}"/>
              </a:ext>
            </a:extLst>
          </p:cNvPr>
          <p:cNvSpPr txBox="1"/>
          <p:nvPr/>
        </p:nvSpPr>
        <p:spPr>
          <a:xfrm>
            <a:off x="3028057" y="4004085"/>
            <a:ext cx="308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 distribution for MBPP after federated average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27AF5EB-D159-F9A8-9FD1-C7C26B9F2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492708"/>
              </p:ext>
            </p:extLst>
          </p:nvPr>
        </p:nvGraphicFramePr>
        <p:xfrm>
          <a:off x="1050300" y="1034632"/>
          <a:ext cx="7625556" cy="2606040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1906389">
                  <a:extLst>
                    <a:ext uri="{9D8B030D-6E8A-4147-A177-3AD203B41FA5}">
                      <a16:colId xmlns:a16="http://schemas.microsoft.com/office/drawing/2014/main" val="1137822022"/>
                    </a:ext>
                  </a:extLst>
                </a:gridCol>
                <a:gridCol w="1906389">
                  <a:extLst>
                    <a:ext uri="{9D8B030D-6E8A-4147-A177-3AD203B41FA5}">
                      <a16:colId xmlns:a16="http://schemas.microsoft.com/office/drawing/2014/main" val="466114054"/>
                    </a:ext>
                  </a:extLst>
                </a:gridCol>
                <a:gridCol w="1906389">
                  <a:extLst>
                    <a:ext uri="{9D8B030D-6E8A-4147-A177-3AD203B41FA5}">
                      <a16:colId xmlns:a16="http://schemas.microsoft.com/office/drawing/2014/main" val="257033931"/>
                    </a:ext>
                  </a:extLst>
                </a:gridCol>
                <a:gridCol w="1906389">
                  <a:extLst>
                    <a:ext uri="{9D8B030D-6E8A-4147-A177-3AD203B41FA5}">
                      <a16:colId xmlns:a16="http://schemas.microsoft.com/office/drawing/2014/main" val="2172398140"/>
                    </a:ext>
                  </a:extLst>
                </a:gridCol>
              </a:tblGrid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Error type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Baseline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FedAvg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Reduction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391989099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AssertionError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513907556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IndentationError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258467361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>
                          <a:effectLst/>
                        </a:rPr>
                        <a:t>IndexError</a:t>
                      </a:r>
                      <a:endParaRPr lang="en-IN" dirty="0">
                        <a:effectLst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632551139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NameError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22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450711949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SyntaxError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17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8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9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51285133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TypeError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326115543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UnboundLocalError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640431930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ValueError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644065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750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8449F1B-FC4F-8826-5A92-9AEB58DC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7330319-C13D-176B-249E-1AAF69DAC4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F03778-FF7D-50B1-428E-FB1A3A9FA75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1764A4-3457-C6FB-811D-35BE93D6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5256A-9808-6984-66CB-4DCD496933F1}"/>
              </a:ext>
            </a:extLst>
          </p:cNvPr>
          <p:cNvSpPr txBox="1"/>
          <p:nvPr/>
        </p:nvSpPr>
        <p:spPr>
          <a:xfrm>
            <a:off x="4572000" y="4282568"/>
            <a:ext cx="308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 distribution for DS1000 after federated average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9330DE-31AC-5346-3884-168E735DD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535495"/>
              </p:ext>
            </p:extLst>
          </p:nvPr>
        </p:nvGraphicFramePr>
        <p:xfrm>
          <a:off x="85350" y="542557"/>
          <a:ext cx="4200901" cy="3836561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1293394">
                  <a:extLst>
                    <a:ext uri="{9D8B030D-6E8A-4147-A177-3AD203B41FA5}">
                      <a16:colId xmlns:a16="http://schemas.microsoft.com/office/drawing/2014/main" val="2503271305"/>
                    </a:ext>
                  </a:extLst>
                </a:gridCol>
                <a:gridCol w="901651">
                  <a:extLst>
                    <a:ext uri="{9D8B030D-6E8A-4147-A177-3AD203B41FA5}">
                      <a16:colId xmlns:a16="http://schemas.microsoft.com/office/drawing/2014/main" val="2031475949"/>
                    </a:ext>
                  </a:extLst>
                </a:gridCol>
                <a:gridCol w="1002928">
                  <a:extLst>
                    <a:ext uri="{9D8B030D-6E8A-4147-A177-3AD203B41FA5}">
                      <a16:colId xmlns:a16="http://schemas.microsoft.com/office/drawing/2014/main" val="87180116"/>
                    </a:ext>
                  </a:extLst>
                </a:gridCol>
                <a:gridCol w="1002928">
                  <a:extLst>
                    <a:ext uri="{9D8B030D-6E8A-4147-A177-3AD203B41FA5}">
                      <a16:colId xmlns:a16="http://schemas.microsoft.com/office/drawing/2014/main" val="4028946933"/>
                    </a:ext>
                  </a:extLst>
                </a:gridCol>
              </a:tblGrid>
              <a:tr h="4615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b="1" dirty="0">
                          <a:effectLst/>
                        </a:rPr>
                        <a:t>Error type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b="1">
                          <a:effectLst/>
                        </a:rPr>
                        <a:t>Baseline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b="1">
                          <a:effectLst/>
                        </a:rPr>
                        <a:t>FedAvg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b="1" dirty="0">
                          <a:effectLst/>
                        </a:rPr>
                        <a:t>Reduction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153603135"/>
                  </a:ext>
                </a:extLst>
              </a:tr>
              <a:tr h="436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AssertionError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79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78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249690514"/>
                  </a:ext>
                </a:extLst>
              </a:tr>
              <a:tr h="436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AttributeError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14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9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401308509"/>
                  </a:ext>
                </a:extLst>
              </a:tr>
              <a:tr h="2514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AxisError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212091393"/>
                  </a:ext>
                </a:extLst>
              </a:tr>
              <a:tr h="436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FileNotFoundError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600101984"/>
                  </a:ext>
                </a:extLst>
              </a:tr>
              <a:tr h="436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dirty="0" err="1">
                          <a:effectLst/>
                        </a:rPr>
                        <a:t>IndentationError</a:t>
                      </a:r>
                      <a:endParaRPr lang="en-IN" sz="1050" dirty="0">
                        <a:effectLst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17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dirty="0">
                          <a:effectLst/>
                        </a:rPr>
                        <a:t>16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959964304"/>
                  </a:ext>
                </a:extLst>
              </a:tr>
              <a:tr h="2514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IndexError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102094522"/>
                  </a:ext>
                </a:extLst>
              </a:tr>
              <a:tr h="436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InternalError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426016968"/>
                  </a:ext>
                </a:extLst>
              </a:tr>
              <a:tr h="436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InvalidIndexError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031545454"/>
                  </a:ext>
                </a:extLst>
              </a:tr>
              <a:tr h="2514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KeyError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>
                          <a:effectLst/>
                        </a:rPr>
                        <a:t>16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4903980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015E5B-FCC6-51DE-C6E9-91A2D3536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0473"/>
              </p:ext>
            </p:extLst>
          </p:nvPr>
        </p:nvGraphicFramePr>
        <p:xfrm>
          <a:off x="4443786" y="931014"/>
          <a:ext cx="4614864" cy="2117563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1271214">
                  <a:extLst>
                    <a:ext uri="{9D8B030D-6E8A-4147-A177-3AD203B41FA5}">
                      <a16:colId xmlns:a16="http://schemas.microsoft.com/office/drawing/2014/main" val="3702595258"/>
                    </a:ext>
                  </a:extLst>
                </a:gridCol>
                <a:gridCol w="1036218">
                  <a:extLst>
                    <a:ext uri="{9D8B030D-6E8A-4147-A177-3AD203B41FA5}">
                      <a16:colId xmlns:a16="http://schemas.microsoft.com/office/drawing/2014/main" val="4231755143"/>
                    </a:ext>
                  </a:extLst>
                </a:gridCol>
                <a:gridCol w="1153716">
                  <a:extLst>
                    <a:ext uri="{9D8B030D-6E8A-4147-A177-3AD203B41FA5}">
                      <a16:colId xmlns:a16="http://schemas.microsoft.com/office/drawing/2014/main" val="1431354884"/>
                    </a:ext>
                  </a:extLst>
                </a:gridCol>
                <a:gridCol w="1153716">
                  <a:extLst>
                    <a:ext uri="{9D8B030D-6E8A-4147-A177-3AD203B41FA5}">
                      <a16:colId xmlns:a16="http://schemas.microsoft.com/office/drawing/2014/main" val="1195655282"/>
                    </a:ext>
                  </a:extLst>
                </a:gridCol>
              </a:tblGrid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NameError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43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32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2020355"/>
                  </a:ext>
                </a:extLst>
              </a:tr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NotFittedError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973301056"/>
                  </a:ext>
                </a:extLst>
              </a:tr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RuntimeError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357228040"/>
                  </a:ext>
                </a:extLst>
              </a:tr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SyntaxError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54156041"/>
                  </a:ext>
                </a:extLst>
              </a:tr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TimeoutError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654471886"/>
                  </a:ext>
                </a:extLst>
              </a:tr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TypeError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18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15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536915164"/>
                  </a:ext>
                </a:extLst>
              </a:tr>
              <a:tr h="302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ValueError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19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978457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991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A141188-27FF-0E44-4576-0A327A77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7B8F52C-65DF-63B7-3213-3A677A6B9E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ECBE12-31B4-C5AF-FEA5-F343B82A6A2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F1A6E-9FC1-392C-6024-A8C5BFD3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3CF62-2A4A-00CB-6B48-FB974C021BBB}"/>
              </a:ext>
            </a:extLst>
          </p:cNvPr>
          <p:cNvSpPr txBox="1"/>
          <p:nvPr/>
        </p:nvSpPr>
        <p:spPr>
          <a:xfrm>
            <a:off x="2886075" y="4027791"/>
            <a:ext cx="308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 distribution for </a:t>
            </a:r>
            <a:r>
              <a:rPr lang="en-IN" dirty="0" err="1"/>
              <a:t>HumanEval</a:t>
            </a:r>
            <a:r>
              <a:rPr lang="en-IN" dirty="0"/>
              <a:t> after federated error average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A4E230-58DE-82F1-1432-C7C9C364A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051492"/>
              </p:ext>
            </p:extLst>
          </p:nvPr>
        </p:nvGraphicFramePr>
        <p:xfrm>
          <a:off x="311150" y="1992630"/>
          <a:ext cx="8521700" cy="975360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1149692188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0995897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73003455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653928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Error Type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Baseline Count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FedErrorAvg Count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Reduction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33463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AssertionError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123691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NameError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108107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SyntaxError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757628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66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06E301C-2644-0DDF-8B7E-E7A2B74F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E293E9D-DFE2-B606-0926-C5804862BB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AC0A5-816E-7766-1188-CE72445AB9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96FF4A-1AE2-15F5-D540-E0B3E20D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EF50F-9232-2C19-05DB-8384569AF6D8}"/>
              </a:ext>
            </a:extLst>
          </p:cNvPr>
          <p:cNvSpPr txBox="1"/>
          <p:nvPr/>
        </p:nvSpPr>
        <p:spPr>
          <a:xfrm>
            <a:off x="2886075" y="4027791"/>
            <a:ext cx="308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 distribution for MBPP after federated average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A4B73B-0491-B159-201D-03566597D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587032"/>
              </p:ext>
            </p:extLst>
          </p:nvPr>
        </p:nvGraphicFramePr>
        <p:xfrm>
          <a:off x="311150" y="1046485"/>
          <a:ext cx="8521700" cy="2606040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64071711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66035447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677322230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333376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Error Type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Baseline Count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FedErrorAvg Count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Reduction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97771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AssertionError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42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51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670006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IndentationError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796726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IndexError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4232543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NameError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26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23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28545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SyntaxError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17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12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018901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TypeError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4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80789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UnboundLocalError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6826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ValueError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809070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086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EE060E6-B41C-F5C1-76F0-1075764A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6B29DA6-44EF-4DB7-D742-B71E7B9BF4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RESULT AND ANALYSIS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1A8468-7580-BFAC-B162-AFF54AF3763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870AA-0337-4E0B-F1D9-8825FD32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2D07A-4FCA-3C33-9F94-37759D92366E}"/>
              </a:ext>
            </a:extLst>
          </p:cNvPr>
          <p:cNvSpPr txBox="1"/>
          <p:nvPr/>
        </p:nvSpPr>
        <p:spPr>
          <a:xfrm>
            <a:off x="2936250" y="4306993"/>
            <a:ext cx="308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 distribution for DS1000 after federated average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BFE5FE-688C-A655-3A19-01FEB0499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855608"/>
              </p:ext>
            </p:extLst>
          </p:nvPr>
        </p:nvGraphicFramePr>
        <p:xfrm>
          <a:off x="140593" y="705778"/>
          <a:ext cx="5038628" cy="2880360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1259657">
                  <a:extLst>
                    <a:ext uri="{9D8B030D-6E8A-4147-A177-3AD203B41FA5}">
                      <a16:colId xmlns:a16="http://schemas.microsoft.com/office/drawing/2014/main" val="3946335100"/>
                    </a:ext>
                  </a:extLst>
                </a:gridCol>
                <a:gridCol w="1259657">
                  <a:extLst>
                    <a:ext uri="{9D8B030D-6E8A-4147-A177-3AD203B41FA5}">
                      <a16:colId xmlns:a16="http://schemas.microsoft.com/office/drawing/2014/main" val="3892939882"/>
                    </a:ext>
                  </a:extLst>
                </a:gridCol>
                <a:gridCol w="1259657">
                  <a:extLst>
                    <a:ext uri="{9D8B030D-6E8A-4147-A177-3AD203B41FA5}">
                      <a16:colId xmlns:a16="http://schemas.microsoft.com/office/drawing/2014/main" val="2154624686"/>
                    </a:ext>
                  </a:extLst>
                </a:gridCol>
                <a:gridCol w="1259657">
                  <a:extLst>
                    <a:ext uri="{9D8B030D-6E8A-4147-A177-3AD203B41FA5}">
                      <a16:colId xmlns:a16="http://schemas.microsoft.com/office/drawing/2014/main" val="2865316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Error Type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Baseline Count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FedErrorAvg Count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Reduction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97187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AssertionError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79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71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8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812696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AttributeError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14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7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7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33208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AxisError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484986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FileNotFoundError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7592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IndentationError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17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909278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IndexError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58049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InternalError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3375160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InvalidIndexError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0956458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8C2688-CD7B-685D-9420-2DD3C2874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92255"/>
              </p:ext>
            </p:extLst>
          </p:nvPr>
        </p:nvGraphicFramePr>
        <p:xfrm>
          <a:off x="5436391" y="705778"/>
          <a:ext cx="3567016" cy="2880360"/>
        </p:xfrm>
        <a:graphic>
          <a:graphicData uri="http://schemas.openxmlformats.org/drawingml/2006/table">
            <a:tbl>
              <a:tblPr>
                <a:tableStyleId>{73B37524-8608-4B16-BC45-35DD96E42492}</a:tableStyleId>
              </a:tblPr>
              <a:tblGrid>
                <a:gridCol w="1042988">
                  <a:extLst>
                    <a:ext uri="{9D8B030D-6E8A-4147-A177-3AD203B41FA5}">
                      <a16:colId xmlns:a16="http://schemas.microsoft.com/office/drawing/2014/main" val="3385865109"/>
                    </a:ext>
                  </a:extLst>
                </a:gridCol>
                <a:gridCol w="740520">
                  <a:extLst>
                    <a:ext uri="{9D8B030D-6E8A-4147-A177-3AD203B41FA5}">
                      <a16:colId xmlns:a16="http://schemas.microsoft.com/office/drawing/2014/main" val="2973660385"/>
                    </a:ext>
                  </a:extLst>
                </a:gridCol>
                <a:gridCol w="891754">
                  <a:extLst>
                    <a:ext uri="{9D8B030D-6E8A-4147-A177-3AD203B41FA5}">
                      <a16:colId xmlns:a16="http://schemas.microsoft.com/office/drawing/2014/main" val="1168082236"/>
                    </a:ext>
                  </a:extLst>
                </a:gridCol>
                <a:gridCol w="891754">
                  <a:extLst>
                    <a:ext uri="{9D8B030D-6E8A-4147-A177-3AD203B41FA5}">
                      <a16:colId xmlns:a16="http://schemas.microsoft.com/office/drawing/2014/main" val="997764080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KeyError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61095557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NameError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43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8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35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65550113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NotFittedError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80349558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RuntimeError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56929899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 err="1">
                          <a:effectLst/>
                        </a:rPr>
                        <a:t>SyntaxError</a:t>
                      </a:r>
                      <a:endParaRPr lang="en-IN" sz="1100" dirty="0">
                        <a:effectLst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825719088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TimeoutError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175524888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TypeError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18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16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2008495478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 err="1">
                          <a:effectLst/>
                        </a:rPr>
                        <a:t>ValueError</a:t>
                      </a:r>
                      <a:endParaRPr lang="en-IN" sz="1100" dirty="0">
                        <a:effectLst/>
                      </a:endParaRP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15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20</a:t>
                      </a:r>
                    </a:p>
                  </a:txBody>
                  <a:tcPr marL="68580" marR="6858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0</a:t>
                      </a:r>
                    </a:p>
                  </a:txBody>
                  <a:tcPr marL="68580" marR="68580" marT="38100" marB="38100" anchor="ctr"/>
                </a:tc>
                <a:extLst>
                  <a:ext uri="{0D108BD9-81ED-4DB2-BD59-A6C34878D82A}">
                    <a16:rowId xmlns:a16="http://schemas.microsoft.com/office/drawing/2014/main" val="184590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086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1167</Words>
  <Application>Microsoft Office PowerPoint</Application>
  <PresentationFormat>On-screen Show (16:9)</PresentationFormat>
  <Paragraphs>350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Cambria Math</vt:lpstr>
      <vt:lpstr>Times New Roman</vt:lpstr>
      <vt:lpstr>Simple Light</vt:lpstr>
      <vt:lpstr>Federated Learning for Code Generation with Hallucination-Aware Fine Tuning </vt:lpstr>
      <vt:lpstr>INTRODUCTION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PRABHAKARA ARJUN R</cp:lastModifiedBy>
  <cp:revision>28</cp:revision>
  <dcterms:modified xsi:type="dcterms:W3CDTF">2026-03-21T16:30:04Z</dcterms:modified>
</cp:coreProperties>
</file>