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88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301" r:id="rId26"/>
    <p:sldId id="297" r:id="rId27"/>
    <p:sldId id="298" r:id="rId28"/>
    <p:sldId id="302" r:id="rId29"/>
    <p:sldId id="300" r:id="rId30"/>
    <p:sldId id="303" r:id="rId31"/>
    <p:sldId id="304" r:id="rId32"/>
    <p:sldId id="305" r:id="rId33"/>
    <p:sldId id="262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272" r:id="rId44"/>
    <p:sldId id="273" r:id="rId45"/>
    <p:sldId id="274" r:id="rId46"/>
    <p:sldId id="284" r:id="rId47"/>
    <p:sldId id="285" r:id="rId48"/>
    <p:sldId id="286" r:id="rId49"/>
    <p:sldId id="287" r:id="rId5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52"/>
      <p:bold r:id="rId53"/>
      <p:italic r:id="rId54"/>
      <p:boldItalic r:id="rId55"/>
    </p:embeddedFont>
    <p:embeddedFont>
      <p:font typeface="Roboto Mono" panose="00000009000000000000" pitchFamily="49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37524-8608-4B16-BC45-35DD96E42492}">
  <a:tblStyle styleId="{73B37524-8608-4B16-BC45-35DD96E424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18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7b5b97c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7b5b97c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7b5b97c7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7b5b97c7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7b5b97c7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7b5b97c7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54ac20c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54ac20c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917A975-1050-876C-7D43-2FD9739F0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B2CD6319-D1C7-2CBA-6D9E-637CB1128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9AF1A500-BB2B-0827-9B96-513F58EA6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5466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7b5b97c7c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7b5b97c7c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7b5b97c7c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7b5b97c7c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7b5b97c7c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7b5b97c7c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5be15748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5be15748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54ac20c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754ac20c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5be15748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5be15748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5be15748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5be15748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5be15748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5be15748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4C23B89-638E-FF35-543A-043B5A9A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634361C8-9A4A-B140-23E5-2A65D7377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71247A57-D005-B46D-E511-355DCE44E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6031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F129146-6985-08F6-D021-A70681C5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96131AE2-9987-2916-DDF4-DEA86F472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8D6763D-072C-B9A5-9074-837FE505B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678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178582B-5F43-C009-26D0-D1D2EDA6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8193381A-52B5-EDA6-56F5-92D1FAE99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BD4D84D-EDA5-6605-7017-8AD9E2981B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39726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43EAA77-D3C6-D7F4-D896-2D850B808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8D85C02E-9226-CB21-E486-DACFA3D1A7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60AB9CC2-064F-E057-036C-7E5C7967B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3852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0ADE98D-252D-2850-FEEA-B151C095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D10A35EA-45C8-B653-BC17-D0ED4C87B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E200452-6F3E-B30C-91EC-E8E93563F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656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222B632-BEA8-8443-F198-C3C5292C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3EB42F17-4879-6F22-E66D-7B7F7D88D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560DE64C-609D-0F47-A504-6F5F449F9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182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737FED5-F72F-172C-2FDC-9435D68E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7F17584C-3F42-835D-55AD-0F0553BAB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797F3EA-F3E8-CD68-F540-A08F468C38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0606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909637B-19A3-3516-6624-0BD71DB1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1942953B-C52F-C840-A0DE-E65A7C3966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5F284E60-ED10-09F4-6560-03F437411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12451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30EDC03-35F6-8AE2-D1F9-4B4AFB4E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24B3146A-2A04-465C-1776-4006B144F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85994695-A757-C959-EB39-65498AF99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1963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5D49ACF-F791-A125-BBE0-ECFA1EEF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F3AC916D-007D-0ECE-0F7F-9190916B6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9074344C-302E-F4E0-C017-4EF1F2D0C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560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2A5212B-1391-13AC-3804-ADDE1DE4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D9DD6CF0-357D-EB6E-B0B0-BCFFA2635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F5AF4390-578F-6686-7B13-333AC68F6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79733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C7B4B3E-7663-864B-965E-FE1073AEE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1DD579A6-A8C3-7D79-0FBF-29FE2C64F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2E523517-DE71-568C-39F3-9F6BAA0C2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45937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7B1B02B-312C-ABF3-2F5B-4BDAC5357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2F903B3D-0A4D-A097-1BF5-3CF9A74E0C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AE8D09BB-B467-7B9D-02F5-1F0784825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99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9E4F6223-891D-99C2-34EF-586A9532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0FA2421F-C748-0636-20E3-CC131B1D6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86217AB7-C6D1-99CF-BEED-78714DC04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531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1B30B2D8-FD64-D66E-0905-550FB85E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>
            <a:extLst>
              <a:ext uri="{FF2B5EF4-FFF2-40B4-BE49-F238E27FC236}">
                <a16:creationId xmlns:a16="http://schemas.microsoft.com/office/drawing/2014/main" id="{B1769B33-99E9-4117-83BC-37B760152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>
            <a:extLst>
              <a:ext uri="{FF2B5EF4-FFF2-40B4-BE49-F238E27FC236}">
                <a16:creationId xmlns:a16="http://schemas.microsoft.com/office/drawing/2014/main" id="{89A06D46-696C-3C5A-02F7-67FB68CF3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634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71F704F-090E-0D72-D121-8B809516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>
            <a:extLst>
              <a:ext uri="{FF2B5EF4-FFF2-40B4-BE49-F238E27FC236}">
                <a16:creationId xmlns:a16="http://schemas.microsoft.com/office/drawing/2014/main" id="{BB82282D-5990-45F7-5560-5ECA6C7DF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>
            <a:extLst>
              <a:ext uri="{FF2B5EF4-FFF2-40B4-BE49-F238E27FC236}">
                <a16:creationId xmlns:a16="http://schemas.microsoft.com/office/drawing/2014/main" id="{CEA80BE9-87CC-8C8E-97F7-479663D85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35605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7b5b97c7c_0_1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7b5b97c7c_0_1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7b5b97c7c_0_1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7b5b97c7c_0_1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b5b97c7c_0_1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7b5b97c7c_0_1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7b5b97c7c_0_1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7b5b97c7c_0_1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7b5b97c7c_0_1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7b5b97c7c_0_1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7b5b97c7c_0_1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7b5b97c7c_0_1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7b5b97c7c_0_1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7b5b97c7c_0_1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7b5b97c7c_0_1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7b5b97c7c_0_1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85a0414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85a0414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85a0414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85a0414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85a0414e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85a0414e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85a0414e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85a0414e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85a0414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85a0414e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7b5b97c7c_0_10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7b5b97c7c_0_10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85a0414e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85a0414e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abff5344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abff5344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abff5344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abff5344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B8B670-62CD-5B56-BF4D-7F23D590A3E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279400" marR="635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/>
              <a:t>Federated Learning for Code Generation with Hallucination-Aware Fine Tuning</a:t>
            </a:r>
            <a:endParaRPr sz="22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79" y="3679587"/>
            <a:ext cx="2974875" cy="10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BF0FC89-364A-B060-FD66-D0ABA63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E93A0-171F-26CD-CDF3-E083911A513F}"/>
              </a:ext>
            </a:extLst>
          </p:cNvPr>
          <p:cNvSpPr txBox="1"/>
          <p:nvPr/>
        </p:nvSpPr>
        <p:spPr>
          <a:xfrm>
            <a:off x="2725615" y="1062382"/>
            <a:ext cx="3739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CS6811 – Project Work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80D0B-7259-0BDE-42B1-D560F27479CB}"/>
              </a:ext>
            </a:extLst>
          </p:cNvPr>
          <p:cNvSpPr txBox="1"/>
          <p:nvPr/>
        </p:nvSpPr>
        <p:spPr>
          <a:xfrm>
            <a:off x="7039778" y="3734718"/>
            <a:ext cx="179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Thanasekhar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Technology, MIT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163100" y="10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INTRODUCTION</a:t>
            </a:r>
            <a:endParaRPr sz="1720" b="1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48700" y="681450"/>
            <a:ext cx="8895300" cy="4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Large Language Models (LLMs) have  remarkable capabilities in code generation ,enabling automated solutions to a wide range of software engineering tasks.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 However  LLMs frequently suffer from hallucinations in code generation, producing syntactically valid but semantically incorrect programs, non-existent APIs, or logically flawed implementations.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Existing approaches to mitigating code hallucinations primarily rely on prompt engineering, repeated sampling, or full model fine-tuning.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 Full fine-tuning is computationally expensive and impractical in low-resource or decentralized settings, and repeated sampling does not address the underlying causes and mitigation of hallucination.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In real-world development environments, code generation systems are often deployed across multiple decentralized clients where data cannot be centrally aggregated due to privacy, ownership.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To address these limitations we propose a hallucination-aware code generation framework that combines program analysis, targeted automatic program repair, and federated parameter-efficient fine-tuning using LoRA.</a:t>
            </a:r>
            <a:endParaRPr sz="136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36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85887-3AF5-B7BF-F37B-DF5D5B29410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3109946-00BA-10F5-050F-85C317F8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84850" y="152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PROBLEM STATEMENT</a:t>
            </a:r>
            <a:endParaRPr sz="1720" b="1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24350" y="316523"/>
            <a:ext cx="8895300" cy="4624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</a:rPr>
              <a:t>	Code generation using large language models (LLMs) is currently hindered by hallucinations. Existing mitigation strategies typically rely on supervised fine-tuning or reinforcement learning from human feedback (RLHF), where models are trained to align with human preferences .While parameter-efficient fine-tuning methods such as LoRA reduce computational overhead compared to full fine-tuning, both approaches primarily optimize model behavior but without explicit verification of program correctness. As a result, these methods may improve correctness but often fail to systematically detect and correct deeper structural, semantic, and execution-level errors in generated code.</a:t>
            </a:r>
            <a:endParaRPr sz="1388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</a:rPr>
              <a:t>	Furthermore, in real world scenarios, high-quality code and execution feedback are distributed across multiple organizations making centralized data collection infeasible due to privacy concerns. Without a secure and decentralized learning mechanism, models are unable to effectively learn from diverse hallucination patterns observed across clients. This creates a critical gap for a unified framework that integrates explicit hallucination detection and automated program verification with privacy-preserving, parameter-efficient adaptation to improve the quality of code generation .</a:t>
            </a:r>
            <a:endParaRPr sz="1388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075"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768264-C0F3-1231-F996-DD7CC1B12AA8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BAA4D4-6C1C-EB49-40FE-BF3E2415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81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OBJECTIVES</a:t>
            </a:r>
            <a:endParaRPr sz="1720" b="1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124350" y="1054550"/>
            <a:ext cx="8895300" cy="3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design a hallucination-aware code generation framework that integrates static and dynamic program analysis.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detect and classify different types of hallucinations in generated code.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apply automatic program repair for correcting hallucinated code using knowledge-guided patching.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fine-tune large language models using parameter-efficient LoRA in a federated learning setting.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evaluate the proposed framework on standard code generation benchmarks and analyze hallucination reduction.</a:t>
            </a:r>
            <a:endParaRPr sz="146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46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0B119-3AAD-D2FF-D013-2AD7FC43E74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2E21217-6E82-46C8-71AE-06EEB751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C8BF9-75E2-B7B2-ECF0-9A40F06A8B7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5653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ARCHITECTURE DIAGRAM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497050" y="4338800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Fig1. Client side hallucination detection and mitigation framework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8B23330-663D-1AEF-F51C-EE96C793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8E58A0-6CF6-88B8-BEDC-324583341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94" y="896273"/>
            <a:ext cx="7765256" cy="33509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ARCHITECTURE DIAGRAM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756200" y="4493700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Fig 2. Federated learning + LoRA for fine-tuning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400" y="745200"/>
            <a:ext cx="5644238" cy="35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6BB976-DEB5-A5C2-93C1-523D90EC711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ED99A-9F58-45EF-73A3-80A411D1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1D9C67F-CBD5-A7C2-CA2D-62D2CC24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97D14C68-615D-F83C-8E71-7708EF566C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</a:rPr>
              <a:t>ALGORITHM FLOW DIAGRAM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87" name="Google Shape;87;p18">
            <a:extLst>
              <a:ext uri="{FF2B5EF4-FFF2-40B4-BE49-F238E27FC236}">
                <a16:creationId xmlns:a16="http://schemas.microsoft.com/office/drawing/2014/main" id="{ABBEF34D-8C6C-47FA-1E04-04FD2C3C109D}"/>
              </a:ext>
            </a:extLst>
          </p:cNvPr>
          <p:cNvSpPr txBox="1"/>
          <p:nvPr/>
        </p:nvSpPr>
        <p:spPr>
          <a:xfrm>
            <a:off x="1894563" y="4308213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Fig 3. Algorithmic flow of hallucination detection and mitigation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69640C-8B6A-1E8F-E3C8-69DD1E9723A4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B6A67A-9D3E-37FE-0047-46026697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786DBA-DCBA-EC30-C13C-7C9222ED9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184" y="565331"/>
            <a:ext cx="4801810" cy="358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63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E2E97B-05E9-0082-D487-1B32678230C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59" name="Google Shape;159;p32"/>
          <p:cNvGraphicFramePr/>
          <p:nvPr>
            <p:extLst>
              <p:ext uri="{D42A27DB-BD31-4B8C-83A1-F6EECF244321}">
                <p14:modId xmlns:p14="http://schemas.microsoft.com/office/powerpoint/2010/main" val="623260512"/>
              </p:ext>
            </p:extLst>
          </p:nvPr>
        </p:nvGraphicFramePr>
        <p:xfrm>
          <a:off x="648000" y="869325"/>
          <a:ext cx="8032800" cy="331483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7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MODULES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SUB-MODULES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TOOLS &amp; PLATFORM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1.</a:t>
                      </a:r>
                      <a:endParaRPr sz="135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</a:rPr>
                        <a:t>Problem ingestion and code generation</a:t>
                      </a:r>
                      <a:endParaRPr sz="135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 dirty="0"/>
                        <a:t>Dataset selection .</a:t>
                      </a:r>
                      <a:endParaRPr sz="1350" dirty="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 dirty="0"/>
                        <a:t>Client-wise dataset partitioning .</a:t>
                      </a:r>
                      <a:endParaRPr sz="1350" dirty="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 dirty="0"/>
                        <a:t>Single-shot prompting.</a:t>
                      </a:r>
                      <a:endParaRPr sz="1350" dirty="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 dirty="0"/>
                        <a:t>Pretrained LLM selection and loading.</a:t>
                      </a:r>
                      <a:endParaRPr sz="1350" dirty="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 dirty="0"/>
                        <a:t> Baseline inference using frozen LLM</a:t>
                      </a:r>
                      <a:endParaRPr sz="135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Hugging Face Datasets, Transformers, Python, Pandas, NumPy, Google Colab</a:t>
                      </a:r>
                      <a:endParaRPr sz="135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2.</a:t>
                      </a:r>
                      <a:endParaRPr sz="135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Hallucination detection</a:t>
                      </a:r>
                      <a:endParaRPr sz="135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 dirty="0"/>
                        <a:t>Static analysis using AST ,Library analysis. </a:t>
                      </a:r>
                      <a:endParaRPr sz="1350" dirty="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 dirty="0"/>
                        <a:t>Structured hallucination labeling.</a:t>
                      </a:r>
                      <a:endParaRPr sz="135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>
                          <a:solidFill>
                            <a:schemeClr val="dk1"/>
                          </a:solidFill>
                        </a:rPr>
                        <a:t>Python </a:t>
                      </a:r>
                      <a:r>
                        <a:rPr lang="en" sz="1350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ast</a:t>
                      </a:r>
                      <a:r>
                        <a:rPr lang="en" sz="1350" dirty="0">
                          <a:solidFill>
                            <a:schemeClr val="dk1"/>
                          </a:solidFill>
                        </a:rPr>
                        <a:t> module.</a:t>
                      </a:r>
                      <a:endParaRPr sz="13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0" name="Google Shape;160;p32"/>
          <p:cNvSpPr txBox="1">
            <a:spLocks noGrp="1"/>
          </p:cNvSpPr>
          <p:nvPr>
            <p:ph type="subTitle" idx="1"/>
          </p:nvPr>
        </p:nvSpPr>
        <p:spPr>
          <a:xfrm>
            <a:off x="574725" y="177425"/>
            <a:ext cx="68436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PROJECT MODULES, TOOLS &amp; PLATFORMS IDENTIFIED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090CD68-6BD1-98AE-E379-37AFBBD7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3859B7-83BA-F973-D98B-6E01A25E488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65" name="Google Shape;165;p33"/>
          <p:cNvGraphicFramePr/>
          <p:nvPr>
            <p:extLst>
              <p:ext uri="{D42A27DB-BD31-4B8C-83A1-F6EECF244321}">
                <p14:modId xmlns:p14="http://schemas.microsoft.com/office/powerpoint/2010/main" val="1930729482"/>
              </p:ext>
            </p:extLst>
          </p:nvPr>
        </p:nvGraphicFramePr>
        <p:xfrm>
          <a:off x="658875" y="934600"/>
          <a:ext cx="8032800" cy="34619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7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MODULES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SUB-MODULES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TOOLS &amp; PLATFORM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3.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Automatic Program Repair (APR)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Knowledge extraction.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Patch-based repair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Bounded repair attempts.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Ground-truth verification and hard hallucination labeling.</a:t>
                      </a:r>
                      <a:endParaRPr sz="125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Numpy,pandas,sklearn,scipy,statsmodel, Qwen2.5-Coder (Repair), Python.</a:t>
                      </a:r>
                      <a:endParaRPr sz="125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4.</a:t>
                      </a:r>
                      <a:endParaRPr sz="125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Fine tuning using LoRA </a:t>
                      </a:r>
                      <a:endParaRPr sz="125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Hallucination-aware dataset construction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Low-rank decomposition (r = 8).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Injection of LoRA modules into Query and Key projections.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Parameter isolation with frozen backbone. 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Adapter checkpointing.</a:t>
                      </a:r>
                      <a:endParaRPr sz="125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PyTorch, Hugging Face PEFT, Transformers</a:t>
                      </a:r>
                      <a:endParaRPr sz="1250" dirty="0"/>
                    </a:p>
                  </a:txBody>
                  <a:tcPr marL="91425" marR="91425" marT="91425" marB="914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" name="Google Shape;166;p33"/>
          <p:cNvSpPr txBox="1">
            <a:spLocks noGrp="1"/>
          </p:cNvSpPr>
          <p:nvPr>
            <p:ph type="subTitle" idx="1"/>
          </p:nvPr>
        </p:nvSpPr>
        <p:spPr>
          <a:xfrm>
            <a:off x="596450" y="199150"/>
            <a:ext cx="68436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PROJECT MODULES, TOOLS &amp; PLATFORMS IDENTIFIED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7C1AD7F-0212-A14A-7DEF-44E875910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34"/>
          <p:cNvGraphicFramePr/>
          <p:nvPr>
            <p:extLst>
              <p:ext uri="{D42A27DB-BD31-4B8C-83A1-F6EECF244321}">
                <p14:modId xmlns:p14="http://schemas.microsoft.com/office/powerpoint/2010/main" val="2425408714"/>
              </p:ext>
            </p:extLst>
          </p:nvPr>
        </p:nvGraphicFramePr>
        <p:xfrm>
          <a:off x="596450" y="934600"/>
          <a:ext cx="8095225" cy="402327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75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4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7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5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MODULES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SUB-MODULES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TOOLS &amp; PLATFORM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8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5.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Federated Aggregation and Distribution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Secure client-side adapters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Federated Averaging (FedAvg) with sample-size-based weighting.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Global adapter construction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Redistribution of global adapters to clients.</a:t>
                      </a:r>
                      <a:endParaRPr sz="125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Flower ,PyTorch, NumPy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6.</a:t>
                      </a:r>
                      <a:endParaRPr sz="125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Evaluation and analysis</a:t>
                      </a:r>
                      <a:endParaRPr sz="125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Evaluation on MBPP, HumanEval, and DS-1000 benchmarks.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 Functional correctness using Pass@1. 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Hallucination detection metrics (Precision, Recall, F1). 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Code similarity analysis using CodeBLEU. 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Cross-client validation.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 Before–after performance comparison.</a:t>
                      </a:r>
                      <a:endParaRPr sz="125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CodeBLEU, Matplotlib, Seaborn, Scikit-learn</a:t>
                      </a:r>
                      <a:endParaRPr sz="1250" dirty="0"/>
                    </a:p>
                  </a:txBody>
                  <a:tcPr marL="91425" marR="91425" marT="91425" marB="914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2" name="Google Shape;172;p34"/>
          <p:cNvSpPr txBox="1">
            <a:spLocks noGrp="1"/>
          </p:cNvSpPr>
          <p:nvPr>
            <p:ph type="subTitle" idx="1"/>
          </p:nvPr>
        </p:nvSpPr>
        <p:spPr>
          <a:xfrm>
            <a:off x="596450" y="199150"/>
            <a:ext cx="68436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PROJECT MODULES, TOOLS &amp; PLATFORMS IDENTIFIED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2E61A-4EAB-969C-3D42-4FD63A5741C2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B2E6FA0-08BB-30BA-5C28-E7B080C9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261000" y="1631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88" b="1" dirty="0"/>
              <a:t>METHODS/MODULES USED</a:t>
            </a:r>
            <a:endParaRPr sz="1788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1.Problem ingestion and code generation</a:t>
            </a:r>
            <a:endParaRPr sz="1900" b="1" dirty="0"/>
          </a:p>
        </p:txBody>
      </p:sp>
      <p:sp>
        <p:nvSpPr>
          <p:cNvPr id="178" name="Google Shape;178;p35"/>
          <p:cNvSpPr txBox="1">
            <a:spLocks noGrp="1"/>
          </p:cNvSpPr>
          <p:nvPr>
            <p:ph type="body" idx="1"/>
          </p:nvPr>
        </p:nvSpPr>
        <p:spPr>
          <a:xfrm>
            <a:off x="496575" y="913125"/>
            <a:ext cx="8746800" cy="48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Input</a:t>
            </a:r>
            <a:r>
              <a:rPr lang="en" sz="1500" dirty="0">
                <a:solidFill>
                  <a:schemeClr val="dk1"/>
                </a:solidFill>
              </a:rPr>
              <a:t>: Benchmark code-generation datasets.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Output</a:t>
            </a:r>
            <a:r>
              <a:rPr lang="en" sz="1500" dirty="0">
                <a:solidFill>
                  <a:schemeClr val="dk1"/>
                </a:solidFill>
              </a:rPr>
              <a:t>:Initial LLM-generated code solutions (potentially containing hallucinations).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Methods:</a:t>
            </a:r>
            <a:endParaRPr sz="1500" b="1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Dataset Loading:</a:t>
            </a:r>
            <a:r>
              <a:rPr lang="en" sz="1500" dirty="0">
                <a:solidFill>
                  <a:schemeClr val="dk1"/>
                </a:solidFill>
              </a:rPr>
              <a:t>Benchmark code-generation datasets including MBPP, HumanEval, and DS-1000 are loaded using the Hugging Face library.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Client-wise Dataset Allocation:</a:t>
            </a:r>
            <a:r>
              <a:rPr lang="en" sz="1500" dirty="0">
                <a:solidFill>
                  <a:schemeClr val="dk1"/>
                </a:solidFill>
              </a:rPr>
              <a:t>Each federated client is assigned a distinct dataset or dataset subset to simulate heterogeneous behaviour.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Problem Specification Construction:</a:t>
            </a:r>
            <a:r>
              <a:rPr lang="en" sz="1500" dirty="0">
                <a:solidFill>
                  <a:schemeClr val="dk1"/>
                </a:solidFill>
              </a:rPr>
              <a:t>For each task, structured inputs consisting of the problem statement, function signature, constraints is constructed.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Single-Shot Prompting:</a:t>
            </a:r>
            <a:r>
              <a:rPr lang="en" sz="1500" dirty="0">
                <a:solidFill>
                  <a:schemeClr val="dk1"/>
                </a:solidFill>
              </a:rPr>
              <a:t>Code generation is performed using a single-shot prompting strategy, where the model receives the task specification without iterative refinement.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Baseline Inference:</a:t>
            </a:r>
            <a:r>
              <a:rPr lang="en" sz="1500" dirty="0">
                <a:solidFill>
                  <a:schemeClr val="dk1"/>
                </a:solidFill>
              </a:rPr>
              <a:t>The frozen Qwen2.5-Coder-1.5B pretrained model is used to generate initial code outputs, which may contain hallucinations and serve as baseline for downstream analysis.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58527-112C-4FBE-D52C-38F0198A80F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2B8F1C5-C050-FEF3-3944-3AF236AC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2.Hallucination detection</a:t>
            </a:r>
            <a:endParaRPr sz="1900" b="1"/>
          </a:p>
        </p:txBody>
      </p:sp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387825" y="526375"/>
            <a:ext cx="8814000" cy="43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Input</a:t>
            </a:r>
            <a:r>
              <a:rPr lang="en" sz="1500" dirty="0">
                <a:solidFill>
                  <a:schemeClr val="dk1"/>
                </a:solidFill>
              </a:rPr>
              <a:t>: LLM-generated code obtained from the code generation module.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Output</a:t>
            </a:r>
            <a:r>
              <a:rPr lang="en" sz="1500" dirty="0">
                <a:solidFill>
                  <a:schemeClr val="dk1"/>
                </a:solidFill>
              </a:rPr>
              <a:t>:Detected hallucination types along with structured diagnostic information.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Methods:</a:t>
            </a:r>
            <a:endParaRPr sz="1500" b="1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AST Construction and Analysis: </a:t>
            </a:r>
            <a:r>
              <a:rPr lang="en" sz="1500" dirty="0">
                <a:solidFill>
                  <a:schemeClr val="dk1"/>
                </a:solidFill>
              </a:rPr>
              <a:t>Abstract Syntax Tree (AST) is constructed and analyzed to detect syntax errors, undefined variables, and invalid language constructs.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Library analysis</a:t>
            </a:r>
            <a:r>
              <a:rPr lang="en" sz="1500" dirty="0">
                <a:solidFill>
                  <a:schemeClr val="dk1"/>
                </a:solidFill>
              </a:rPr>
              <a:t>: We use ast to check if each methods,functions align with the library in static setup.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Dynamic Analysis: </a:t>
            </a:r>
            <a:r>
              <a:rPr lang="en" sz="1500" dirty="0">
                <a:solidFill>
                  <a:schemeClr val="dk1"/>
                </a:solidFill>
              </a:rPr>
              <a:t>The test cases are executed on the code to detect runtime errors and semantic hallucinations.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Hallucination Labeling: </a:t>
            </a:r>
            <a:r>
              <a:rPr lang="en" sz="1500" dirty="0">
                <a:solidFill>
                  <a:schemeClr val="dk1"/>
                </a:solidFill>
              </a:rPr>
              <a:t>Detected errors are categorized into different hallucination types, and the resulting information is recorded for dataset construction during fine-tuning.</a:t>
            </a:r>
            <a:endParaRPr sz="1500"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FC8F1-C376-EDC8-EA17-FAC3823E541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9ACE23-3038-F57B-4AEC-D110BEB5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3.Automatic program repair module</a:t>
            </a:r>
            <a:endParaRPr sz="1900" b="1"/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1"/>
          </p:nvPr>
        </p:nvSpPr>
        <p:spPr>
          <a:xfrm>
            <a:off x="376950" y="472025"/>
            <a:ext cx="87669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Input</a:t>
            </a:r>
            <a:r>
              <a:rPr lang="en" sz="1600" dirty="0">
                <a:solidFill>
                  <a:schemeClr val="dk1"/>
                </a:solidFill>
              </a:rPr>
              <a:t>: Buggy code, detected hallucination type, fault hints, and a domain knowledge graph.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Output</a:t>
            </a:r>
            <a:r>
              <a:rPr lang="en" sz="1600" dirty="0">
                <a:solidFill>
                  <a:schemeClr val="dk1"/>
                </a:solidFill>
              </a:rPr>
              <a:t>:Corrected code validated against ground-truth oracles or hard hallucination label.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Methods: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Knowledge Extraction:</a:t>
            </a:r>
            <a:r>
              <a:rPr lang="en" sz="1600" dirty="0">
                <a:solidFill>
                  <a:schemeClr val="dk1"/>
                </a:solidFill>
              </a:rPr>
              <a:t>library, class, method, and dependency information is extracted from dir,help,inspect 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Patch-Based Repair:</a:t>
            </a:r>
            <a:r>
              <a:rPr lang="en" sz="1600" dirty="0">
                <a:solidFill>
                  <a:schemeClr val="dk1"/>
                </a:solidFill>
              </a:rPr>
              <a:t> Applying localized patches to the hallucinated code from fault information from previous modules.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Fault-Guided Prompting: </a:t>
            </a:r>
            <a:r>
              <a:rPr lang="en" sz="1600" dirty="0">
                <a:solidFill>
                  <a:schemeClr val="dk1"/>
                </a:solidFill>
              </a:rPr>
              <a:t>The detected hallucination type, fault hints, and relevant knowledge graph entries are provided to LLM for code correction.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Bounded Repair Attempts:</a:t>
            </a:r>
            <a:r>
              <a:rPr lang="en" sz="1600" dirty="0">
                <a:solidFill>
                  <a:schemeClr val="dk1"/>
                </a:solidFill>
              </a:rPr>
              <a:t>program repair is performed with a bounded number of attempts to ensure controlled behavior.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GT Verification:</a:t>
            </a:r>
            <a:r>
              <a:rPr lang="en" sz="1600" dirty="0">
                <a:solidFill>
                  <a:schemeClr val="dk1"/>
                </a:solidFill>
              </a:rPr>
              <a:t>Each candidate is then verified with Hallucination detection module. If verification fails after bounded attempts,it is marked as hard hallucination.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126B6B-7FAF-936D-7C0D-C90E15EFD3AD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856FD-B837-1E3E-D7F1-977C5A90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4.Fine tuning using LoRA </a:t>
            </a:r>
            <a:endParaRPr sz="1900" b="1"/>
          </a:p>
        </p:txBody>
      </p:sp>
      <p:sp>
        <p:nvSpPr>
          <p:cNvPr id="196" name="Google Shape;196;p38"/>
          <p:cNvSpPr txBox="1">
            <a:spLocks noGrp="1"/>
          </p:cNvSpPr>
          <p:nvPr>
            <p:ph type="body" idx="1"/>
          </p:nvPr>
        </p:nvSpPr>
        <p:spPr>
          <a:xfrm>
            <a:off x="420300" y="580750"/>
            <a:ext cx="87237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Input</a:t>
            </a:r>
            <a:r>
              <a:rPr lang="en" sz="1600">
                <a:solidFill>
                  <a:schemeClr val="dk1"/>
                </a:solidFill>
              </a:rPr>
              <a:t>: Hallucination-aware code samples, including buggy code, diagnostic information, and  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repair outcomes, along with a frozen pre-trained LLM.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</a:t>
            </a:r>
            <a:r>
              <a:rPr lang="en" sz="1600">
                <a:solidFill>
                  <a:schemeClr val="dk1"/>
                </a:solidFill>
              </a:rPr>
              <a:t>:Client-specific LoRA adapters trained on hallucination aware datasets.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Methods: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Dataset Construction: </a:t>
            </a:r>
            <a:r>
              <a:rPr lang="en" sz="1500">
                <a:solidFill>
                  <a:schemeClr val="dk1"/>
                </a:solidFill>
              </a:rPr>
              <a:t>Construct structured dataset using problem description, buggy code, hallucination type, repairability flag and corrected code.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Low-Rank Decomposition: </a:t>
            </a:r>
            <a:r>
              <a:rPr lang="en" sz="1500">
                <a:solidFill>
                  <a:schemeClr val="dk1"/>
                </a:solidFill>
              </a:rPr>
              <a:t>Weight updates are parameterized using two low-rank matrices A and B, where the rank r is set to 8.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Attention Layer Injection:</a:t>
            </a:r>
            <a:r>
              <a:rPr lang="en" sz="1500">
                <a:solidFill>
                  <a:schemeClr val="dk1"/>
                </a:solidFill>
              </a:rPr>
              <a:t> LoRA modules are injected into the Query and Key projection matrices of each Transformer layer.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Parameter Isolation:</a:t>
            </a:r>
            <a:r>
              <a:rPr lang="en" sz="1500">
                <a:solidFill>
                  <a:schemeClr val="dk1"/>
                </a:solidFill>
              </a:rPr>
              <a:t> Original model weights remain frozen, and only LoRA parameters are made trainable.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Adapter Checkpointing:</a:t>
            </a:r>
            <a:r>
              <a:rPr lang="en" sz="1500">
                <a:solidFill>
                  <a:schemeClr val="dk1"/>
                </a:solidFill>
              </a:rPr>
              <a:t>Only trained LoRA adapter weights are saved and transmitted to the server, ensuring lightweight communication and privacy preservation.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F63ED-81F1-A185-9C1A-55D1DA58BFD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A71592-BBFB-A9B9-DE96-5029813F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5.Federated Aggregation and Distribution</a:t>
            </a:r>
            <a:endParaRPr sz="1900" b="1"/>
          </a:p>
        </p:txBody>
      </p:sp>
      <p:sp>
        <p:nvSpPr>
          <p:cNvPr id="202" name="Google Shape;202;p39"/>
          <p:cNvSpPr txBox="1">
            <a:spLocks noGrp="1"/>
          </p:cNvSpPr>
          <p:nvPr>
            <p:ph type="body" idx="1"/>
          </p:nvPr>
        </p:nvSpPr>
        <p:spPr>
          <a:xfrm>
            <a:off x="420300" y="641950"/>
            <a:ext cx="87237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Input</a:t>
            </a:r>
            <a:r>
              <a:rPr lang="en" sz="1600">
                <a:solidFill>
                  <a:schemeClr val="dk1"/>
                </a:solidFill>
              </a:rPr>
              <a:t>: Client-side LoRA adapter weights,along with sample size.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</a:t>
            </a:r>
            <a:r>
              <a:rPr lang="en" sz="1600">
                <a:solidFill>
                  <a:schemeClr val="dk1"/>
                </a:solidFill>
              </a:rPr>
              <a:t>:Global LoRA adapter distributed to all participating clients.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Methods: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Adapter Collection:</a:t>
            </a:r>
            <a:r>
              <a:rPr lang="en" sz="1600">
                <a:solidFill>
                  <a:schemeClr val="dk1"/>
                </a:solidFill>
              </a:rPr>
              <a:t> LoRA adapter weights are collected from all participating clients after local fine-tuning.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Federated Averaging:</a:t>
            </a:r>
            <a:r>
              <a:rPr lang="en" sz="1600">
                <a:solidFill>
                  <a:schemeClr val="dk1"/>
                </a:solidFill>
              </a:rPr>
              <a:t>Client-side adapters are aggregated using the Federated Averaging (FedAvg) algorithm, where clients with larger sample sizes contribute proportionally higher weights to the global adapter.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Global Adapter Construction:</a:t>
            </a:r>
            <a:r>
              <a:rPr lang="en" sz="1600">
                <a:solidFill>
                  <a:schemeClr val="dk1"/>
                </a:solidFill>
              </a:rPr>
              <a:t>A global LoRA adapter is constructed by averaging the weighted client adapters while keeping the base model parameters frozen.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Adapter Distribution:</a:t>
            </a:r>
            <a:r>
              <a:rPr lang="en" sz="1600">
                <a:solidFill>
                  <a:schemeClr val="dk1"/>
                </a:solidFill>
              </a:rPr>
              <a:t>The aggregated global LoRA adapter is redistributed to all clients and combined with the shared base model for subsequent inference or further training rounds.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F5D337-080A-C199-465B-7B3CC8DD65C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1B03BA-AE62-BA9C-6B2F-6E813D5A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6.Evaluation and analysis</a:t>
            </a:r>
            <a:endParaRPr sz="1900" b="1"/>
          </a:p>
        </p:txBody>
      </p:sp>
      <p:sp>
        <p:nvSpPr>
          <p:cNvPr id="208" name="Google Shape;208;p40"/>
          <p:cNvSpPr txBox="1">
            <a:spLocks noGrp="1"/>
          </p:cNvSpPr>
          <p:nvPr>
            <p:ph type="body" idx="1"/>
          </p:nvPr>
        </p:nvSpPr>
        <p:spPr>
          <a:xfrm>
            <a:off x="420300" y="319775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Input</a:t>
            </a:r>
            <a:r>
              <a:rPr lang="en" sz="1600" dirty="0">
                <a:solidFill>
                  <a:schemeClr val="dk1"/>
                </a:solidFill>
              </a:rPr>
              <a:t>: Code generated by the base model and the federated LoRA-enhanced model across benchmark datasets.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Output</a:t>
            </a:r>
            <a:r>
              <a:rPr lang="en" sz="1600" dirty="0">
                <a:solidFill>
                  <a:schemeClr val="dk1"/>
                </a:solidFill>
              </a:rPr>
              <a:t>: Benchmark-wise evaluation.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Methods: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code-generation benchmarks including MBPP, HumanEval, DS-1000 are used here.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Functional Correctness (Pass@1):</a:t>
            </a:r>
            <a:r>
              <a:rPr lang="en" sz="1600" dirty="0">
                <a:solidFill>
                  <a:schemeClr val="dk1"/>
                </a:solidFill>
              </a:rPr>
              <a:t>The Pass@1 metric is used to measure functional correctness if code passes all unit tests on the first attempt.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Hallucination Detection Metrics:</a:t>
            </a:r>
            <a:r>
              <a:rPr lang="en" sz="1600" dirty="0">
                <a:solidFill>
                  <a:schemeClr val="dk1"/>
                </a:solidFill>
              </a:rPr>
              <a:t>Precision, Recall, and F1-score are computed based on oracle-validated hallucination labels to assess the accuracy of hallucination detection.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Code Similarity Analysis:</a:t>
            </a:r>
            <a:r>
              <a:rPr lang="en" sz="1600" dirty="0">
                <a:solidFill>
                  <a:schemeClr val="dk1"/>
                </a:solidFill>
              </a:rPr>
              <a:t>CodeBLEU is used as a secondary metric to measure syntactic and structural similarity between generated code and reference implementations.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Cross-Client Validation:</a:t>
            </a:r>
            <a:r>
              <a:rPr lang="en" sz="1600" dirty="0">
                <a:solidFill>
                  <a:schemeClr val="dk1"/>
                </a:solidFill>
              </a:rPr>
              <a:t>Cross-validation is performed across federated clients to evaluate generalization and robustness under heterogeneous data distributions.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Before–After Comparison:</a:t>
            </a:r>
            <a:r>
              <a:rPr lang="en" sz="1600" dirty="0">
                <a:solidFill>
                  <a:schemeClr val="dk1"/>
                </a:solidFill>
              </a:rPr>
              <a:t>Model performance is compared before and after LoRA fine-tuning to quantify improvements in correctness and hallucination reduction.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BAF71-B3D6-A546-2872-64D3E0326647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91FD8-9D0D-4589-F757-04E0BAA8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0F717B6-8DAC-29CD-7A1E-DB7512A5C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4CC932F3-C9D3-1459-5A7E-AE61B1733C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1.1 Problem ingestion and code generation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3D8730-E790-1FE7-6B5C-A56ADBB329E0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A971EA-B1D1-F41B-DFED-9D85EFC6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C45EA-66E6-273B-DE89-B958AB88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84" y="810539"/>
            <a:ext cx="5183368" cy="1750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7052F4-FF1C-FC8F-1F17-5AB24CF60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176" y="2627591"/>
            <a:ext cx="5183369" cy="21295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5C6184-A537-309F-F8E3-23A3A5B1BEE2}"/>
              </a:ext>
            </a:extLst>
          </p:cNvPr>
          <p:cNvSpPr txBox="1"/>
          <p:nvPr/>
        </p:nvSpPr>
        <p:spPr>
          <a:xfrm>
            <a:off x="5524940" y="1531852"/>
            <a:ext cx="2483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Loading </a:t>
            </a:r>
            <a:r>
              <a:rPr lang="en-IN" dirty="0" err="1"/>
              <a:t>HumanEval</a:t>
            </a:r>
            <a:r>
              <a:rPr lang="en-IN" dirty="0"/>
              <a:t> dataset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4C5D93-A698-9A28-7ABA-EC237023FD43}"/>
              </a:ext>
            </a:extLst>
          </p:cNvPr>
          <p:cNvSpPr txBox="1"/>
          <p:nvPr/>
        </p:nvSpPr>
        <p:spPr>
          <a:xfrm>
            <a:off x="1242930" y="3210194"/>
            <a:ext cx="2066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Loading MBPP dataset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7E962-7DEB-2E08-C8A0-659B7997C52F}"/>
              </a:ext>
            </a:extLst>
          </p:cNvPr>
          <p:cNvSpPr txBox="1"/>
          <p:nvPr/>
        </p:nvSpPr>
        <p:spPr>
          <a:xfrm>
            <a:off x="1000876" y="3488774"/>
            <a:ext cx="255069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Extraction function signature in MBPP</a:t>
            </a:r>
          </a:p>
          <a:p>
            <a:r>
              <a:rPr lang="en-IN" sz="1100" dirty="0"/>
              <a:t> which will be later used for testing.</a:t>
            </a:r>
          </a:p>
        </p:txBody>
      </p:sp>
    </p:spTree>
    <p:extLst>
      <p:ext uri="{BB962C8B-B14F-4D97-AF65-F5344CB8AC3E}">
        <p14:creationId xmlns:p14="http://schemas.microsoft.com/office/powerpoint/2010/main" val="1330453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E13670-8CAA-0586-E87E-5B5168DD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C4BC080D-B478-D150-645A-EED2B6156F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1.1 Problem ingestion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5E089-E419-E6E8-DED2-F787B1DA055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263C1-D0B2-3F70-8FCC-9AA6F842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A9E2D-79FD-8A79-5F4F-869832B59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40" y="1000124"/>
            <a:ext cx="6690212" cy="28880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75F6E7-FE22-036A-3B3D-5D0998748AC0}"/>
              </a:ext>
            </a:extLst>
          </p:cNvPr>
          <p:cNvSpPr txBox="1"/>
          <p:nvPr/>
        </p:nvSpPr>
        <p:spPr>
          <a:xfrm>
            <a:off x="3200400" y="4060062"/>
            <a:ext cx="215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Loading DS1000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31676-B4C1-3325-DCCC-6F8A14CB410E}"/>
              </a:ext>
            </a:extLst>
          </p:cNvPr>
          <p:cNvSpPr txBox="1"/>
          <p:nvPr/>
        </p:nvSpPr>
        <p:spPr>
          <a:xfrm>
            <a:off x="2980788" y="4278104"/>
            <a:ext cx="25939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Created a column </a:t>
            </a:r>
            <a:r>
              <a:rPr lang="en-IN" sz="1100" dirty="0" err="1"/>
              <a:t>task_id</a:t>
            </a:r>
            <a:r>
              <a:rPr lang="en-IN" sz="1100" dirty="0"/>
              <a:t> to track data</a:t>
            </a:r>
          </a:p>
        </p:txBody>
      </p:sp>
    </p:spTree>
    <p:extLst>
      <p:ext uri="{BB962C8B-B14F-4D97-AF65-F5344CB8AC3E}">
        <p14:creationId xmlns:p14="http://schemas.microsoft.com/office/powerpoint/2010/main" val="1942828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AF20E45-F5A9-35DA-1FB9-09F4C5CE6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633C147-154E-3A71-F1FD-353ACFB0D2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1.2 Model loading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347A23-0FA0-09FD-203B-14918761E219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060948-A156-6C2C-7E22-9EDBD986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B8AED-E90F-15F3-8BF9-CD3DC07443EB}"/>
              </a:ext>
            </a:extLst>
          </p:cNvPr>
          <p:cNvSpPr txBox="1"/>
          <p:nvPr/>
        </p:nvSpPr>
        <p:spPr>
          <a:xfrm>
            <a:off x="2498292" y="4124216"/>
            <a:ext cx="191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Loading </a:t>
            </a:r>
            <a:r>
              <a:rPr lang="en-IN" dirty="0" err="1"/>
              <a:t>QwenCoder</a:t>
            </a:r>
            <a:r>
              <a:rPr lang="en-IN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7F6E79-50F0-D26C-AF82-666DD8EF78EA}"/>
              </a:ext>
            </a:extLst>
          </p:cNvPr>
          <p:cNvSpPr txBox="1"/>
          <p:nvPr/>
        </p:nvSpPr>
        <p:spPr>
          <a:xfrm>
            <a:off x="1323438" y="4413422"/>
            <a:ext cx="56028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Loading the model in 4bit precision from 16bit for memory constraints in google collab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60CA05-7298-6B0E-8A00-1C82D0EDF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76" y="730078"/>
            <a:ext cx="5715798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99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859341FC-7602-0034-82E7-5C58EA50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B249DDF0-C279-0713-A264-EB292F713A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1.3 Functions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9BCC5B-3742-4638-1DED-835A5246EFF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FFE8A5-DE5E-86BB-1492-D50EB29B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D9582E-F3A8-43DB-8DF6-099DD6355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01823"/>
              </p:ext>
            </p:extLst>
          </p:nvPr>
        </p:nvGraphicFramePr>
        <p:xfrm>
          <a:off x="173831" y="1175544"/>
          <a:ext cx="4326732" cy="1112520"/>
        </p:xfrm>
        <a:graphic>
          <a:graphicData uri="http://schemas.openxmlformats.org/drawingml/2006/table">
            <a:tbl>
              <a:tblPr firstRow="1" bandRow="1">
                <a:tableStyleId>{73B37524-8608-4B16-BC45-35DD96E42492}</a:tableStyleId>
              </a:tblPr>
              <a:tblGrid>
                <a:gridCol w="4326732">
                  <a:extLst>
                    <a:ext uri="{9D8B030D-6E8A-4147-A177-3AD203B41FA5}">
                      <a16:colId xmlns:a16="http://schemas.microsoft.com/office/drawing/2014/main" val="500798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100" dirty="0" err="1"/>
                        <a:t>HumanEval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9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construct_prompt_humaneval</a:t>
                      </a: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IN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docstring_prompt</a:t>
                      </a: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628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run_test_humaneval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generated_code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test_script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entry_point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2558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611375-DED7-CCA7-2EBD-65CBEAFD2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573647"/>
              </p:ext>
            </p:extLst>
          </p:nvPr>
        </p:nvGraphicFramePr>
        <p:xfrm>
          <a:off x="4831556" y="1175544"/>
          <a:ext cx="3505200" cy="1112520"/>
        </p:xfrm>
        <a:graphic>
          <a:graphicData uri="http://schemas.openxmlformats.org/drawingml/2006/table">
            <a:tbl>
              <a:tblPr firstRow="1" bandRow="1">
                <a:tableStyleId>{73B37524-8608-4B16-BC45-35DD96E42492}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00798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100" dirty="0"/>
                        <a:t>MBPP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9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construct_prompt_mbpp</a:t>
                      </a: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IN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prompt_text</a:t>
                      </a: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signature)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628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verify_code_mbpp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generated_code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test_list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25588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A17AE7-3434-C422-51EB-B5D81E8FB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888766"/>
              </p:ext>
            </p:extLst>
          </p:nvPr>
        </p:nvGraphicFramePr>
        <p:xfrm>
          <a:off x="1719263" y="2506663"/>
          <a:ext cx="5395912" cy="1633220"/>
        </p:xfrm>
        <a:graphic>
          <a:graphicData uri="http://schemas.openxmlformats.org/drawingml/2006/table">
            <a:tbl>
              <a:tblPr firstRow="1" bandRow="1">
                <a:tableStyleId>{73B37524-8608-4B16-BC45-35DD96E42492}</a:tableStyleId>
              </a:tblPr>
              <a:tblGrid>
                <a:gridCol w="5395912">
                  <a:extLst>
                    <a:ext uri="{9D8B030D-6E8A-4147-A177-3AD203B41FA5}">
                      <a16:colId xmlns:a16="http://schemas.microsoft.com/office/drawing/2014/main" val="500798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100" dirty="0"/>
                        <a:t>DS1000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69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contruct_prompt_ds1k_v4(</a:t>
                      </a:r>
                      <a:r>
                        <a:rPr lang="en-IN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raw_prompt</a:t>
                      </a: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IN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exec_context_snippet</a:t>
                      </a: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05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628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extract_only_exec_context_wi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code_context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255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run_ds1000_official_test_ds1k(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clean_code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code_context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</a:p>
                    <a:p>
                      <a:endParaRPr lang="en-US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042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530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1DA349F-BA6C-3330-AF72-B101F82C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B5B5EAAD-8D23-38A8-E653-1F555B2D40F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1.4 Code generation 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AA20F9-F44C-D132-7D8E-36F8F702A881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7780F6-660F-FB7E-EE82-23F835C4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04427-84A4-9F67-414F-1B876E7DB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467" y="857251"/>
            <a:ext cx="4833803" cy="35936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81F3DB-89EC-0310-4506-A4B8D2D7D3A4}"/>
              </a:ext>
            </a:extLst>
          </p:cNvPr>
          <p:cNvSpPr txBox="1"/>
          <p:nvPr/>
        </p:nvSpPr>
        <p:spPr>
          <a:xfrm>
            <a:off x="1648420" y="4450895"/>
            <a:ext cx="5373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https://huggingface.co/Qwen/Qwen2.5-Coder-3B-Instruct</a:t>
            </a:r>
          </a:p>
        </p:txBody>
      </p:sp>
    </p:spTree>
    <p:extLst>
      <p:ext uri="{BB962C8B-B14F-4D97-AF65-F5344CB8AC3E}">
        <p14:creationId xmlns:p14="http://schemas.microsoft.com/office/powerpoint/2010/main" val="119589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C4D94F7-3368-247C-0427-2B70745E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C597E7B-F35F-0934-5EA8-29109723C4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2.1 AST Analaysis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B98097-CFF5-45EA-7575-89678F8E41A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E902E-0CC5-FFBB-0D39-BD2CED44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6CD72-183E-B7C2-B017-7734C8AF2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325" y="971550"/>
            <a:ext cx="4117770" cy="3088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4ECE31-D7E3-FEAE-EC54-56D7FB1FB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05" y="971550"/>
            <a:ext cx="3412640" cy="30883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94882D-34CF-1D9A-087C-640D5DB9D641}"/>
              </a:ext>
            </a:extLst>
          </p:cNvPr>
          <p:cNvSpPr txBox="1"/>
          <p:nvPr/>
        </p:nvSpPr>
        <p:spPr>
          <a:xfrm>
            <a:off x="971550" y="4094437"/>
            <a:ext cx="2895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/>
              <a:t>StructuralViolationVisitor</a:t>
            </a:r>
            <a:r>
              <a:rPr lang="en-IN" sz="1200" dirty="0"/>
              <a:t> class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0AD4DC-EA28-95AF-4708-F88F834FAE99}"/>
              </a:ext>
            </a:extLst>
          </p:cNvPr>
          <p:cNvSpPr txBox="1"/>
          <p:nvPr/>
        </p:nvSpPr>
        <p:spPr>
          <a:xfrm>
            <a:off x="5733962" y="4003628"/>
            <a:ext cx="2438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AST analysis across all datasets</a:t>
            </a:r>
          </a:p>
        </p:txBody>
      </p:sp>
    </p:spTree>
    <p:extLst>
      <p:ext uri="{BB962C8B-B14F-4D97-AF65-F5344CB8AC3E}">
        <p14:creationId xmlns:p14="http://schemas.microsoft.com/office/powerpoint/2010/main" val="3137950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C431298-8E88-2E42-12AF-F2CDDEAF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EC4D4908-002D-49B1-18D5-9571802CF7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2.2 LIB API Analaysis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42936A-BC3D-2136-6246-E23D1F494D14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47C52D-0467-25D3-3FB9-56B13F54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652696-9DBD-9787-AA9A-7FF14B1AC90A}"/>
              </a:ext>
            </a:extLst>
          </p:cNvPr>
          <p:cNvSpPr txBox="1"/>
          <p:nvPr/>
        </p:nvSpPr>
        <p:spPr>
          <a:xfrm>
            <a:off x="971550" y="4003628"/>
            <a:ext cx="2557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/>
              <a:t>StructuralAPIVisitor</a:t>
            </a:r>
            <a:r>
              <a:rPr lang="en-IN" sz="1200" dirty="0"/>
              <a:t> class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00DE0-5B70-B2DC-1155-50E6F3ADDE95}"/>
              </a:ext>
            </a:extLst>
          </p:cNvPr>
          <p:cNvSpPr txBox="1"/>
          <p:nvPr/>
        </p:nvSpPr>
        <p:spPr>
          <a:xfrm>
            <a:off x="5733962" y="4003628"/>
            <a:ext cx="2810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Library/</a:t>
            </a:r>
            <a:r>
              <a:rPr lang="en-IN" sz="1200" dirty="0" err="1"/>
              <a:t>api</a:t>
            </a:r>
            <a:r>
              <a:rPr lang="en-IN" sz="1200" dirty="0"/>
              <a:t> analysis across all datasets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61EBDD-C94D-1FB9-DF32-2A8A65E8F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659" y="942975"/>
            <a:ext cx="3971160" cy="2993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3E5F36-627E-7198-93C4-9495ABF6D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1" y="1546755"/>
            <a:ext cx="4410691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94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80EB59E4-194D-FD20-F6FA-7FB0157C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7D412E42-F5E9-5410-61C5-D472989809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2.3 Dynamic Analaysis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185A31-C33D-B780-F472-9CCCA2E972B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F42749-5DAA-CEB0-D947-98807208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ABCCD-EB48-23C9-99F6-E9DFDCB51C87}"/>
              </a:ext>
            </a:extLst>
          </p:cNvPr>
          <p:cNvSpPr txBox="1"/>
          <p:nvPr/>
        </p:nvSpPr>
        <p:spPr>
          <a:xfrm>
            <a:off x="5733962" y="4003628"/>
            <a:ext cx="2374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Hallucination across all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E2741-935E-23DC-55B2-378C3AA3C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209" y="1330032"/>
            <a:ext cx="3212697" cy="24145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3AE7F2-28B3-0AB3-77BE-22CF1E9EA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39" y="1991943"/>
            <a:ext cx="4401164" cy="10764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CD34A67-9592-491C-D694-E5144CB8D3B8}"/>
              </a:ext>
            </a:extLst>
          </p:cNvPr>
          <p:cNvSpPr txBox="1"/>
          <p:nvPr/>
        </p:nvSpPr>
        <p:spPr>
          <a:xfrm>
            <a:off x="835731" y="4003627"/>
            <a:ext cx="27606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Module structure for dynamic analysis</a:t>
            </a:r>
          </a:p>
        </p:txBody>
      </p:sp>
    </p:spTree>
    <p:extLst>
      <p:ext uri="{BB962C8B-B14F-4D97-AF65-F5344CB8AC3E}">
        <p14:creationId xmlns:p14="http://schemas.microsoft.com/office/powerpoint/2010/main" val="2783263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F4707DC-0352-441F-1151-C01874E2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1064338C-9371-AE64-E6C1-E939DAEC4F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2.3 Dynamic Analaysis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BC5420-ADCD-2A16-9793-C5147CEA353E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8BEB-DFC8-8560-A880-0B414823B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435A7-0AED-1E89-3EF4-D88C1BB6A7D5}"/>
              </a:ext>
            </a:extLst>
          </p:cNvPr>
          <p:cNvSpPr txBox="1"/>
          <p:nvPr/>
        </p:nvSpPr>
        <p:spPr>
          <a:xfrm>
            <a:off x="3469932" y="3812099"/>
            <a:ext cx="2393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Types of hallucination at runtime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70710-2DE3-5981-D14D-968E62D4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71" y="941946"/>
            <a:ext cx="7379150" cy="283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74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8662B6A-F016-5AC9-921A-EBA0EE5A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0FDB4C76-1B17-8695-65BB-04B2E4B3A54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3.1 FAULT INFORMATION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6C023E-3271-8ADA-5DA8-86953B341BD1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AA233-0839-5987-1CA8-A3B123E3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34955-2E36-838B-CB05-36D84922B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72" y="1687803"/>
            <a:ext cx="1824380" cy="1754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77B7D-407C-9C70-CF14-E4E230B25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616" y="1052554"/>
            <a:ext cx="3217088" cy="3328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EF5698-45EA-C664-6147-2C0804F0B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168" y="1390212"/>
            <a:ext cx="2557954" cy="24027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78BE0E-0BD7-AD55-3057-5C6BEEB722C1}"/>
              </a:ext>
            </a:extLst>
          </p:cNvPr>
          <p:cNvSpPr txBox="1"/>
          <p:nvPr/>
        </p:nvSpPr>
        <p:spPr>
          <a:xfrm>
            <a:off x="1942914" y="4447154"/>
            <a:ext cx="52581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Fault information across different modules are collected for APR</a:t>
            </a:r>
          </a:p>
        </p:txBody>
      </p:sp>
    </p:spTree>
    <p:extLst>
      <p:ext uri="{BB962C8B-B14F-4D97-AF65-F5344CB8AC3E}">
        <p14:creationId xmlns:p14="http://schemas.microsoft.com/office/powerpoint/2010/main" val="489852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99EE960-3A4D-A67C-6CB4-94512C58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2FF370A1-4307-6B59-7C77-E4BA746B65D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3.2 KG ANALYSIS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4BAB1-7A9E-A39C-81B0-1CD58BFE671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C8BA1C-1A08-472B-D5A8-DB2508FA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5E4AC-1E30-13C9-AE99-A0483B6C7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95" y="1538779"/>
            <a:ext cx="3800048" cy="1311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1254FC-657B-63E3-E9C8-0BE35031FC26}"/>
              </a:ext>
            </a:extLst>
          </p:cNvPr>
          <p:cNvSpPr txBox="1"/>
          <p:nvPr/>
        </p:nvSpPr>
        <p:spPr>
          <a:xfrm>
            <a:off x="1485899" y="2936081"/>
            <a:ext cx="1460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API KG schema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5845AA-508F-2F18-1E15-569E549B6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051" y="1028484"/>
            <a:ext cx="4067743" cy="3086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A9A0C5-2D81-8038-D5D0-4620C482D017}"/>
              </a:ext>
            </a:extLst>
          </p:cNvPr>
          <p:cNvSpPr txBox="1"/>
          <p:nvPr/>
        </p:nvSpPr>
        <p:spPr>
          <a:xfrm>
            <a:off x="5787150" y="4200222"/>
            <a:ext cx="2900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 err="1"/>
              <a:t>Kgi_util</a:t>
            </a:r>
            <a:r>
              <a:rPr lang="en-IN" sz="1400" dirty="0"/>
              <a:t> overview</a:t>
            </a:r>
          </a:p>
        </p:txBody>
      </p:sp>
    </p:spTree>
    <p:extLst>
      <p:ext uri="{BB962C8B-B14F-4D97-AF65-F5344CB8AC3E}">
        <p14:creationId xmlns:p14="http://schemas.microsoft.com/office/powerpoint/2010/main" val="2058293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FEB818E-084C-521B-EBE2-522C1FB2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29D89CBB-46C5-02D2-1CEE-1B1F4DB625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3.4 PATCH GENERATION and OVERVIEW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06AEBB-C35D-9ECA-EC51-AAE2B1BCFBE5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1477E2-BCCA-F68E-A5EF-757227B6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730D7-5DA2-5F89-310D-8911F0E3E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41" y="3315422"/>
            <a:ext cx="8078484" cy="1230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B203B0-2219-2FFA-E30D-1A986B300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690" y="881729"/>
            <a:ext cx="4849235" cy="2353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E0B6FF-1A5D-191D-A250-EA21F7112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41" y="1435422"/>
            <a:ext cx="3049284" cy="124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66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27045591-5BAB-9D8A-5F07-6B9D66D4E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EB86E111-F29A-C9D4-D592-3BA48640D4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IMPLEMENTATION DETAILS</a:t>
            </a:r>
            <a:endParaRPr sz="1800" b="1" dirty="0">
              <a:solidFill>
                <a:schemeClr val="dk1"/>
              </a:solidFill>
            </a:endParaRPr>
          </a:p>
          <a:p>
            <a:pPr marL="0" lvl="0" indent="0" algn="l"/>
            <a:r>
              <a:rPr lang="en" sz="1800" b="1" dirty="0">
                <a:solidFill>
                  <a:schemeClr val="tx1"/>
                </a:solidFill>
              </a:rPr>
              <a:t>3.4 PATCH GENERATION and OVERVIEW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7C2D4-F8A1-D109-8193-C0AA96F1857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4D0FD0-30BA-0959-470F-B9EEF384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C6D588-86F2-DC06-44BA-776C008BB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045" y="924901"/>
            <a:ext cx="4906880" cy="22671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E9ABF8-65FA-DEB2-095D-3216BA35E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21" y="1533648"/>
            <a:ext cx="3374711" cy="11467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A301FE-2C83-EEB1-C20F-8315BA4E6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31" y="3325746"/>
            <a:ext cx="8624521" cy="12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14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2C407041-6CBD-FE5E-8AB6-08E8D8B0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18687520-67FE-BAA7-4612-5CC74305B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575" y="-381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EXPERIMENTAL SETUP</a:t>
            </a:r>
            <a:endParaRPr sz="1900" b="1" dirty="0"/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0C7F4AD3-8C7C-9EAC-FCE0-E491CE440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2875" y="214200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Base LLM </a:t>
            </a:r>
            <a:r>
              <a:rPr lang="en" sz="1600" dirty="0">
                <a:solidFill>
                  <a:schemeClr val="dk1"/>
                </a:solidFill>
              </a:rPr>
              <a:t>: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" dirty="0">
                <a:solidFill>
                  <a:schemeClr val="dk1"/>
                </a:solidFill>
              </a:rPr>
              <a:t>QwenCoder2.5-3B parameter is used as base model.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Type: Causal Language Models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Training Stage: Pretraining &amp; Post-training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Number of Parameters: 3.09B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Number of </a:t>
            </a:r>
            <a:r>
              <a:rPr lang="en-IN" dirty="0" err="1">
                <a:solidFill>
                  <a:schemeClr val="dk1"/>
                </a:solidFill>
              </a:rPr>
              <a:t>Paramaters</a:t>
            </a:r>
            <a:r>
              <a:rPr lang="en-IN" dirty="0">
                <a:solidFill>
                  <a:schemeClr val="dk1"/>
                </a:solidFill>
              </a:rPr>
              <a:t> (Non-Embedding): 2.77B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Number of Layers: 36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Number of Attention Heads (GQA): 16 for Q and 2 for KV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tx1"/>
                </a:solidFill>
              </a:rPr>
              <a:t>Context Length: Full 32,768 tokens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tx1"/>
                </a:solidFill>
              </a:rPr>
              <a:t>4-bit Quantized Model Loading:</a:t>
            </a:r>
            <a:r>
              <a:rPr lang="en-US" dirty="0">
                <a:solidFill>
                  <a:schemeClr val="tx1"/>
                </a:solidFill>
              </a:rPr>
              <a:t>The model was loaded using 4-bit quantization with the </a:t>
            </a:r>
            <a:r>
              <a:rPr lang="en-US" dirty="0" err="1">
                <a:solidFill>
                  <a:schemeClr val="tx1"/>
                </a:solidFill>
              </a:rPr>
              <a:t>bitsandbytes</a:t>
            </a:r>
            <a:r>
              <a:rPr lang="en-US" dirty="0">
                <a:solidFill>
                  <a:schemeClr val="tx1"/>
                </a:solidFill>
              </a:rPr>
              <a:t> library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pPr marL="755650" lvl="1" indent="-171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tx1"/>
                </a:solidFill>
              </a:rPr>
              <a:t>Deterministic Generation Settings: </a:t>
            </a:r>
            <a:r>
              <a:rPr lang="en-US" dirty="0">
                <a:solidFill>
                  <a:schemeClr val="tx1"/>
                </a:solidFill>
              </a:rPr>
              <a:t>We configured </a:t>
            </a:r>
            <a:r>
              <a:rPr lang="en-US" dirty="0" err="1">
                <a:solidFill>
                  <a:schemeClr val="tx1"/>
                </a:solidFill>
              </a:rPr>
              <a:t>do_sample</a:t>
            </a:r>
            <a:r>
              <a:rPr lang="en-US" dirty="0">
                <a:solidFill>
                  <a:schemeClr val="tx1"/>
                </a:solidFill>
              </a:rPr>
              <a:t> = False and temperature = 1.0 to ensure deterministic and reproducible code generation across multiple runs.</a:t>
            </a:r>
            <a:endParaRPr lang="en-IN" dirty="0">
              <a:solidFill>
                <a:schemeClr val="tx1"/>
              </a:solidFill>
            </a:endParaRPr>
          </a:p>
          <a:p>
            <a:pPr marL="755650" lvl="1" indent="-171450">
              <a:spcBef>
                <a:spcPts val="1200"/>
              </a:spcBef>
              <a:buClr>
                <a:schemeClr val="dk1"/>
              </a:buClr>
              <a:buSzPts val="1600"/>
            </a:pPr>
            <a:endParaRPr sz="12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77937-28B3-279E-28A0-9659BA3ADD07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AC9462-9985-7928-B345-729FA30D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998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DA50E0F4-7280-ACFF-5FE6-DA146DAA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>
            <a:extLst>
              <a:ext uri="{FF2B5EF4-FFF2-40B4-BE49-F238E27FC236}">
                <a16:creationId xmlns:a16="http://schemas.microsoft.com/office/drawing/2014/main" id="{88A01F4F-E180-F661-1E20-F139663D9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/>
              <a:t>EXPERIMENTAL SETUP</a:t>
            </a:r>
            <a:endParaRPr sz="1900" b="1" dirty="0"/>
          </a:p>
        </p:txBody>
      </p:sp>
      <p:sp>
        <p:nvSpPr>
          <p:cNvPr id="208" name="Google Shape;208;p40">
            <a:extLst>
              <a:ext uri="{FF2B5EF4-FFF2-40B4-BE49-F238E27FC236}">
                <a16:creationId xmlns:a16="http://schemas.microsoft.com/office/drawing/2014/main" id="{3BCB7BCD-3E85-02F2-542A-2F69B33DD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525" y="319774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2750" indent="-285750"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" sz="1600" b="1" dirty="0">
                <a:solidFill>
                  <a:schemeClr val="dk1"/>
                </a:solidFill>
              </a:rPr>
              <a:t>Dataset</a:t>
            </a:r>
            <a:r>
              <a:rPr lang="en" sz="1600" dirty="0">
                <a:solidFill>
                  <a:schemeClr val="dk1"/>
                </a:solidFill>
              </a:rPr>
              <a:t>:</a:t>
            </a:r>
          </a:p>
          <a:p>
            <a:pPr marL="869950" lvl="1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 err="1">
                <a:solidFill>
                  <a:schemeClr val="dk1"/>
                </a:solidFill>
              </a:rPr>
              <a:t>HumanEval</a:t>
            </a:r>
            <a:r>
              <a:rPr lang="en-IN" dirty="0">
                <a:solidFill>
                  <a:schemeClr val="dk1"/>
                </a:solidFill>
              </a:rPr>
              <a:t>: Consist of 164 rows and 5 features. </a:t>
            </a:r>
          </a:p>
          <a:p>
            <a:pPr marL="869950" lvl="1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MBPP: Consist of 377 rows and 6 features. It is made up of most basic python programming.</a:t>
            </a:r>
          </a:p>
          <a:p>
            <a:pPr marL="869950" lvl="1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DS1000: Consist of 1000 data science problems in python.  </a:t>
            </a:r>
          </a:p>
          <a:p>
            <a:pPr marL="412750" indent="-285750"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sz="1600" dirty="0">
                <a:solidFill>
                  <a:schemeClr val="dk1"/>
                </a:solidFill>
              </a:rPr>
              <a:t>Development environment:</a:t>
            </a:r>
          </a:p>
          <a:p>
            <a:pPr marL="869950" lvl="1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Google collab: It is used for LLM inference, code generation ,building overall </a:t>
            </a:r>
            <a:r>
              <a:rPr lang="en-IN" dirty="0" err="1">
                <a:solidFill>
                  <a:schemeClr val="dk1"/>
                </a:solidFill>
              </a:rPr>
              <a:t>pipeline.It</a:t>
            </a:r>
            <a:r>
              <a:rPr lang="en-IN" dirty="0">
                <a:solidFill>
                  <a:schemeClr val="dk1"/>
                </a:solidFill>
              </a:rPr>
              <a:t> used NVIDIA T4 GPU with CUDA acceleration on runtime.</a:t>
            </a:r>
          </a:p>
          <a:p>
            <a:pPr marL="869950" lvl="1" indent="-2857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IN" dirty="0">
                <a:solidFill>
                  <a:schemeClr val="dk1"/>
                </a:solidFill>
              </a:rPr>
              <a:t>VS Code: Local system is used to build static and dynamic modules which doesn’t require GPU computation. Building modules and analysis is done on local from the generated dataset.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D78E25-CD9D-2889-C59D-699FBB7B9B39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0F831-2EE0-1388-6F70-453550E5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961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52BA0B0-4851-ECD3-F040-72847A35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3C96698F-2630-C964-FEFC-03D7965876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b="1" dirty="0">
                <a:solidFill>
                  <a:schemeClr val="dk1"/>
                </a:solidFill>
              </a:rPr>
              <a:t>EVALUATION METRIC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F16DC6-A4C1-682E-47DF-55F36D3FE5F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3E095-FB73-D1DF-463B-AC88A31A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A0590-8DC9-FFD7-513C-C8055CB2E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988" y="1248961"/>
            <a:ext cx="4253810" cy="3297108"/>
          </a:xfrm>
          <a:prstGeom prst="rect">
            <a:avLst/>
          </a:prstGeom>
        </p:spPr>
      </p:pic>
      <p:sp>
        <p:nvSpPr>
          <p:cNvPr id="6" name="Google Shape;86;p18">
            <a:extLst>
              <a:ext uri="{FF2B5EF4-FFF2-40B4-BE49-F238E27FC236}">
                <a16:creationId xmlns:a16="http://schemas.microsoft.com/office/drawing/2014/main" id="{EDA8BC1E-61BE-0797-E2EA-A0EC69A473B1}"/>
              </a:ext>
            </a:extLst>
          </p:cNvPr>
          <p:cNvSpPr txBox="1">
            <a:spLocks/>
          </p:cNvSpPr>
          <p:nvPr/>
        </p:nvSpPr>
        <p:spPr>
          <a:xfrm>
            <a:off x="302044" y="703861"/>
            <a:ext cx="8677650" cy="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80000"/>
              </a:lnSpc>
              <a:buClr>
                <a:schemeClr val="dk1"/>
              </a:buClr>
              <a:buSzPts val="1100"/>
            </a:pPr>
            <a:r>
              <a:rPr lang="en-IN" sz="1400" b="1" dirty="0">
                <a:solidFill>
                  <a:schemeClr val="dk1"/>
                </a:solidFill>
              </a:rPr>
              <a:t>Pass@1: </a:t>
            </a:r>
            <a:r>
              <a:rPr lang="en-US" sz="1400" dirty="0">
                <a:solidFill>
                  <a:schemeClr val="dk1"/>
                </a:solidFill>
              </a:rPr>
              <a:t>The Pass@1 metric is used to measure functional correctness if code passes all unit tests on the  	first attempt.</a:t>
            </a:r>
          </a:p>
          <a:p>
            <a:pPr marL="0" indent="0" algn="l">
              <a:lnSpc>
                <a:spcPct val="80000"/>
              </a:lnSpc>
              <a:buClr>
                <a:schemeClr val="dk1"/>
              </a:buClr>
              <a:buSzPts val="1100"/>
            </a:pPr>
            <a:r>
              <a:rPr lang="en-IN" sz="1400" b="1" dirty="0">
                <a:solidFill>
                  <a:schemeClr val="dk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5407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441425" y="1196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LITERATURE SURVEY</a:t>
            </a:r>
            <a:endParaRPr sz="1600" b="1"/>
          </a:p>
        </p:txBody>
      </p:sp>
      <p:graphicFrame>
        <p:nvGraphicFramePr>
          <p:cNvPr id="94" name="Google Shape;94;p19"/>
          <p:cNvGraphicFramePr/>
          <p:nvPr/>
        </p:nvGraphicFramePr>
        <p:xfrm>
          <a:off x="441425" y="720450"/>
          <a:ext cx="8261125" cy="371894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4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[1]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Advancing LLM-Generated Code Reliability: A Hybrid Approach for Hallucination Detection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IEEE Transactions on Software Engineering (TSE), 2025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Proposes SDHD, a hybrid hallucination detection framework that integrates static analysis and dynamic execution for LLM-generated code.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This framework detects eight hallucination types and achieves superior precision, recall, and F1-score across multiple benchmarks.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Dynamic detection depends on test coverage quality, and incomplete coverage may miss certain logical failures.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3429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The framework is currently validated only on Python, limiting cross-language generalizability.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5DAD10-9C7E-1075-FE08-8CA2FC6C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0"/>
          <p:cNvGraphicFramePr/>
          <p:nvPr/>
        </p:nvGraphicFramePr>
        <p:xfrm>
          <a:off x="300050" y="296388"/>
          <a:ext cx="8261125" cy="39000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3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[2]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LLM-Based Test-Driven Interactive Code Generation: User Study and Empirical Evaluation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IEEE Transactions on Software Engineering (TSE), 2024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TICODER is a test-driven interactive workflow that incrementally clarifies user intent through LLM-generated tests and lightweight user feedback.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The system ranks and prunes candidate code suggestions based on user-approved tests using two variants: PASS/FAIL validation and explicit output specification.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There is interactive overhead, and incorrect or noisy user feedback can prune correct solutions prematurely.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Effectiveness is contingent on the LLM's ability to generate high-quality tests.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AD0BC3F-A8C1-0D6A-2560-70408457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104;p21"/>
          <p:cNvGraphicFramePr/>
          <p:nvPr/>
        </p:nvGraphicFramePr>
        <p:xfrm>
          <a:off x="300050" y="296388"/>
          <a:ext cx="8261125" cy="467917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3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[3]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A Federated Adaptive Large Language Model Fine-Tuning Framework for Software Development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Transactions on Services Computing,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The framework integrates LoRA-based parameter-efficient fine-tuning within a federated setting, where each organization locally trains lightweight adapter modules and shares only adapter to the central server.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A FedAvg-style is used to combine adapters based on local data size and an L2-norm constraint to manage gradient divergence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Experimental results show degraded performance on unrelated datasets.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Although communication costs are reduced, the framework still requires multiple communication rounds, which may introduce latency in large-scale federations.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96F2E-7245-C248-0081-320EA114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22"/>
          <p:cNvGraphicFramePr/>
          <p:nvPr/>
        </p:nvGraphicFramePr>
        <p:xfrm>
          <a:off x="300050" y="296388"/>
          <a:ext cx="8261125" cy="47599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[4]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Towards Efficient Fine-Tuning of Language Models With Organizational Data for Automated Software Review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IEEE Transactions on Software Engineering</a:t>
                      </a:r>
                      <a:endParaRPr sz="125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2024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Proposes CodeMentor, a framework for few-shot learning that utilizes heuristic rules and weak supervision to construct datasets from internal organizational data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It employs Low-Rank Adaptation (LoRA) for parameter-efficient fine-tuning and integrates Reinforcement Learning from Human Feedback (RLHF) to incorporate domain expertise.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The framework depends on the quality of organizational data, which may introduce domain bias and limit generalization across different coding lang.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RLHF requires computational resources and expert involvement,bottleneck scenario during scaling.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58FC84A-24B3-6446-4E41-247D0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114;p23"/>
          <p:cNvGraphicFramePr/>
          <p:nvPr/>
        </p:nvGraphicFramePr>
        <p:xfrm>
          <a:off x="300050" y="296388"/>
          <a:ext cx="8261125" cy="497314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[5]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Impact of Prompt Programming on Function-Level Code Generation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IEEE Transactions on Software Engineering (TSE),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Empirical study to evaluate the impact of prompt programming techniques on function-level code generation.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CodePromptEval, a dataset of 7,072 prompts derived from 221 real-world Python functions, covering five prompt techniques: few-shot learning, chain-of-thought, persona, function signature, and package context, including all 32 possible combinations.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The study is restricted to Python function-level tasks, limiting generalizability to other languages and higher-level program synthesis.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Rely on benchmark-driven evaluation, which may not fully capture real-world scenario.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Prompt techniques are evaluated in a fixed ordering, excluding effects of alternative prompt sequencing.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7078CF2-1596-336B-6ED1-3DD6BC60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4"/>
          <p:cNvGraphicFramePr/>
          <p:nvPr/>
        </p:nvGraphicFramePr>
        <p:xfrm>
          <a:off x="158675" y="180338"/>
          <a:ext cx="8261125" cy="497314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[6]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 </a:t>
                      </a: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An Adaptive Framework Embedded With LLM for Knowledge Graph Construction</a:t>
                      </a: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IEEE Transactions on Multimedia, Vol. 27,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KG construction happens in three stages: Information Extraction (IE) for open triple extraction, Additional Relation (AR) for enriching triples with semantic information, and Knowledge Graph Normalization (KGN) for schema-level alignment using vector similarity search.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Adaptive Prompt Generation (APG) module automatically generates, evaluates, and ranks prompts to guide LLM behavior across stages, enabling multi-domain KG construction from text, speech, and images.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High computational overhead due to multi-stage LLM inference, embedding generation, and vector similarity matching.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The framework relies heavily on prompt engineering, which,, is not fully autonomous and may still suffer from hallucination and semantic inconsistency.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19EDAAF-D842-18C3-CB99-A7FC4873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25"/>
          <p:cNvGraphicFramePr/>
          <p:nvPr/>
        </p:nvGraphicFramePr>
        <p:xfrm>
          <a:off x="158675" y="180338"/>
          <a:ext cx="8261125" cy="493624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9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[7]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 </a:t>
                      </a:r>
                      <a:r>
                        <a:rPr lang="en" sz="1250">
                          <a:solidFill>
                            <a:schemeClr val="dk1"/>
                          </a:solidFill>
                        </a:rPr>
                        <a:t>Fight Fire With Fire: How Much Can We Trust ChatGPT on Source Code-Related Tasks?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Transactions on Software Engineering (TSE), Vol. 50, No. 12, 2024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Evaluating self-verification capability of GPT for: code generation, code completion, and program repair.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Direct question, guiding question, and test report generation prompting is used assess whether ChatGPT can reliably validate its own outputs.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Effectiveness is measured using accuracy, precision, recall, and F1-score, with additional analysis of self-contradictory hallucinations.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Results show that ChatGPT frequently overestimates the correctness of its own outputs, leading to low recall in direct self-verification.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While guiding questions and test reports improve recall, precision is reduced.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Generated test reports often contain incorrect explanations, especially for code generation and failed repairs.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11956F5-8BD8-A305-FE58-515A5F04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26"/>
          <p:cNvGraphicFramePr/>
          <p:nvPr>
            <p:extLst>
              <p:ext uri="{D42A27DB-BD31-4B8C-83A1-F6EECF244321}">
                <p14:modId xmlns:p14="http://schemas.microsoft.com/office/powerpoint/2010/main" val="3401399930"/>
              </p:ext>
            </p:extLst>
          </p:nvPr>
        </p:nvGraphicFramePr>
        <p:xfrm>
          <a:off x="432816" y="158589"/>
          <a:ext cx="8269747" cy="515531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2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8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3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4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[8]</a:t>
                      </a: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FedALoRA: Adaptive Local LoRA Aggregation for Personalized Federated Learning in LLM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Internet of Things Journal, Vol. 12, No. 24, December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Proposes FedALoRA, a personalized federated learning framework that integrates LoRA-based PEFT with adaptive local aggregation to address severe non-IID data in federated LLM training.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FedALoRA uses an Adaptive LoRA Aggregation to merge global and local parameters via locally learned weights. This selective, element-wise fusion focused on higher transformer layers preserves domain expertise while capturing shared knowledge without increasing communication costs.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FedALoRA introduces additional local optimization complexity due to adaptive weight learning in ALoRA modules.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The method requires careful tuning of the hyperparameter </a:t>
                      </a:r>
                      <a:r>
                        <a:rPr lang="en" sz="1250" i="1" dirty="0">
                          <a:solidFill>
                            <a:schemeClr val="dk1"/>
                          </a:solidFill>
                        </a:rPr>
                        <a:t>l</a:t>
                      </a: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, which controls the number of transformer layers involved in adaptive aggregation, and improper settings can degrade performance.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A79D816-F7BF-2070-ED95-42C4973E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27"/>
          <p:cNvGraphicFramePr/>
          <p:nvPr/>
        </p:nvGraphicFramePr>
        <p:xfrm>
          <a:off x="441425" y="-12"/>
          <a:ext cx="8261125" cy="515531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[9]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No Need to Lift a Finger Anymore? Assessing the Quality of Code Generation by ChatGPT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Transactions on Software Engineering (TSE), Vol. 50, No. 6, June 2024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Evaluation framework for assessing ChatGPT-based code generation. The authors construct standardized prompts for 728 LeetCode algorithm problems and 54 CWE security scenarios across five programming languages.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Generated code is evaluated using automated judgment platforms (LeetCode for functional correctness) and static analysis tools (CodeQL for vulnerability detection).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A multi-round fixing process is designed, where execution or analysis feedback is iteratively fed back to ChatGPT for up to 5 rounds.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ChatGPT performs significantly better on problems published before 2021, indicating reliance on memorized patterns rather than reasoning.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The dialog-based fixing process has limited effectiveness, for logically complex problems 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Generated code often contains security vulnerabilities and non-deterministic behavior.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A62A48A-111D-C2F4-2BA9-7108E1C5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28"/>
          <p:cNvGraphicFramePr/>
          <p:nvPr>
            <p:extLst>
              <p:ext uri="{D42A27DB-BD31-4B8C-83A1-F6EECF244321}">
                <p14:modId xmlns:p14="http://schemas.microsoft.com/office/powerpoint/2010/main" val="1555046864"/>
              </p:ext>
            </p:extLst>
          </p:nvPr>
        </p:nvGraphicFramePr>
        <p:xfrm>
          <a:off x="451104" y="158588"/>
          <a:ext cx="8251460" cy="4242522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1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3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1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9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[10]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Knowledge Enhanced Program Repair for Data Science Code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Proceedings of the 47th IEEE/ACM International Conference on Software Engineering (ICSE), 2025 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API KG Construction is done using a custom ontology and RDF triples to model API attributes and dependencies for seven data science libraries.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SPARQL is used for knowledge retrieval from on buggy code.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AST level Bug Knowledge Enrichment, which executes code node-by-node to localize runtime and assertion errors at the AST node level.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DS-KG is version-specific and requires continuous updates to track evolving API documentation, making long-term maintenance costly and error-prone.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KG-based knowledge retrieval introduces higher latency than plain-text search.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0EDA8FF-2471-A46F-77C8-C3A2A6C3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29"/>
          <p:cNvGraphicFramePr/>
          <p:nvPr>
            <p:extLst>
              <p:ext uri="{D42A27DB-BD31-4B8C-83A1-F6EECF244321}">
                <p14:modId xmlns:p14="http://schemas.microsoft.com/office/powerpoint/2010/main" val="2490274631"/>
              </p:ext>
            </p:extLst>
          </p:nvPr>
        </p:nvGraphicFramePr>
        <p:xfrm>
          <a:off x="467360" y="158588"/>
          <a:ext cx="8235204" cy="515531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0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9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59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0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[11]</a:t>
                      </a: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THINK: Tackling API Hallucinations in LLMs via Injecting Knowledge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International Conference on Software Analysis, Evolution and Reengineering (SANER),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THINK proposes a two-phase API hallucination mitigation framework consisting of Pre and Post execution Optimization.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Constructs an API knowledge database (Javadoc + validated code examples) and retrieves task-relevant APIs using task decomposition, similarity search, and LLM-based API labeling to guide code generation.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 Error Classification into Seven API Error Types for correction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It may introduce irrelevant API knowledge, occasionally degrading performance for tasks already solvable by strong LLMs.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Both retrieval results and ReAct-based repair depend on LLM generation, leading to non-deterministic behavior and reduced reproducibility across runs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84054B6-4AC5-8145-6C3F-AC137093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30"/>
          <p:cNvGraphicFramePr/>
          <p:nvPr>
            <p:extLst>
              <p:ext uri="{D42A27DB-BD31-4B8C-83A1-F6EECF244321}">
                <p14:modId xmlns:p14="http://schemas.microsoft.com/office/powerpoint/2010/main" val="3270590913"/>
              </p:ext>
            </p:extLst>
          </p:nvPr>
        </p:nvGraphicFramePr>
        <p:xfrm>
          <a:off x="477520" y="158588"/>
          <a:ext cx="8496893" cy="4300963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5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9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8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0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3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[12]</a:t>
                      </a: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EvoAPR: Enhancing Large Language Models for Automatic Program Repair with Genetic Algorithm and Dynamic LoRA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International Conference on Web Services (ICWS),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Genetic evolution of buggy hunks under tri-objective fitness: syntax compliance, bug-hunk masking rate, repair-location masking rate.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lang="en-US"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Dynamic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 swaps non-overlapping rank-r adapters per bug-index/project for on-demand, project-specific parameter retrieval.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lang="en-US"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Base +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 models generate candidate patches; token-level entropy scorer picks the least uncertain fix as the final patch.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Genetic template evolution and dynamic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 fine-tuning introduce significant computation and implementation complexity.</a:t>
                      </a: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The effectiveness of both stages relies on accurate bug localization and rich bug context.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C950B-A91F-8BE2-5FA0-7C9C7564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31"/>
          <p:cNvGraphicFramePr/>
          <p:nvPr>
            <p:extLst>
              <p:ext uri="{D42A27DB-BD31-4B8C-83A1-F6EECF244321}">
                <p14:modId xmlns:p14="http://schemas.microsoft.com/office/powerpoint/2010/main" val="1779235114"/>
              </p:ext>
            </p:extLst>
          </p:nvPr>
        </p:nvGraphicFramePr>
        <p:xfrm>
          <a:off x="441438" y="158588"/>
          <a:ext cx="8532975" cy="4673567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3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39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[13]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CodeHalu: Investigating Code Hallucinations in LLMs via Execution Based Verification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Proceedings of the AAAI Conference on Artificial Intelligence (AAAI),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Executes LLM-generated code against test cases under time and memory constraints, recording execution failures, unexpected outputs, infinite loop behaviors to detect hallucination states.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Aggregates execution states across multiple LLMs and applies a two-stage heuristic induction process to classify hallucinations into four main types (Mapping, Naming, Resource, Logic) and eight subcategories.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The study focuses exclusively on Python, and hallucination behaviors in other programming languages are not evaluated.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CodeHalu targets functional and logical correctness; identifying or mitigating security vulnerabilities is outside its scope.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3F45032-2010-45EA-7E5B-339A0303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>
            <a:spLocks noGrp="1"/>
          </p:cNvSpPr>
          <p:nvPr>
            <p:ph type="title"/>
          </p:nvPr>
        </p:nvSpPr>
        <p:spPr>
          <a:xfrm>
            <a:off x="52888" y="872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/>
              <a:t>TIMELINE FOR COMPLETION OF MODULES</a:t>
            </a:r>
            <a:endParaRPr sz="1620" b="1"/>
          </a:p>
        </p:txBody>
      </p:sp>
      <p:sp>
        <p:nvSpPr>
          <p:cNvPr id="214" name="Google Shape;214;p41"/>
          <p:cNvSpPr/>
          <p:nvPr/>
        </p:nvSpPr>
        <p:spPr>
          <a:xfrm>
            <a:off x="5089555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1"/>
          <p:cNvSpPr/>
          <p:nvPr/>
        </p:nvSpPr>
        <p:spPr>
          <a:xfrm>
            <a:off x="6882362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1"/>
          <p:cNvSpPr/>
          <p:nvPr/>
        </p:nvSpPr>
        <p:spPr>
          <a:xfrm>
            <a:off x="1501807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1"/>
          <p:cNvSpPr/>
          <p:nvPr/>
        </p:nvSpPr>
        <p:spPr>
          <a:xfrm>
            <a:off x="1500588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1"/>
          <p:cNvSpPr/>
          <p:nvPr/>
        </p:nvSpPr>
        <p:spPr>
          <a:xfrm>
            <a:off x="1500588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endParaRPr/>
          </a:p>
        </p:txBody>
      </p:sp>
      <p:sp>
        <p:nvSpPr>
          <p:cNvPr id="219" name="Google Shape;219;p41"/>
          <p:cNvSpPr/>
          <p:nvPr/>
        </p:nvSpPr>
        <p:spPr>
          <a:xfrm>
            <a:off x="1500588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1"/>
          <p:cNvSpPr/>
          <p:nvPr/>
        </p:nvSpPr>
        <p:spPr>
          <a:xfrm>
            <a:off x="1500588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41"/>
          <p:cNvSpPr/>
          <p:nvPr/>
        </p:nvSpPr>
        <p:spPr>
          <a:xfrm>
            <a:off x="3295448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41"/>
          <p:cNvSpPr/>
          <p:nvPr/>
        </p:nvSpPr>
        <p:spPr>
          <a:xfrm>
            <a:off x="3294229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1"/>
          <p:cNvSpPr/>
          <p:nvPr/>
        </p:nvSpPr>
        <p:spPr>
          <a:xfrm>
            <a:off x="3294229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41"/>
          <p:cNvSpPr/>
          <p:nvPr/>
        </p:nvSpPr>
        <p:spPr>
          <a:xfrm>
            <a:off x="3294229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41"/>
          <p:cNvSpPr/>
          <p:nvPr/>
        </p:nvSpPr>
        <p:spPr>
          <a:xfrm>
            <a:off x="3295579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41"/>
          <p:cNvSpPr/>
          <p:nvPr/>
        </p:nvSpPr>
        <p:spPr>
          <a:xfrm>
            <a:off x="1502830" y="1449659"/>
            <a:ext cx="17925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Q1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41"/>
          <p:cNvSpPr/>
          <p:nvPr/>
        </p:nvSpPr>
        <p:spPr>
          <a:xfrm>
            <a:off x="1502830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41"/>
          <p:cNvSpPr/>
          <p:nvPr/>
        </p:nvSpPr>
        <p:spPr>
          <a:xfrm>
            <a:off x="2100319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2697808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41"/>
          <p:cNvSpPr/>
          <p:nvPr/>
        </p:nvSpPr>
        <p:spPr>
          <a:xfrm>
            <a:off x="3296475" y="1449659"/>
            <a:ext cx="17925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Q2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41"/>
          <p:cNvSpPr/>
          <p:nvPr/>
        </p:nvSpPr>
        <p:spPr>
          <a:xfrm>
            <a:off x="3296475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3893964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41"/>
          <p:cNvSpPr/>
          <p:nvPr/>
        </p:nvSpPr>
        <p:spPr>
          <a:xfrm>
            <a:off x="4491453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41"/>
          <p:cNvSpPr/>
          <p:nvPr/>
        </p:nvSpPr>
        <p:spPr>
          <a:xfrm>
            <a:off x="5089424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1"/>
          <p:cNvSpPr/>
          <p:nvPr/>
        </p:nvSpPr>
        <p:spPr>
          <a:xfrm>
            <a:off x="5089555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1"/>
          <p:cNvSpPr/>
          <p:nvPr/>
        </p:nvSpPr>
        <p:spPr>
          <a:xfrm>
            <a:off x="5089555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1"/>
          <p:cNvSpPr/>
          <p:nvPr/>
        </p:nvSpPr>
        <p:spPr>
          <a:xfrm>
            <a:off x="5089555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1"/>
          <p:cNvSpPr/>
          <p:nvPr/>
        </p:nvSpPr>
        <p:spPr>
          <a:xfrm>
            <a:off x="5090451" y="1449659"/>
            <a:ext cx="17925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Q3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5090451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5687940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6285429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6882362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1"/>
          <p:cNvSpPr/>
          <p:nvPr/>
        </p:nvSpPr>
        <p:spPr>
          <a:xfrm>
            <a:off x="6882493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1"/>
          <p:cNvSpPr/>
          <p:nvPr/>
        </p:nvSpPr>
        <p:spPr>
          <a:xfrm>
            <a:off x="6882362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1"/>
          <p:cNvSpPr/>
          <p:nvPr/>
        </p:nvSpPr>
        <p:spPr>
          <a:xfrm>
            <a:off x="6882362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1"/>
          <p:cNvSpPr/>
          <p:nvPr/>
        </p:nvSpPr>
        <p:spPr>
          <a:xfrm>
            <a:off x="6883389" y="1449659"/>
            <a:ext cx="17925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Q4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6883389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7480878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1"/>
          <p:cNvSpPr/>
          <p:nvPr/>
        </p:nvSpPr>
        <p:spPr>
          <a:xfrm>
            <a:off x="8078367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41"/>
          <p:cNvSpPr/>
          <p:nvPr/>
        </p:nvSpPr>
        <p:spPr>
          <a:xfrm rot="5400000" flipH="1">
            <a:off x="4116388" y="2335009"/>
            <a:ext cx="145800" cy="1775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41"/>
          <p:cNvSpPr/>
          <p:nvPr/>
        </p:nvSpPr>
        <p:spPr>
          <a:xfrm rot="5400000" flipH="1">
            <a:off x="3303601" y="3151368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3D3D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1"/>
          <p:cNvSpPr/>
          <p:nvPr/>
        </p:nvSpPr>
        <p:spPr>
          <a:xfrm rot="5400000" flipH="1">
            <a:off x="3534363" y="1285334"/>
            <a:ext cx="140700" cy="2945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41"/>
          <p:cNvSpPr/>
          <p:nvPr/>
        </p:nvSpPr>
        <p:spPr>
          <a:xfrm rot="5400000" flipH="1">
            <a:off x="2395113" y="2424325"/>
            <a:ext cx="141900" cy="6684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1"/>
          <p:cNvSpPr/>
          <p:nvPr/>
        </p:nvSpPr>
        <p:spPr>
          <a:xfrm>
            <a:off x="486813" y="2526983"/>
            <a:ext cx="1014600" cy="4629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486813" y="2989504"/>
            <a:ext cx="1014600" cy="4629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1"/>
          <p:cNvSpPr/>
          <p:nvPr/>
        </p:nvSpPr>
        <p:spPr>
          <a:xfrm>
            <a:off x="486813" y="3451855"/>
            <a:ext cx="1014600" cy="462900"/>
          </a:xfrm>
          <a:prstGeom prst="rect">
            <a:avLst/>
          </a:prstGeom>
          <a:solidFill>
            <a:srgbClr val="41414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486813" y="3914359"/>
            <a:ext cx="1014600" cy="462900"/>
          </a:xfrm>
          <a:prstGeom prst="rect">
            <a:avLst/>
          </a:prstGeom>
          <a:solidFill>
            <a:srgbClr val="41414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486813" y="1449659"/>
            <a:ext cx="1014600" cy="10779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1"/>
          <p:cNvSpPr/>
          <p:nvPr/>
        </p:nvSpPr>
        <p:spPr>
          <a:xfrm rot="5400000" flipH="1">
            <a:off x="2913036" y="1109759"/>
            <a:ext cx="141600" cy="23721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1"/>
          <p:cNvSpPr/>
          <p:nvPr/>
        </p:nvSpPr>
        <p:spPr>
          <a:xfrm rot="5400000" flipH="1">
            <a:off x="1918137" y="1961309"/>
            <a:ext cx="141900" cy="669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1"/>
          <p:cNvSpPr/>
          <p:nvPr/>
        </p:nvSpPr>
        <p:spPr>
          <a:xfrm>
            <a:off x="2086313" y="2273159"/>
            <a:ext cx="44700" cy="453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1"/>
          <p:cNvSpPr/>
          <p:nvPr/>
        </p:nvSpPr>
        <p:spPr>
          <a:xfrm>
            <a:off x="2961497" y="2273158"/>
            <a:ext cx="44700" cy="453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1"/>
          <p:cNvSpPr/>
          <p:nvPr/>
        </p:nvSpPr>
        <p:spPr>
          <a:xfrm rot="5400000" flipH="1">
            <a:off x="6514288" y="2793034"/>
            <a:ext cx="137400" cy="1782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1"/>
          <p:cNvSpPr/>
          <p:nvPr/>
        </p:nvSpPr>
        <p:spPr>
          <a:xfrm rot="5400000" flipH="1">
            <a:off x="5691925" y="3612734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1"/>
          <p:cNvSpPr txBox="1"/>
          <p:nvPr/>
        </p:nvSpPr>
        <p:spPr>
          <a:xfrm>
            <a:off x="8142151" y="4409255"/>
            <a:ext cx="526800" cy="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505050"/>
                </a:solidFill>
                <a:latin typeface="Roboto"/>
                <a:ea typeface="Roboto"/>
                <a:cs typeface="Roboto"/>
                <a:sym typeface="Roboto"/>
              </a:rPr>
              <a:t>LOREM</a:t>
            </a:r>
            <a:endParaRPr>
              <a:solidFill>
                <a:srgbClr val="505050"/>
              </a:solidFill>
            </a:endParaRPr>
          </a:p>
        </p:txBody>
      </p:sp>
      <p:sp>
        <p:nvSpPr>
          <p:cNvPr id="266" name="Google Shape;266;p41"/>
          <p:cNvSpPr/>
          <p:nvPr/>
        </p:nvSpPr>
        <p:spPr>
          <a:xfrm>
            <a:off x="8139617" y="4425358"/>
            <a:ext cx="66300" cy="57600"/>
          </a:xfrm>
          <a:prstGeom prst="triangle">
            <a:avLst>
              <a:gd name="adj" fmla="val 50000"/>
            </a:avLst>
          </a:prstGeom>
          <a:solidFill>
            <a:srgbClr val="505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1"/>
          <p:cNvSpPr/>
          <p:nvPr/>
        </p:nvSpPr>
        <p:spPr>
          <a:xfrm rot="5400000" flipH="1">
            <a:off x="7408988" y="2957584"/>
            <a:ext cx="141600" cy="23772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1"/>
          <p:cNvSpPr/>
          <p:nvPr/>
        </p:nvSpPr>
        <p:spPr>
          <a:xfrm rot="5400000" flipH="1">
            <a:off x="6291200" y="4075509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12" y="486640"/>
            <a:ext cx="8368775" cy="4248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02EAA37-3BFD-0A03-BF8E-95733DA8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7238" y="4874346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59D6B-3D2F-BE30-B603-5BF365F12FE4}"/>
              </a:ext>
            </a:extLst>
          </p:cNvPr>
          <p:cNvSpPr txBox="1"/>
          <p:nvPr/>
        </p:nvSpPr>
        <p:spPr>
          <a:xfrm>
            <a:off x="2408203" y="4734832"/>
            <a:ext cx="4594032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Fig.3 Federated learning + </a:t>
            </a:r>
            <a:r>
              <a:rPr lang="en-US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LoRA</a:t>
            </a:r>
            <a: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fine-tuning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/>
              <a:t>REFERENCE</a:t>
            </a:r>
            <a:endParaRPr sz="1620" b="1"/>
          </a:p>
        </p:txBody>
      </p:sp>
      <p:sp>
        <p:nvSpPr>
          <p:cNvPr id="275" name="Google Shape;275;p42"/>
          <p:cNvSpPr txBox="1"/>
          <p:nvPr/>
        </p:nvSpPr>
        <p:spPr>
          <a:xfrm>
            <a:off x="357675" y="558450"/>
            <a:ext cx="8096400" cy="4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[1] B. Yang, J. Dang, H. Liu and Z. Jin, "Advancing LLM-Generated Code Reliability: A Hybrid Approach for Hallucination Detection" in IEEE Transactions on Software Engineering, vol. , no. 01, pp. 1-17, PrePrints 5555, doi: 10.1109/TSE.2025.3640641.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[2] S. Fakhoury, A. Naik, G. Sakkas, S. Chakraborty and S. K. Lahiri, "LLM-Based Test-Driven Interactive Code Generation: User Study and Empirical Evaluation,"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50, no. 9, pp. 2254-2268, Sept. 2024, doi: 10.1109/TSE.2024.3428972.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[3] J. Chen, Z. Cai, W. Chen, W. Wang, Z. Zheng and P. S. Yu, "A Federated Adaptive Large Language Model Fine-Tuning Framework for Software Development," in </a:t>
            </a:r>
            <a:r>
              <a:rPr lang="en" sz="1200" i="1" dirty="0">
                <a:solidFill>
                  <a:schemeClr val="dk1"/>
                </a:solidFill>
              </a:rPr>
              <a:t>IEEE Transactions on Services Computing</a:t>
            </a:r>
            <a:r>
              <a:rPr lang="en" sz="1200" dirty="0">
                <a:solidFill>
                  <a:schemeClr val="dk1"/>
                </a:solidFill>
              </a:rPr>
              <a:t>, doi: 10.1109/TSC.2025.3623626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[4] M. Nashaat and J. Miller, "Towards Efficient Fine-Tuning of Language Models With Organizational Data for Automated Software Review,"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50, no. 9, pp. 2240-2253, Sept. 2024, doi: 10.1109/TSE.2024.3428324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[5] R. Khojah, F. G. de Oliveira Neto, M. Mohamad and P. Leitner, "The Impact of Prompt Programming on Function-Level Code Generation,"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51, no. 8, pp. 2381-2395, Aug. 2025, doi: 10.1109/TSE.2025.3587794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1E48B-87A2-2BCF-E349-A9BD23A6C06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99B3B4-0693-4394-8204-0345F0F0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/>
              <a:t>REFERENCE</a:t>
            </a:r>
            <a:endParaRPr sz="1620" b="1"/>
          </a:p>
        </p:txBody>
      </p:sp>
      <p:sp>
        <p:nvSpPr>
          <p:cNvPr id="281" name="Google Shape;281;p43"/>
          <p:cNvSpPr txBox="1"/>
          <p:nvPr/>
        </p:nvSpPr>
        <p:spPr>
          <a:xfrm>
            <a:off x="357675" y="558450"/>
            <a:ext cx="8096400" cy="4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[6] Q. Wang, C. Li, Y. Liu, Q. Zhu, J. Song and T. Shen, "An Adaptive Framework Embedded With LLM for Knowledge Graph Construction," in </a:t>
            </a:r>
            <a:r>
              <a:rPr lang="en" sz="1200" i="1" dirty="0">
                <a:solidFill>
                  <a:schemeClr val="dk1"/>
                </a:solidFill>
              </a:rPr>
              <a:t>IEEE Transactions on Multimedia</a:t>
            </a:r>
            <a:r>
              <a:rPr lang="en" sz="1200" dirty="0">
                <a:solidFill>
                  <a:schemeClr val="dk1"/>
                </a:solidFill>
              </a:rPr>
              <a:t>, vol. 27, pp. 2912-2923, 2025, doi: 10.1109/TMM.2025.3557717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[7] X. Yu, L. Liu, X. Hu, J. W. Keung, J. Liu and X. Xia, "Fight Fire With Fire: How Much Can We Trust ChatGPT on Source Code-Related Tasks?,"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50, no. 12, pp. 3435-3453, Dec. 2024, doi: 10.1109/TSE.2024.3492204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[8] X. Yi, C. Hu, B. Cai, H. Huang, Y. Chen and K. Wang, "FedALoRA: Adaptive Local LoRA Aggregation for Personalized Federated Learning in LLM," in </a:t>
            </a:r>
            <a:r>
              <a:rPr lang="en" sz="1200" i="1" dirty="0">
                <a:solidFill>
                  <a:schemeClr val="dk1"/>
                </a:solidFill>
              </a:rPr>
              <a:t>IEEE Internet of Things Journal</a:t>
            </a:r>
            <a:r>
              <a:rPr lang="en" sz="1200" dirty="0">
                <a:solidFill>
                  <a:schemeClr val="dk1"/>
                </a:solidFill>
              </a:rPr>
              <a:t>, vol. 12, no. 24, pp. 51854-51865, 15 Dec.15, 2025, doi: 10.1109/JIOT.2025.3582427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[9] Z. Liu, Y. Tang, X. Luo, Y. Zhou and L. F. Zhang, "No Need to Lift a Finger Anymore? Assessing the Quality of Code Generation by ChatGPT,"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50, no. 6, pp. 1548-1584, June 2024, doi: 10.1109/TSE.2024.3392499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[10] S. Ouyang, J. M. Zhang, Z. Sun and A. M. Penuela, "Knowledge-Enhanced Program Repair for Data Science Code," in 2025 IEEE/ACM 47th International Conference on Software Engineering (ICSE), Ottawa, ON, Canada, 2025, pp. 898-910, doi: 10.1109/ICSE55347.2025.00246.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F5BB5-7582-8009-95B3-892C991DC81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2807D-FBEA-42BB-AD63-CB591C89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/>
              <a:t>REFERENCE</a:t>
            </a:r>
            <a:endParaRPr sz="1620" b="1"/>
          </a:p>
        </p:txBody>
      </p:sp>
      <p:sp>
        <p:nvSpPr>
          <p:cNvPr id="287" name="Google Shape;287;p44"/>
          <p:cNvSpPr txBox="1"/>
          <p:nvPr/>
        </p:nvSpPr>
        <p:spPr>
          <a:xfrm>
            <a:off x="357675" y="732850"/>
            <a:ext cx="80964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[11] J. Liu, Y. Zhang, D. Wang, Y. Li and W. Dong, "THINK: Tackling API Hallucinations in LLMs via Injecting Knowledge," </a:t>
            </a:r>
            <a:r>
              <a:rPr lang="en" sz="1200" i="1" dirty="0">
                <a:solidFill>
                  <a:schemeClr val="dk1"/>
                </a:solidFill>
              </a:rPr>
              <a:t>2025 IEEE International Conference on Software Analysis, Evolution and Reengineering (SANER)</a:t>
            </a:r>
            <a:r>
              <a:rPr lang="en" sz="1200" dirty="0">
                <a:solidFill>
                  <a:schemeClr val="dk1"/>
                </a:solidFill>
              </a:rPr>
              <a:t>, Montreal, QC, Canada, 2025, pp. 229-240, doi: 10.1109/SANER64311.2025.00029.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[12] H. Zhang, Q. Yan, W. Min, C. Zhang, L. Kuang and Y. Xia, "EvoAPR: Enhancing Large Language Models for Automatic Program Repair with Genetic Algorithm and Dynamic LoRA," </a:t>
            </a:r>
            <a:r>
              <a:rPr lang="en" sz="1200" i="1" dirty="0">
                <a:solidFill>
                  <a:schemeClr val="dk1"/>
                </a:solidFill>
              </a:rPr>
              <a:t>2025 IEEE International Conference on Web Services (ICWS)</a:t>
            </a:r>
            <a:r>
              <a:rPr lang="en" sz="1200" dirty="0">
                <a:solidFill>
                  <a:schemeClr val="dk1"/>
                </a:solidFill>
              </a:rPr>
              <a:t>, Helsinki, Finland, 2025, pp. 946-956, doi: 10.1109/ICWS67624.2025.00123.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[13] X. Yi, C. Hu, B. Cai, H. Huang, Y. Chen and K. Wang, "FedALoRA: Adaptive Local LoRA Aggregation for Personalized Federated Learning in LLM," in </a:t>
            </a:r>
            <a:r>
              <a:rPr lang="en" sz="1200" i="1" dirty="0">
                <a:solidFill>
                  <a:schemeClr val="dk1"/>
                </a:solidFill>
              </a:rPr>
              <a:t>IEEE Internet of Things Journal</a:t>
            </a:r>
            <a:r>
              <a:rPr lang="en" sz="1200" dirty="0">
                <a:solidFill>
                  <a:schemeClr val="dk1"/>
                </a:solidFill>
              </a:rPr>
              <a:t>, vol. 12, no. 24, pp. 51854-51865, 15 Dec.15, 2025, doi: 10.1109/JIOT.2025.3582427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BAA438-3A28-B6E8-51AD-06BFE843BA8C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A786E8-CB83-1655-EC66-3A251ED3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4823</Words>
  <Application>Microsoft Office PowerPoint</Application>
  <PresentationFormat>On-screen Show (16:9)</PresentationFormat>
  <Paragraphs>568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Roboto</vt:lpstr>
      <vt:lpstr>Times New Roman</vt:lpstr>
      <vt:lpstr>Arial</vt:lpstr>
      <vt:lpstr>Roboto Mono</vt:lpstr>
      <vt:lpstr>Simple Light</vt:lpstr>
      <vt:lpstr>Federated Learning for Code Generation with Hallucination-Aware Fine Tuning </vt:lpstr>
      <vt:lpstr>INTRODUCTION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METHODS/MODULES USED 1.Problem ingestion and code generation</vt:lpstr>
      <vt:lpstr>2.Hallucination detection</vt:lpstr>
      <vt:lpstr>3.Automatic program repair module</vt:lpstr>
      <vt:lpstr>4.Fine tuning using LoRA </vt:lpstr>
      <vt:lpstr>5.Federated Aggregation and Distribution</vt:lpstr>
      <vt:lpstr>6.Evaluation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 SETUP</vt:lpstr>
      <vt:lpstr>EXPERIMENTAL 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 FOR COMPLETION OF MODULES</vt:lpstr>
      <vt:lpstr>REFERENCE</vt:lpstr>
      <vt:lpstr>REFERENCE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PRABHAKARA ARJUN R</cp:lastModifiedBy>
  <cp:revision>31</cp:revision>
  <dcterms:modified xsi:type="dcterms:W3CDTF">2026-02-16T16:40:49Z</dcterms:modified>
</cp:coreProperties>
</file>