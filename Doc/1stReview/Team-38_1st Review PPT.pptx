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5"/>
      <p:bold r:id="rId36"/>
      <p:italic r:id="rId37"/>
      <p:boldItalic r:id="rId38"/>
    </p:embeddedFont>
    <p:embeddedFont>
      <p:font typeface="Roboto Mono" panose="00000009000000000000" pitchFamily="49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B37524-8608-4B16-BC45-35DD96E42492}">
  <a:tblStyle styleId="{73B37524-8608-4B16-BC45-35DD96E424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06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7b5b97c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7b5b97c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7b5b97c7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7b5b97c7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7b5b97c7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7b5b97c7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54ac20c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54ac20c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5be15748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5be15748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7b5b97c7c_0_1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7b5b97c7c_0_1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7b5b97c7c_0_1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7b5b97c7c_0_1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7b5b97c7c_0_1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7b5b97c7c_0_1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7b5b97c7c_0_1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7b5b97c7c_0_1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7b5b97c7c_0_1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7b5b97c7c_0_1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7b5b97c7c_0_1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7b5b97c7c_0_1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7b5b97c7c_0_1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7b5b97c7c_0_1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7b5b97c7c_0_1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7b5b97c7c_0_1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85a0414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85a0414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85a0414e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85a0414e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85a0414e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85a0414e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85a0414e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85a0414e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85a0414e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85a0414e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7b5b97c7c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7b5b97c7c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7b5b97c7c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7b5b97c7c_0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7b5b97c7c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7b5b97c7c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5be15748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5be15748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754ac20c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754ac20c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5be15748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5be15748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5be15748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5be15748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5be15748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5be15748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be15748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be15748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7b5b97c7c_0_10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7b5b97c7c_0_10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85a0414e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85a0414e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abff5344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abff5344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abff5344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abff5344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B8B670-62CD-5B56-BF4D-7F23D590A3E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279400" marR="635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/>
              <a:t>Federated Learning for Code Generation with Hallucination-Aware Fine Tuning</a:t>
            </a:r>
            <a:endParaRPr sz="22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79" y="3679587"/>
            <a:ext cx="2974875" cy="10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BF0FC89-364A-B060-FD66-D0ABA63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E93A0-171F-26CD-CDF3-E083911A513F}"/>
              </a:ext>
            </a:extLst>
          </p:cNvPr>
          <p:cNvSpPr txBox="1"/>
          <p:nvPr/>
        </p:nvSpPr>
        <p:spPr>
          <a:xfrm>
            <a:off x="2725615" y="1062382"/>
            <a:ext cx="3739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CS6811 – Project Work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80D0B-7259-0BDE-42B1-D560F27479CB}"/>
              </a:ext>
            </a:extLst>
          </p:cNvPr>
          <p:cNvSpPr txBox="1"/>
          <p:nvPr/>
        </p:nvSpPr>
        <p:spPr>
          <a:xfrm>
            <a:off x="7039778" y="3734718"/>
            <a:ext cx="1792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Thanasekhar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Technology, MIT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163100" y="10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INTRODUCTION</a:t>
            </a:r>
            <a:endParaRPr sz="1720" b="1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248700" y="681450"/>
            <a:ext cx="8895300" cy="4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</a:rPr>
              <a:t>Large Language Models (LLMs) have  remarkable capabilities in code generation ,enabling automated solutions to a wide range of software engineering tasks.</a:t>
            </a:r>
            <a:endParaRPr sz="136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</a:rPr>
              <a:t> However  LLMs frequently suffer from hallucinations in code generation, producing syntactically valid but semantically incorrect programs, non-existent APIs, or logically flawed implementations.</a:t>
            </a:r>
            <a:endParaRPr sz="136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</a:rPr>
              <a:t>Existing approaches to mitigating code hallucinations primarily rely on prompt engineering, repeated sampling, or full model fine-tuning.</a:t>
            </a:r>
            <a:endParaRPr sz="136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</a:rPr>
              <a:t> Full fine-tuning is computationally expensive and impractical in low-resource or decentralized settings, and repeated sampling does not address the underlying causes and mitigation of hallucination.</a:t>
            </a:r>
            <a:endParaRPr sz="136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</a:rPr>
              <a:t>In real-world development environments, code generation systems are often deployed across multiple decentralized clients where data cannot be centrally aggregated due to privacy, ownership.</a:t>
            </a:r>
            <a:endParaRPr sz="1360">
              <a:solidFill>
                <a:schemeClr val="dk1"/>
              </a:solidFill>
            </a:endParaRPr>
          </a:p>
          <a:p>
            <a:pPr marL="457200" lvl="0" indent="-31496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</a:rPr>
              <a:t>To address these limitations we propose a hallucination-aware code generation framework that combines program analysis, targeted automatic program repair, and federated parameter-efficient fine-tuning using LoRA.</a:t>
            </a:r>
            <a:endParaRPr sz="136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36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C85887-3AF5-B7BF-F37B-DF5D5B29410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3109946-00BA-10F5-050F-85C317F8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84850" y="152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PROBLEM STATEMENT</a:t>
            </a:r>
            <a:endParaRPr sz="1720" b="1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24350" y="316523"/>
            <a:ext cx="8895300" cy="4624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88" dirty="0">
                <a:solidFill>
                  <a:schemeClr val="dk1"/>
                </a:solidFill>
              </a:rPr>
              <a:t>	Code generation using large language models (LLMs) is currently hindered by hallucinations. Existing mitigation strategies typically rely on supervised fine-tuning or reinforcement learning from human feedback (RLHF), where models are trained to align with human preferences .While parameter-efficient fine-tuning methods such as LoRA reduce computational overhead compared to full fine-tuning, both approaches primarily optimize model behavior but without explicit verification of program correctness. As a result, these methods may improve correctness but often fail to systematically detect and correct deeper structural, semantic, and execution-level errors in generated code.</a:t>
            </a:r>
            <a:endParaRPr sz="1388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88" dirty="0">
                <a:solidFill>
                  <a:schemeClr val="dk1"/>
                </a:solidFill>
              </a:rPr>
              <a:t>	Furthermore, in real world scenarios, high-quality code and execution feedback are distributed across multiple organizations making centralized data collection infeasible due to privacy concerns. Without a secure and decentralized learning mechanism, models are unable to effectively learn from diverse hallucination patterns observed across clients. This creates a critical gap for a unified framework that integrates explicit hallucination detection and automated program verification with privacy-preserving, parameter-efficient adaptation to improve the quality of code generation .</a:t>
            </a:r>
            <a:endParaRPr sz="1388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endParaRPr sz="1075"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768264-C0F3-1231-F996-DD7CC1B12AA8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6BAA4D4-6C1C-EB49-40FE-BF3E2415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81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OBJECTIVES</a:t>
            </a:r>
            <a:endParaRPr sz="1720" b="1"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124350" y="1054550"/>
            <a:ext cx="8895300" cy="3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design a hallucination-aware code generation framework that integrates static and dynamic program analysis.</a:t>
            </a:r>
            <a:br>
              <a:rPr lang="en" sz="1460" dirty="0">
                <a:solidFill>
                  <a:schemeClr val="dk1"/>
                </a:solidFill>
              </a:rPr>
            </a:b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detect and classify different types of hallucinations in generated code using oracle-based verification.</a:t>
            </a:r>
            <a:br>
              <a:rPr lang="en" sz="1460" dirty="0">
                <a:solidFill>
                  <a:schemeClr val="dk1"/>
                </a:solidFill>
              </a:rPr>
            </a:b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apply automatic program repair for correcting hallucinated code using knowledge-guided patching.</a:t>
            </a:r>
            <a:br>
              <a:rPr lang="en" sz="1460" dirty="0">
                <a:solidFill>
                  <a:schemeClr val="dk1"/>
                </a:solidFill>
              </a:rPr>
            </a:b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fine-tune large language models using parameter-efficient LoRA in a federated learning setting.</a:t>
            </a:r>
            <a:br>
              <a:rPr lang="en" sz="1460" dirty="0">
                <a:solidFill>
                  <a:schemeClr val="dk1"/>
                </a:solidFill>
              </a:rPr>
            </a:br>
            <a:endParaRPr sz="1460" dirty="0">
              <a:solidFill>
                <a:schemeClr val="dk1"/>
              </a:solidFill>
            </a:endParaRPr>
          </a:p>
          <a:p>
            <a:pPr marL="457200" lvl="0" indent="-32131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0"/>
              <a:buChar char="●"/>
            </a:pPr>
            <a:r>
              <a:rPr lang="en" sz="1460" dirty="0">
                <a:solidFill>
                  <a:schemeClr val="dk1"/>
                </a:solidFill>
              </a:rPr>
              <a:t>To evaluate the proposed framework on standard code generation benchmarks and analyze hallucination reduction.</a:t>
            </a:r>
            <a:endParaRPr sz="146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46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F0B119-3AAD-D2FF-D013-2AD7FC43E74C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2E21217-6E82-46C8-71AE-06EEB751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6C8BF9-75E2-B7B2-ECF0-9A40F06A8B7D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5653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ARCHITECTURE DIAGRAM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900" y="571475"/>
            <a:ext cx="7332949" cy="3880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72449" y="4436606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</a:rPr>
              <a:t>Fig1. Client side hallucination detection and mitigation framework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8B23330-663D-1AEF-F51C-EE96C793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subTitle" idx="1"/>
          </p:nvPr>
        </p:nvSpPr>
        <p:spPr>
          <a:xfrm>
            <a:off x="85350" y="90400"/>
            <a:ext cx="57018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</a:rPr>
              <a:t>ARCHITECTURE DIAGRAM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2756200" y="4493700"/>
            <a:ext cx="63072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Fig 2. Federated learning + LoRA for fine-tuning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2400" y="745200"/>
            <a:ext cx="5820704" cy="37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6BB976-DEB5-A5C2-93C1-523D90EC7116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ED99A-9F58-45EF-73A3-80A411D1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441425" y="1196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LITERATURE SURVEY</a:t>
            </a:r>
            <a:endParaRPr sz="1600" b="1"/>
          </a:p>
        </p:txBody>
      </p:sp>
      <p:graphicFrame>
        <p:nvGraphicFramePr>
          <p:cNvPr id="94" name="Google Shape;94;p19"/>
          <p:cNvGraphicFramePr/>
          <p:nvPr/>
        </p:nvGraphicFramePr>
        <p:xfrm>
          <a:off x="441425" y="720450"/>
          <a:ext cx="8261125" cy="371894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4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2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[1]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Advancing LLM-Generated Code Reliability: A Hybrid Approach for Hallucination Detection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IEEE Transactions on Software Engineering (TSE), 2025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Proposes SDHD, a hybrid hallucination detection framework that integrates static analysis and dynamic execution for LLM-generated code.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This framework detects eight hallucination types and achieves superior precision, recall, and F1-score across multiple benchmarks.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Dynamic detection depends on test coverage quality, and incomplete coverage may miss certain logical failures.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3429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The framework is currently validated only on Python, limiting cross-language generalizability.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5DAD10-9C7E-1075-FE08-8CA2FC6C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20"/>
          <p:cNvGraphicFramePr/>
          <p:nvPr/>
        </p:nvGraphicFramePr>
        <p:xfrm>
          <a:off x="300050" y="296388"/>
          <a:ext cx="8261125" cy="390002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3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[2]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LLM-Based Test-Driven Interactive Code Generation: User Study and Empirical Evaluation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IEEE Transactions on Software Engineering (TSE), 2024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TICODER is a test-driven interactive workflow that incrementally clarifies user intent through LLM-generated tests and lightweight user feedback.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The system ranks and prunes candidate code suggestions based on user-approved tests using two variants: PASS/FAIL validation and explicit output specification.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There is interactive overhead, and incorrect or noisy user feedback can prune correct solutions prematurely.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Effectiveness is contingent on the LLM's ability to generate high-quality tests.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AD0BC3F-A8C1-0D6A-2560-70408457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104;p21"/>
          <p:cNvGraphicFramePr/>
          <p:nvPr/>
        </p:nvGraphicFramePr>
        <p:xfrm>
          <a:off x="300050" y="296388"/>
          <a:ext cx="8261125" cy="4679170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3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[3]</a:t>
                      </a:r>
                      <a:endParaRPr sz="120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A Federated Adaptive Large Language Model Fine-Tuning Framework for Software Development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IEEE Transactions on Services Computing,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The framework integrates LoRA-based parameter-efficient fine-tuning within a federated setting, where each organization locally trains lightweight adapter modules and shares only adapter to the central server.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 A FedAvg-style is used to combine adapters based on local data size and an L2-norm constraint to manage gradient divergence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9144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Experimental results show degraded performance on unrelated datasets.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Although communication costs are reduced, the framework still requires multiple communication rounds, which may introduce latency in large-scale federations.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096F2E-7245-C248-0081-320EA114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22"/>
          <p:cNvGraphicFramePr/>
          <p:nvPr/>
        </p:nvGraphicFramePr>
        <p:xfrm>
          <a:off x="300050" y="296388"/>
          <a:ext cx="8261125" cy="475992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[4]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Towards Efficient Fine-Tuning of Language Models With Organizational Data for Automated Software Review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IEEE Transactions on Software Engineering</a:t>
                      </a:r>
                      <a:endParaRPr sz="125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2024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Proposes CodeMentor, a framework for few-shot learning that utilizes heuristic rules and weak supervision to construct datasets from internal organizational data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It employs Low-Rank Adaptation (LoRA) for parameter-efficient fine-tuning and integrates Reinforcement Learning from Human Feedback (RLHF) to incorporate domain expertise.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The framework depends on the quality of organizational data, which may introduce domain bias and limit generalization across different coding lang.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RLHF requires computational resources and expert involvement,bottleneck scenario during scaling.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58FC84A-24B3-6446-4E41-247D0A39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Google Shape;114;p23"/>
          <p:cNvGraphicFramePr/>
          <p:nvPr/>
        </p:nvGraphicFramePr>
        <p:xfrm>
          <a:off x="300050" y="296388"/>
          <a:ext cx="8261125" cy="497314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[5]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Impact of Prompt Programming on Function-Level Code Generation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IEEE Transactions on Software Engineering (TSE),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Empirical study to evaluate the impact of prompt programming techniques on function-level code generation.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CodePromptEval, a dataset of 7,072 prompts derived from 221 real-world Python functions, covering five prompt techniques: few-shot learning, chain-of-thought, persona, function signature, and package context, including all 32 possible combinations.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The study is restricted to Python function-level tasks, limiting generalizability to other languages and higher-level program synthesis.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 Rely on benchmark-driven evaluation, which may not fully capture real-world scenario.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 Prompt techniques are evaluated in a fixed ordering, excluding effects of alternative prompt sequencing.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7078CF2-1596-336B-6ED1-3DD6BC60D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24"/>
          <p:cNvGraphicFramePr/>
          <p:nvPr/>
        </p:nvGraphicFramePr>
        <p:xfrm>
          <a:off x="158675" y="180338"/>
          <a:ext cx="8261125" cy="497314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[6]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 </a:t>
                      </a: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An Adaptive Framework Embedded With LLM for Knowledge Graph Construction</a:t>
                      </a:r>
                      <a:endParaRPr sz="1250"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IEEE Transactions on Multimedia, Vol. 27,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KG construction happens in three stages: Information Extraction (IE) for open triple extraction, Additional Relation (AR) for enriching triples with semantic information, and Knowledge Graph Normalization (KGN) for schema-level alignment using vector similarity search.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Adaptive Prompt Generation (APG) module automatically generates, evaluates, and ranks prompts to guide LLM behavior across stages, enabling multi-domain KG construction from text, speech, and images.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High computational overhead due to multi-stage LLM inference, embedding generation, and vector similarity matching. 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The framework relies heavily on prompt engineering, which,, is not fully autonomous and may still suffer from hallucination and semantic inconsistency. 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19EDAAF-D842-18C3-CB99-A7FC4873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Google Shape;124;p25"/>
          <p:cNvGraphicFramePr/>
          <p:nvPr/>
        </p:nvGraphicFramePr>
        <p:xfrm>
          <a:off x="158675" y="180338"/>
          <a:ext cx="8261125" cy="4936240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7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9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[7]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 </a:t>
                      </a:r>
                      <a:r>
                        <a:rPr lang="en" sz="1250">
                          <a:solidFill>
                            <a:schemeClr val="dk1"/>
                          </a:solidFill>
                        </a:rPr>
                        <a:t>Fight Fire With Fire: How Much Can We Trust ChatGPT on Source Code-Related Tasks?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IEEE Transactions on Software Engineering (TSE), Vol. 50, No. 12, 2024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Evaluating self-verification capability of GPT for: code generation, code completion, and program repair.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 Direct question, guiding question, and test report generation prompting is used assess whether ChatGPT can reliably validate its own outputs.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Effectiveness is measured using accuracy, precision, recall, and F1-score, with additional analysis of self-contradictory hallucinations.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Results show that ChatGPT frequently overestimates the correctness of its own outputs, leading to low recall in direct self-verification.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 While guiding questions and test reports improve recall, precision is reduced.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Generated test reports often contain incorrect explanations, especially for code generation and failed repairs.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11956F5-8BD8-A305-FE58-515A5F04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26"/>
          <p:cNvGraphicFramePr/>
          <p:nvPr>
            <p:extLst>
              <p:ext uri="{D42A27DB-BD31-4B8C-83A1-F6EECF244321}">
                <p14:modId xmlns:p14="http://schemas.microsoft.com/office/powerpoint/2010/main" val="3401399930"/>
              </p:ext>
            </p:extLst>
          </p:nvPr>
        </p:nvGraphicFramePr>
        <p:xfrm>
          <a:off x="432816" y="158589"/>
          <a:ext cx="8269747" cy="515531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3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2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8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3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4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[8]</a:t>
                      </a:r>
                      <a:endParaRPr sz="1250"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FedALoRA: Adaptive Local LoRA Aggregation for Personalized Federated Learning in LLM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IEEE Internet of Things Journal, Vol. 12, No. 24, December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Proposes FedALoRA, a personalized federated learning framework that integrates LoRA-based PEFT with adaptive local aggregation to address severe non-IID data in federated LLM training.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FedALoRA uses an Adaptive LoRA Aggregation to merge global and local parameters via locally learned weights. This selective, element-wise fusion focused on higher transformer layers preserves domain expertise while capturing shared knowledge without increasing communication costs.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FedALoRA introduces additional local optimization complexity due to adaptive weight learning in ALoRA modules. 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The method requires careful tuning of the hyperparameter </a:t>
                      </a:r>
                      <a:r>
                        <a:rPr lang="en" sz="1250" i="1" dirty="0">
                          <a:solidFill>
                            <a:schemeClr val="dk1"/>
                          </a:solidFill>
                        </a:rPr>
                        <a:t>l</a:t>
                      </a: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, which controls the number of transformer layers involved in adaptive aggregation, and improper settings can degrade performance.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A79D816-F7BF-2070-ED95-42C4973E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p27"/>
          <p:cNvGraphicFramePr/>
          <p:nvPr/>
        </p:nvGraphicFramePr>
        <p:xfrm>
          <a:off x="441425" y="-12"/>
          <a:ext cx="8261125" cy="515531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9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[9]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No Need to Lift a Finger Anymore? Assessing the Quality of Code Generation by ChatGPT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IEEE Transactions on Software Engineering (TSE), Vol. 50, No. 6, June 2024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Evaluation framework for assessing ChatGPT-based code generation. The authors construct standardized prompts for 728 LeetCode algorithm problems and 54 CWE security scenarios across five programming languages.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Generated code is evaluated using automated judgment platforms (LeetCode for functional correctness) and static analysis tools (CodeQL for vulnerability detection).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A multi-round fixing process is designed, where execution or analysis feedback is iteratively fed back to ChatGPT for up to 5 rounds.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ChatGPT performs significantly better on problems published before 2021, indicating reliance on memorized patterns rather than reasoning.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The dialog-based fixing process has limited effectiveness, for logically complex problems 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Generated code often contains security vulnerabilities and non-deterministic behavior.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A62A48A-111D-C2F4-2BA9-7108E1C5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28"/>
          <p:cNvGraphicFramePr/>
          <p:nvPr>
            <p:extLst>
              <p:ext uri="{D42A27DB-BD31-4B8C-83A1-F6EECF244321}">
                <p14:modId xmlns:p14="http://schemas.microsoft.com/office/powerpoint/2010/main" val="1555046864"/>
              </p:ext>
            </p:extLst>
          </p:nvPr>
        </p:nvGraphicFramePr>
        <p:xfrm>
          <a:off x="451104" y="158588"/>
          <a:ext cx="8251460" cy="4242522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8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1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3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1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9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[10]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Knowledge Enhanced Program Repair for Data Science Code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Proceedings of the 47th IEEE/ACM International Conference on Software Engineering (ICSE), 2025 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API KG Construction is done using a custom ontology and RDF triples to model API attributes and dependencies for seven data science libraries.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SPARQL is used for knowledge retrieval from on buggy code.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AST level Bug Knowledge Enrichment, which executes code node-by-node to localize runtime and assertion errors at the AST node level.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DS-KG is version-specific and requires continuous updates to track evolving API documentation, making long-term maintenance costly and error-prone.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KG-based knowledge retrieval introduces higher latency than plain-text search.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0EDA8FF-2471-A46F-77C8-C3A2A6C3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29"/>
          <p:cNvGraphicFramePr/>
          <p:nvPr>
            <p:extLst>
              <p:ext uri="{D42A27DB-BD31-4B8C-83A1-F6EECF244321}">
                <p14:modId xmlns:p14="http://schemas.microsoft.com/office/powerpoint/2010/main" val="2490274631"/>
              </p:ext>
            </p:extLst>
          </p:nvPr>
        </p:nvGraphicFramePr>
        <p:xfrm>
          <a:off x="467360" y="158588"/>
          <a:ext cx="8235204" cy="5155315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0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9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59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80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[11]</a:t>
                      </a:r>
                      <a:endParaRPr sz="1250"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THINK: Tackling API Hallucinations in LLMs via Injecting Knowledge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IEEE International Conference on Software Analysis, Evolution and Reengineering (SANER),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THINK proposes a two-phase API hallucination mitigation framework consisting of Pre and Post execution Optimization.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Constructs an API knowledge database (Javadoc + validated code examples) and retrieves task-relevant APIs using task decomposition, similarity search, and LLM-based API labeling to guide code generation.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 Error Classification into Seven API Error Types for correction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It may introduce irrelevant API knowledge, occasionally degrading performance for tasks already solvable by strong LLMs.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Both retrieval results and ReAct-based repair depend on LLM generation, leading to non-deterministic behavior and reduced reproducibility across runs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84054B6-4AC5-8145-6C3F-AC137093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30"/>
          <p:cNvGraphicFramePr/>
          <p:nvPr>
            <p:extLst>
              <p:ext uri="{D42A27DB-BD31-4B8C-83A1-F6EECF244321}">
                <p14:modId xmlns:p14="http://schemas.microsoft.com/office/powerpoint/2010/main" val="3270590913"/>
              </p:ext>
            </p:extLst>
          </p:nvPr>
        </p:nvGraphicFramePr>
        <p:xfrm>
          <a:off x="477520" y="158588"/>
          <a:ext cx="8496893" cy="4300963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59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9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8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0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3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[12]</a:t>
                      </a:r>
                      <a:endParaRPr sz="1250"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EvoAPR: Enhancing Large Language Models for Automatic Program Repair with Genetic Algorithm and Dynamic LoRA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IEEE International Conference on Web Services (ICWS),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Genetic evolution of buggy hunks under tri-objective fitness: syntax compliance, bug-hunk masking rate, repair-location masking rate.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lang="en-US"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Dynamic </a:t>
                      </a:r>
                      <a:r>
                        <a:rPr lang="en-US" sz="1250" dirty="0" err="1">
                          <a:solidFill>
                            <a:schemeClr val="dk1"/>
                          </a:solidFill>
                        </a:rPr>
                        <a:t>LoRA</a:t>
                      </a: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 swaps non-overlapping rank-r adapters per bug-index/project for on-demand, project-specific parameter retrieval.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lang="en-US"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Base + </a:t>
                      </a:r>
                      <a:r>
                        <a:rPr lang="en-US" sz="1250" dirty="0" err="1">
                          <a:solidFill>
                            <a:schemeClr val="dk1"/>
                          </a:solidFill>
                        </a:rPr>
                        <a:t>LoRA</a:t>
                      </a: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 models generate candidate patches; token-level entropy scorer picks the least uncertain fix as the final patch.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Genetic template evolution and dynamic </a:t>
                      </a:r>
                      <a:r>
                        <a:rPr lang="en-US" sz="1250" dirty="0" err="1">
                          <a:solidFill>
                            <a:schemeClr val="dk1"/>
                          </a:solidFill>
                        </a:rPr>
                        <a:t>LoRA</a:t>
                      </a:r>
                      <a:r>
                        <a:rPr lang="en-US" sz="1250" dirty="0">
                          <a:solidFill>
                            <a:schemeClr val="dk1"/>
                          </a:solidFill>
                        </a:rPr>
                        <a:t> fine-tuning introduce significant computation and implementation complexity.</a:t>
                      </a: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The effectiveness of both stages relies on accurate bug localization and rich bug context. 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EC950B-A91F-8BE2-5FA0-7C9C7564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31"/>
          <p:cNvGraphicFramePr/>
          <p:nvPr>
            <p:extLst>
              <p:ext uri="{D42A27DB-BD31-4B8C-83A1-F6EECF244321}">
                <p14:modId xmlns:p14="http://schemas.microsoft.com/office/powerpoint/2010/main" val="1779235114"/>
              </p:ext>
            </p:extLst>
          </p:nvPr>
        </p:nvGraphicFramePr>
        <p:xfrm>
          <a:off x="441438" y="158588"/>
          <a:ext cx="8532975" cy="4673567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8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3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NAME OF JOURNAL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METHODOLOGY USED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39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[13]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CodeHalu: Investigating Code Hallucinations in LLMs via Execution Based Verification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Proceedings of the AAAI Conference on Artificial Intelligence (AAAI), 2025</a:t>
                      </a:r>
                      <a:endParaRPr sz="12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Executes LLM-generated code against test cases under time and memory constraints, recording execution failures, unexpected outputs, infinite loop behaviors to detect hallucination states.</a:t>
                      </a:r>
                    </a:p>
                    <a:p>
                      <a:pPr marL="149225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Aggregates execution states across multiple LLMs and applies a two-stage heuristic induction process to classify hallucinations into four main types (Mapping, Naming, Resource, Logic) and eight subcategories.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The study focuses exclusively on Python, and hallucination behaviors in other programming languages are not evaluated.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 dirty="0">
                          <a:solidFill>
                            <a:schemeClr val="dk1"/>
                          </a:solidFill>
                        </a:rPr>
                        <a:t>CodeHalu targets functional and logical correctness; identifying or mitigating security vulnerabilities is outside its scope.</a:t>
                      </a:r>
                      <a:endParaRPr sz="125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3F45032-2010-45EA-7E5B-339A03038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E2E97B-05E9-0082-D487-1B32678230CA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59" name="Google Shape;159;p32"/>
          <p:cNvGraphicFramePr/>
          <p:nvPr/>
        </p:nvGraphicFramePr>
        <p:xfrm>
          <a:off x="648000" y="869325"/>
          <a:ext cx="8032800" cy="3649890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7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MODULES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SUB-MODULES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TOOLS &amp; PLATFORM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1.</a:t>
                      </a:r>
                      <a:endParaRPr sz="135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</a:rPr>
                        <a:t>Problem ingestion and code generation</a:t>
                      </a:r>
                      <a:endParaRPr sz="135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/>
                        <a:t>Dataset selection .</a:t>
                      </a:r>
                      <a:endParaRPr sz="1350"/>
                    </a:p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/>
                        <a:t>Client-wise dataset partitioning .</a:t>
                      </a:r>
                      <a:endParaRPr sz="1350"/>
                    </a:p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/>
                        <a:t>Single-shot prompting.</a:t>
                      </a:r>
                      <a:endParaRPr sz="1350"/>
                    </a:p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/>
                        <a:t>Pretrained LLM selection and loading.</a:t>
                      </a:r>
                      <a:endParaRPr sz="1350"/>
                    </a:p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/>
                        <a:t> Baseline inference using frozen LLM</a:t>
                      </a:r>
                      <a:endParaRPr sz="135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Hugging Face Datasets, Transformers, Python, Pandas, NumPy, Google Colab</a:t>
                      </a:r>
                      <a:endParaRPr sz="1350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2.</a:t>
                      </a:r>
                      <a:endParaRPr sz="135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Hallucination detection</a:t>
                      </a:r>
                      <a:endParaRPr sz="135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/>
                        <a:t>Static analysis using AST , CFG analysis and SSA. </a:t>
                      </a:r>
                      <a:endParaRPr sz="1350"/>
                    </a:p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/>
                        <a:t>Test case generation using BVA and ECP.</a:t>
                      </a:r>
                      <a:endParaRPr sz="1350"/>
                    </a:p>
                    <a:p>
                      <a:pPr marL="457200" lvl="0" indent="-31432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" sz="1350"/>
                        <a:t> Structured hallucination labeling.</a:t>
                      </a:r>
                      <a:endParaRPr sz="135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</a:rPr>
                        <a:t>Python </a:t>
                      </a:r>
                      <a:r>
                        <a:rPr lang="en" sz="135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ast</a:t>
                      </a:r>
                      <a:r>
                        <a:rPr lang="en" sz="1350">
                          <a:solidFill>
                            <a:schemeClr val="dk1"/>
                          </a:solidFill>
                        </a:rPr>
                        <a:t> module, Graphviz (CFG), Pytes.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0" name="Google Shape;160;p32"/>
          <p:cNvSpPr txBox="1">
            <a:spLocks noGrp="1"/>
          </p:cNvSpPr>
          <p:nvPr>
            <p:ph type="subTitle" idx="1"/>
          </p:nvPr>
        </p:nvSpPr>
        <p:spPr>
          <a:xfrm>
            <a:off x="574725" y="177425"/>
            <a:ext cx="68436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PROJECT MODULES, TOOLS &amp; PLATFORMS IDENTIFIED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090CD68-6BD1-98AE-E379-37AFBBD7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3859B7-83BA-F973-D98B-6E01A25E4887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65" name="Google Shape;165;p33"/>
          <p:cNvGraphicFramePr/>
          <p:nvPr>
            <p:extLst>
              <p:ext uri="{D42A27DB-BD31-4B8C-83A1-F6EECF244321}">
                <p14:modId xmlns:p14="http://schemas.microsoft.com/office/powerpoint/2010/main" val="2443030007"/>
              </p:ext>
            </p:extLst>
          </p:nvPr>
        </p:nvGraphicFramePr>
        <p:xfrm>
          <a:off x="658875" y="934600"/>
          <a:ext cx="8032800" cy="3816650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7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MODULES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SUB-MODULES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TOOLS &amp; PLATFORM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3.</a:t>
                      </a:r>
                      <a:endParaRPr sz="125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Automatic Program Repair (APR)</a:t>
                      </a:r>
                      <a:endParaRPr sz="125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Knowledge extraction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RDF  triple representation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knowledge graph construction.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Patch-based repair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Bounded repair attempts.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Ground-truth verification and hard hallucination labeling.</a:t>
                      </a:r>
                      <a:endParaRPr sz="125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Numpy,pandas,sklearn,scipy,statsmodel, Qwen2.5-Coder (Repair), Python.</a:t>
                      </a:r>
                      <a:endParaRPr sz="125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4.</a:t>
                      </a:r>
                      <a:endParaRPr sz="125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Fine tuning using LoRA </a:t>
                      </a:r>
                      <a:endParaRPr sz="125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Hallucination-aware dataset construction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Low-rank decomposition (r = 8).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Injection of LoRA modules into Query and Key projections.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Parameter isolation with frozen backbone. 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Adapter checkpointing.</a:t>
                      </a:r>
                      <a:endParaRPr sz="125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PyTorch, Hugging Face PEFT, Transformers</a:t>
                      </a:r>
                      <a:endParaRPr sz="1250" dirty="0"/>
                    </a:p>
                  </a:txBody>
                  <a:tcPr marL="91425" marR="91425" marT="91425" marB="914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" name="Google Shape;166;p33"/>
          <p:cNvSpPr txBox="1">
            <a:spLocks noGrp="1"/>
          </p:cNvSpPr>
          <p:nvPr>
            <p:ph type="subTitle" idx="1"/>
          </p:nvPr>
        </p:nvSpPr>
        <p:spPr>
          <a:xfrm>
            <a:off x="596450" y="199150"/>
            <a:ext cx="68436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PROJECT MODULES, TOOLS &amp; PLATFORMS IDENTIFIED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7C1AD7F-0212-A14A-7DEF-44E875910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34"/>
          <p:cNvGraphicFramePr/>
          <p:nvPr>
            <p:extLst>
              <p:ext uri="{D42A27DB-BD31-4B8C-83A1-F6EECF244321}">
                <p14:modId xmlns:p14="http://schemas.microsoft.com/office/powerpoint/2010/main" val="2425408714"/>
              </p:ext>
            </p:extLst>
          </p:nvPr>
        </p:nvGraphicFramePr>
        <p:xfrm>
          <a:off x="596450" y="934600"/>
          <a:ext cx="8095225" cy="4023270"/>
        </p:xfrm>
        <a:graphic>
          <a:graphicData uri="http://schemas.openxmlformats.org/drawingml/2006/table">
            <a:tbl>
              <a:tblPr>
                <a:noFill/>
                <a:tableStyleId>{73B37524-8608-4B16-BC45-35DD96E42492}</a:tableStyleId>
              </a:tblPr>
              <a:tblGrid>
                <a:gridCol w="675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7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4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7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5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S.NO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MODULES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SUB-MODULES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TOOLS &amp; PLATFORM</a:t>
                      </a:r>
                      <a:endParaRPr b="1"/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8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5.</a:t>
                      </a:r>
                      <a:endParaRPr sz="125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Federated Aggregation and Distribution</a:t>
                      </a:r>
                      <a:endParaRPr sz="125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Secure client-side adapters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Federated Averaging (FedAvg) with sample-size-based weighting.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Global adapter construction 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50"/>
                        <a:buChar char="●"/>
                      </a:pPr>
                      <a:r>
                        <a:rPr lang="en" sz="1250">
                          <a:solidFill>
                            <a:schemeClr val="dk1"/>
                          </a:solidFill>
                        </a:rPr>
                        <a:t>Redistribution of global adapters to clients.</a:t>
                      </a:r>
                      <a:endParaRPr sz="125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Flower ,PyTorch, NumPy</a:t>
                      </a:r>
                      <a:endParaRPr sz="125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6.</a:t>
                      </a:r>
                      <a:endParaRPr sz="125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/>
                        <a:t>Evaluation and analysis</a:t>
                      </a:r>
                      <a:endParaRPr sz="125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Evaluation on MBPP, HumanEval, and DS-1000 benchmarks.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 Functional correctness using Pass@1. 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Hallucination detection metrics (Precision, Recall, F1). 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Code similarity analysis using CodeBLEU. 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Cross-client validation.</a:t>
                      </a:r>
                      <a:endParaRPr sz="1250"/>
                    </a:p>
                    <a:p>
                      <a:pPr marL="457200" lvl="0" indent="-307975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50"/>
                        <a:buChar char="●"/>
                      </a:pPr>
                      <a:r>
                        <a:rPr lang="en" sz="1250"/>
                        <a:t> Before–after performance comparison.</a:t>
                      </a:r>
                      <a:endParaRPr sz="125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5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dirty="0"/>
                        <a:t>CodeBLEU, Matplotlib, Seaborn, Scikit-learn</a:t>
                      </a:r>
                      <a:endParaRPr sz="1250" dirty="0"/>
                    </a:p>
                  </a:txBody>
                  <a:tcPr marL="91425" marR="91425" marT="91425" marB="914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2" name="Google Shape;172;p34"/>
          <p:cNvSpPr txBox="1">
            <a:spLocks noGrp="1"/>
          </p:cNvSpPr>
          <p:nvPr>
            <p:ph type="subTitle" idx="1"/>
          </p:nvPr>
        </p:nvSpPr>
        <p:spPr>
          <a:xfrm>
            <a:off x="596450" y="199150"/>
            <a:ext cx="68436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PROJECT MODULES, TOOLS &amp; PLATFORMS IDENTIFIED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2E61A-4EAB-969C-3D42-4FD63A5741C2}"/>
              </a:ext>
            </a:extLst>
          </p:cNvPr>
          <p:cNvSpPr/>
          <p:nvPr/>
        </p:nvSpPr>
        <p:spPr>
          <a:xfrm>
            <a:off x="0" y="4847492"/>
            <a:ext cx="9190892" cy="296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B2E6FA0-08BB-30BA-5C28-E7B080C9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261000" y="163125"/>
            <a:ext cx="85206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88" b="1"/>
              <a:t>METHODS/MODULES USED</a:t>
            </a:r>
            <a:endParaRPr sz="1788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1.Problem ingestion and code generation</a:t>
            </a:r>
            <a:endParaRPr sz="1900" b="1"/>
          </a:p>
        </p:txBody>
      </p:sp>
      <p:sp>
        <p:nvSpPr>
          <p:cNvPr id="178" name="Google Shape;178;p35"/>
          <p:cNvSpPr txBox="1">
            <a:spLocks noGrp="1"/>
          </p:cNvSpPr>
          <p:nvPr>
            <p:ph type="body" idx="1"/>
          </p:nvPr>
        </p:nvSpPr>
        <p:spPr>
          <a:xfrm>
            <a:off x="496575" y="913125"/>
            <a:ext cx="8746800" cy="48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Input</a:t>
            </a:r>
            <a:r>
              <a:rPr lang="en" sz="1500" dirty="0">
                <a:solidFill>
                  <a:schemeClr val="dk1"/>
                </a:solidFill>
              </a:rPr>
              <a:t>: Benchmark code-generation datasets.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Output</a:t>
            </a:r>
            <a:r>
              <a:rPr lang="en" sz="1500" dirty="0">
                <a:solidFill>
                  <a:schemeClr val="dk1"/>
                </a:solidFill>
              </a:rPr>
              <a:t>:Initial LLM-generated code solutions (potentially containing hallucinations).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Methods:</a:t>
            </a:r>
            <a:endParaRPr sz="1500" b="1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Dataset Loading:</a:t>
            </a:r>
            <a:r>
              <a:rPr lang="en" sz="1500" dirty="0">
                <a:solidFill>
                  <a:schemeClr val="dk1"/>
                </a:solidFill>
              </a:rPr>
              <a:t>Benchmark code-generation datasets including MBPP, HumanEval, and DS-1000 are loaded using the Hugging Face library.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Client-wise Dataset Allocation:</a:t>
            </a:r>
            <a:r>
              <a:rPr lang="en" sz="1500" dirty="0">
                <a:solidFill>
                  <a:schemeClr val="dk1"/>
                </a:solidFill>
              </a:rPr>
              <a:t>Each federated client is assigned a distinct dataset or dataset subset to simulate heterogeneous behaviour.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Problem Specification Construction:</a:t>
            </a:r>
            <a:r>
              <a:rPr lang="en" sz="1500" dirty="0">
                <a:solidFill>
                  <a:schemeClr val="dk1"/>
                </a:solidFill>
              </a:rPr>
              <a:t>For each task, structured inputs consisting of the problem statement, function signature, constraints is constructed.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Single-Shot Prompting:</a:t>
            </a:r>
            <a:r>
              <a:rPr lang="en" sz="1500" dirty="0">
                <a:solidFill>
                  <a:schemeClr val="dk1"/>
                </a:solidFill>
              </a:rPr>
              <a:t>Code generation is performed using a single-shot prompting strategy, where the model receives the task specification without iterative refinement.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Baseline Inference:</a:t>
            </a:r>
            <a:r>
              <a:rPr lang="en" sz="1500" dirty="0">
                <a:solidFill>
                  <a:schemeClr val="dk1"/>
                </a:solidFill>
              </a:rPr>
              <a:t>The frozen Qwen2.5-Coder-1.5B pretrained model is used to generate initial code outputs, which may contain hallucinations and serve as baseline for downstream analysis.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58527-112C-4FBE-D52C-38F0198A80FF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2B8F1C5-C050-FEF3-3944-3AF236AC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2.Hallucination detection</a:t>
            </a:r>
            <a:endParaRPr sz="1900" b="1"/>
          </a:p>
        </p:txBody>
      </p:sp>
      <p:sp>
        <p:nvSpPr>
          <p:cNvPr id="184" name="Google Shape;184;p36"/>
          <p:cNvSpPr txBox="1">
            <a:spLocks noGrp="1"/>
          </p:cNvSpPr>
          <p:nvPr>
            <p:ph type="body" idx="1"/>
          </p:nvPr>
        </p:nvSpPr>
        <p:spPr>
          <a:xfrm>
            <a:off x="387825" y="526375"/>
            <a:ext cx="8814000" cy="43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Input</a:t>
            </a:r>
            <a:r>
              <a:rPr lang="en" sz="1500">
                <a:solidFill>
                  <a:schemeClr val="dk1"/>
                </a:solidFill>
              </a:rPr>
              <a:t>: LLM-generated code obtained from the code generation module.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Output</a:t>
            </a:r>
            <a:r>
              <a:rPr lang="en" sz="1500">
                <a:solidFill>
                  <a:schemeClr val="dk1"/>
                </a:solidFill>
              </a:rPr>
              <a:t>:Detected hallucination types along with structured diagnostic information.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Methods: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AST Construction and Analysis: </a:t>
            </a:r>
            <a:r>
              <a:rPr lang="en" sz="1500">
                <a:solidFill>
                  <a:schemeClr val="dk1"/>
                </a:solidFill>
              </a:rPr>
              <a:t>Abstract Syntax Tree (AST) is constructed and analyzed to detect syntax errors, undefined variables, and invalid language constructs.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CFG Analysis: </a:t>
            </a:r>
            <a:r>
              <a:rPr lang="en" sz="1500">
                <a:solidFill>
                  <a:schemeClr val="dk1"/>
                </a:solidFill>
              </a:rPr>
              <a:t>Control Flow Graph (CFG) is constructed to analyze control-flow structures, including branching behavior, unreachable code paths, and missing return statements.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SSA Checking: </a:t>
            </a:r>
            <a:r>
              <a:rPr lang="en" sz="1500">
                <a:solidFill>
                  <a:schemeClr val="dk1"/>
                </a:solidFill>
              </a:rPr>
              <a:t>Single Static Assignment(SSA) checks use-before-definition errors and conflicting variable reassignments.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Test Case Generation: </a:t>
            </a:r>
            <a:r>
              <a:rPr lang="en" sz="1500">
                <a:solidFill>
                  <a:schemeClr val="dk1"/>
                </a:solidFill>
              </a:rPr>
              <a:t>Test cases are generated using Boundary Value Analysis (BVA) and Equivalence Class Partitioning (ECP) to capture edge cases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Dynamic Analysis: </a:t>
            </a:r>
            <a:r>
              <a:rPr lang="en" sz="1500">
                <a:solidFill>
                  <a:schemeClr val="dk1"/>
                </a:solidFill>
              </a:rPr>
              <a:t>The generated test cases are executed on the code to detect runtime errors and semantic hallucinations.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Hallucination Labeling: </a:t>
            </a:r>
            <a:r>
              <a:rPr lang="en" sz="1500">
                <a:solidFill>
                  <a:schemeClr val="dk1"/>
                </a:solidFill>
              </a:rPr>
              <a:t>Detected errors are categorized into different hallucination types, and the resulting information is recorded for dataset construction during fine-tuning.</a:t>
            </a:r>
            <a:endParaRPr sz="150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	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	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CFC8F1-C376-EDC8-EA17-FAC3823E541F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9ACE23-3038-F57B-4AEC-D110BEB5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3.Automatic program repair module</a:t>
            </a:r>
            <a:endParaRPr sz="1900" b="1"/>
          </a:p>
        </p:txBody>
      </p:sp>
      <p:sp>
        <p:nvSpPr>
          <p:cNvPr id="190" name="Google Shape;190;p37"/>
          <p:cNvSpPr txBox="1">
            <a:spLocks noGrp="1"/>
          </p:cNvSpPr>
          <p:nvPr>
            <p:ph type="body" idx="1"/>
          </p:nvPr>
        </p:nvSpPr>
        <p:spPr>
          <a:xfrm>
            <a:off x="376950" y="472025"/>
            <a:ext cx="8766900" cy="4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Input</a:t>
            </a:r>
            <a:r>
              <a:rPr lang="en" sz="1600" dirty="0">
                <a:solidFill>
                  <a:schemeClr val="dk1"/>
                </a:solidFill>
              </a:rPr>
              <a:t>: Buggy code, detected hallucination type, fault hints, and a domain knowledge graph.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Output</a:t>
            </a:r>
            <a:r>
              <a:rPr lang="en" sz="1600" dirty="0">
                <a:solidFill>
                  <a:schemeClr val="dk1"/>
                </a:solidFill>
              </a:rPr>
              <a:t>:Corrected code validated against ground-truth oracles or hard hallucination label.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Methods: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Knowledge Extraction:</a:t>
            </a:r>
            <a:r>
              <a:rPr lang="en" sz="1600" dirty="0">
                <a:solidFill>
                  <a:schemeClr val="dk1"/>
                </a:solidFill>
              </a:rPr>
              <a:t>library, class, method, and dependency information is extracted from dir,help,inspect 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RDF Representation:</a:t>
            </a:r>
            <a:r>
              <a:rPr lang="en" sz="1600" dirty="0">
                <a:solidFill>
                  <a:schemeClr val="dk1"/>
                </a:solidFill>
              </a:rPr>
              <a:t>The extracted data is represented using RDF triples.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KG construction : </a:t>
            </a:r>
            <a:r>
              <a:rPr lang="en" sz="1600" dirty="0">
                <a:solidFill>
                  <a:schemeClr val="dk1"/>
                </a:solidFill>
              </a:rPr>
              <a:t>KG constructed using our ontology design and RDF triplets.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Patch-Based Repair:</a:t>
            </a:r>
            <a:r>
              <a:rPr lang="en" sz="1600" dirty="0">
                <a:solidFill>
                  <a:schemeClr val="dk1"/>
                </a:solidFill>
              </a:rPr>
              <a:t> Applying localized patches to the hallucinated code from fault information from previous modules.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Fault-Guided Prompting: </a:t>
            </a:r>
            <a:r>
              <a:rPr lang="en" sz="1600" dirty="0">
                <a:solidFill>
                  <a:schemeClr val="dk1"/>
                </a:solidFill>
              </a:rPr>
              <a:t>The detected hallucination type, fault hints, and relevant knowledge graph entries are provided to LLM for code correction.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Bounded Repair Attempts:</a:t>
            </a:r>
            <a:r>
              <a:rPr lang="en" sz="1600" dirty="0">
                <a:solidFill>
                  <a:schemeClr val="dk1"/>
                </a:solidFill>
              </a:rPr>
              <a:t>program repair is performed with a bounded number of attempts to ensure controlled behavior.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GT Verification:</a:t>
            </a:r>
            <a:r>
              <a:rPr lang="en" sz="1600" dirty="0">
                <a:solidFill>
                  <a:schemeClr val="dk1"/>
                </a:solidFill>
              </a:rPr>
              <a:t>Each candidate is then verified with Hallucination detection module. If verification fails after bounded attempts,it is marked as hard hallucination.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126B6B-7FAF-936D-7C0D-C90E15EFD3AD}"/>
              </a:ext>
            </a:extLst>
          </p:cNvPr>
          <p:cNvSpPr/>
          <p:nvPr/>
        </p:nvSpPr>
        <p:spPr>
          <a:xfrm>
            <a:off x="-53340" y="4899660"/>
            <a:ext cx="9244232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856FD-B837-1E3E-D7F1-977C5A902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4.Fine tuning using LoRA </a:t>
            </a:r>
            <a:endParaRPr sz="1900" b="1"/>
          </a:p>
        </p:txBody>
      </p:sp>
      <p:sp>
        <p:nvSpPr>
          <p:cNvPr id="196" name="Google Shape;196;p38"/>
          <p:cNvSpPr txBox="1">
            <a:spLocks noGrp="1"/>
          </p:cNvSpPr>
          <p:nvPr>
            <p:ph type="body" idx="1"/>
          </p:nvPr>
        </p:nvSpPr>
        <p:spPr>
          <a:xfrm>
            <a:off x="420300" y="580750"/>
            <a:ext cx="8723700" cy="4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Input</a:t>
            </a:r>
            <a:r>
              <a:rPr lang="en" sz="1600">
                <a:solidFill>
                  <a:schemeClr val="dk1"/>
                </a:solidFill>
              </a:rPr>
              <a:t>: Hallucination-aware code samples, including buggy code, diagnostic information, and   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repair outcomes, along with a frozen pre-trained LLM.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Output</a:t>
            </a:r>
            <a:r>
              <a:rPr lang="en" sz="1600">
                <a:solidFill>
                  <a:schemeClr val="dk1"/>
                </a:solidFill>
              </a:rPr>
              <a:t>:Client-specific LoRA adapters trained on hallucination aware datasets.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Methods: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Dataset Construction: </a:t>
            </a:r>
            <a:r>
              <a:rPr lang="en" sz="1500">
                <a:solidFill>
                  <a:schemeClr val="dk1"/>
                </a:solidFill>
              </a:rPr>
              <a:t>Construct structured dataset using problem description, buggy code, hallucination type, repairability flag and corrected code.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Low-Rank Decomposition: </a:t>
            </a:r>
            <a:r>
              <a:rPr lang="en" sz="1500">
                <a:solidFill>
                  <a:schemeClr val="dk1"/>
                </a:solidFill>
              </a:rPr>
              <a:t>Weight updates are parameterized using two low-rank matrices A and B, where the rank r is set to 8.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Attention Layer Injection:</a:t>
            </a:r>
            <a:r>
              <a:rPr lang="en" sz="1500">
                <a:solidFill>
                  <a:schemeClr val="dk1"/>
                </a:solidFill>
              </a:rPr>
              <a:t> LoRA modules are injected into the Query and Key projection matrices of each Transformer layer.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Parameter Isolation:</a:t>
            </a:r>
            <a:r>
              <a:rPr lang="en" sz="1500">
                <a:solidFill>
                  <a:schemeClr val="dk1"/>
                </a:solidFill>
              </a:rPr>
              <a:t> Original model weights remain frozen, and only LoRA parameters are made trainable.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Adapter Checkpointing:</a:t>
            </a:r>
            <a:r>
              <a:rPr lang="en" sz="1500">
                <a:solidFill>
                  <a:schemeClr val="dk1"/>
                </a:solidFill>
              </a:rPr>
              <a:t>Only trained LoRA adapter weights are saved and transmitted to the server, ensuring lightweight communication and privacy preservation.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	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	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F63ED-81F1-A185-9C1A-55D1DA58BFD1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A71592-BBFB-A9B9-DE96-5029813F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>
            <a:spLocks noGrp="1"/>
          </p:cNvSpPr>
          <p:nvPr>
            <p:ph type="title"/>
          </p:nvPr>
        </p:nvSpPr>
        <p:spPr>
          <a:xfrm>
            <a:off x="202950" y="7615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5.Federated Aggregation and Distribution</a:t>
            </a:r>
            <a:endParaRPr sz="1900" b="1"/>
          </a:p>
        </p:txBody>
      </p:sp>
      <p:sp>
        <p:nvSpPr>
          <p:cNvPr id="202" name="Google Shape;202;p39"/>
          <p:cNvSpPr txBox="1">
            <a:spLocks noGrp="1"/>
          </p:cNvSpPr>
          <p:nvPr>
            <p:ph type="body" idx="1"/>
          </p:nvPr>
        </p:nvSpPr>
        <p:spPr>
          <a:xfrm>
            <a:off x="420300" y="641950"/>
            <a:ext cx="8723700" cy="4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Input</a:t>
            </a:r>
            <a:r>
              <a:rPr lang="en" sz="1600">
                <a:solidFill>
                  <a:schemeClr val="dk1"/>
                </a:solidFill>
              </a:rPr>
              <a:t>: Client-side LoRA adapter weights,along with sample size.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Output</a:t>
            </a:r>
            <a:r>
              <a:rPr lang="en" sz="1600">
                <a:solidFill>
                  <a:schemeClr val="dk1"/>
                </a:solidFill>
              </a:rPr>
              <a:t>:Global LoRA adapter distributed to all participating clients.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Methods: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Adapter Collection:</a:t>
            </a:r>
            <a:r>
              <a:rPr lang="en" sz="1600">
                <a:solidFill>
                  <a:schemeClr val="dk1"/>
                </a:solidFill>
              </a:rPr>
              <a:t> LoRA adapter weights are collected from all participating clients after local fine-tuning.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Federated Averaging:</a:t>
            </a:r>
            <a:r>
              <a:rPr lang="en" sz="1600">
                <a:solidFill>
                  <a:schemeClr val="dk1"/>
                </a:solidFill>
              </a:rPr>
              <a:t>Client-side adapters are aggregated using the Federated Averaging (FedAvg) algorithm, where clients with larger sample sizes contribute proportionally higher weights to the global adapter.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Global Adapter Construction:</a:t>
            </a:r>
            <a:r>
              <a:rPr lang="en" sz="1600">
                <a:solidFill>
                  <a:schemeClr val="dk1"/>
                </a:solidFill>
              </a:rPr>
              <a:t>A global LoRA adapter is constructed by averaging the weighted client adapters while keeping the base model parameters frozen.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</a:rPr>
              <a:t>Adapter Distribution:</a:t>
            </a:r>
            <a:r>
              <a:rPr lang="en" sz="1600">
                <a:solidFill>
                  <a:schemeClr val="dk1"/>
                </a:solidFill>
              </a:rPr>
              <a:t>The aggregated global LoRA adapter is redistributed to all clients and combined with the shared base model for subsequent inference or further training rounds.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	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	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F5D337-080A-C199-465B-7B3CC8DD65C8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1B03BA-AE62-BA9C-6B2F-6E813D5A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5782" y="4812933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>
            <a:spLocks noGrp="1"/>
          </p:cNvSpPr>
          <p:nvPr>
            <p:ph type="title"/>
          </p:nvPr>
        </p:nvSpPr>
        <p:spPr>
          <a:xfrm>
            <a:off x="192075" y="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/>
              <a:t>6.Evaluation and analysis</a:t>
            </a:r>
            <a:endParaRPr sz="1900" b="1"/>
          </a:p>
        </p:txBody>
      </p:sp>
      <p:sp>
        <p:nvSpPr>
          <p:cNvPr id="208" name="Google Shape;208;p40"/>
          <p:cNvSpPr txBox="1">
            <a:spLocks noGrp="1"/>
          </p:cNvSpPr>
          <p:nvPr>
            <p:ph type="body" idx="1"/>
          </p:nvPr>
        </p:nvSpPr>
        <p:spPr>
          <a:xfrm>
            <a:off x="420300" y="319775"/>
            <a:ext cx="8723700" cy="47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Input</a:t>
            </a:r>
            <a:r>
              <a:rPr lang="en" sz="1600" dirty="0">
                <a:solidFill>
                  <a:schemeClr val="dk1"/>
                </a:solidFill>
              </a:rPr>
              <a:t>: Code generated by the base model and the federated LoRA-enhanced model across benchmark datasets.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Output</a:t>
            </a:r>
            <a:r>
              <a:rPr lang="en" sz="1600" dirty="0">
                <a:solidFill>
                  <a:schemeClr val="dk1"/>
                </a:solidFill>
              </a:rPr>
              <a:t>: Benchmark-wise evaluation.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Methods: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code-generation benchmarks including MBPP, HumanEval, DS-1000 are used here.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Functional Correctness (Pass@1):</a:t>
            </a:r>
            <a:r>
              <a:rPr lang="en" sz="1600" dirty="0">
                <a:solidFill>
                  <a:schemeClr val="dk1"/>
                </a:solidFill>
              </a:rPr>
              <a:t>The Pass@1 metric is used to measure functional correctness if code passes all unit tests on the first attempt.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Hallucination Detection Metrics:</a:t>
            </a:r>
            <a:r>
              <a:rPr lang="en" sz="1600" dirty="0">
                <a:solidFill>
                  <a:schemeClr val="dk1"/>
                </a:solidFill>
              </a:rPr>
              <a:t>Precision, Recall, and F1-score are computed based on oracle-validated hallucination labels to assess the accuracy of hallucination detection.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Code Similarity Analysis:</a:t>
            </a:r>
            <a:r>
              <a:rPr lang="en" sz="1600" dirty="0">
                <a:solidFill>
                  <a:schemeClr val="dk1"/>
                </a:solidFill>
              </a:rPr>
              <a:t>CodeBLEU is used as a secondary metric to measure syntactic and structural similarity between generated code and reference implementations.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Cross-Client Validation:</a:t>
            </a:r>
            <a:r>
              <a:rPr lang="en" sz="1600" dirty="0">
                <a:solidFill>
                  <a:schemeClr val="dk1"/>
                </a:solidFill>
              </a:rPr>
              <a:t>Cross-validation is performed across federated clients to evaluate generalization and robustness under heterogeneous data distributions.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 dirty="0">
                <a:solidFill>
                  <a:schemeClr val="dk1"/>
                </a:solidFill>
              </a:rPr>
              <a:t>Before–After Comparison:</a:t>
            </a:r>
            <a:r>
              <a:rPr lang="en" sz="1600" dirty="0">
                <a:solidFill>
                  <a:schemeClr val="dk1"/>
                </a:solidFill>
              </a:rPr>
              <a:t>Model performance is compared before and after LoRA fine-tuning to quantify improvements in correctness and hallucination reduction.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	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1BAF71-B3D6-A546-2872-64D3E0326647}"/>
              </a:ext>
            </a:extLst>
          </p:cNvPr>
          <p:cNvSpPr/>
          <p:nvPr/>
        </p:nvSpPr>
        <p:spPr>
          <a:xfrm>
            <a:off x="0" y="4907280"/>
            <a:ext cx="9190892" cy="236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D91FD8-9D0D-4589-F757-04E0BAA8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>
            <a:spLocks noGrp="1"/>
          </p:cNvSpPr>
          <p:nvPr>
            <p:ph type="title"/>
          </p:nvPr>
        </p:nvSpPr>
        <p:spPr>
          <a:xfrm>
            <a:off x="52888" y="872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/>
              <a:t>TIMELINE FOR COMPLETION OF MODULES</a:t>
            </a:r>
            <a:endParaRPr sz="1620" b="1"/>
          </a:p>
        </p:txBody>
      </p:sp>
      <p:sp>
        <p:nvSpPr>
          <p:cNvPr id="214" name="Google Shape;214;p41"/>
          <p:cNvSpPr/>
          <p:nvPr/>
        </p:nvSpPr>
        <p:spPr>
          <a:xfrm>
            <a:off x="5089555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41"/>
          <p:cNvSpPr/>
          <p:nvPr/>
        </p:nvSpPr>
        <p:spPr>
          <a:xfrm>
            <a:off x="6882362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41"/>
          <p:cNvSpPr/>
          <p:nvPr/>
        </p:nvSpPr>
        <p:spPr>
          <a:xfrm>
            <a:off x="1501807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1"/>
          <p:cNvSpPr/>
          <p:nvPr/>
        </p:nvSpPr>
        <p:spPr>
          <a:xfrm>
            <a:off x="1500588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41"/>
          <p:cNvSpPr/>
          <p:nvPr/>
        </p:nvSpPr>
        <p:spPr>
          <a:xfrm>
            <a:off x="1500588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endParaRPr/>
          </a:p>
        </p:txBody>
      </p:sp>
      <p:sp>
        <p:nvSpPr>
          <p:cNvPr id="219" name="Google Shape;219;p41"/>
          <p:cNvSpPr/>
          <p:nvPr/>
        </p:nvSpPr>
        <p:spPr>
          <a:xfrm>
            <a:off x="1500588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1"/>
          <p:cNvSpPr/>
          <p:nvPr/>
        </p:nvSpPr>
        <p:spPr>
          <a:xfrm>
            <a:off x="1500588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41"/>
          <p:cNvSpPr/>
          <p:nvPr/>
        </p:nvSpPr>
        <p:spPr>
          <a:xfrm>
            <a:off x="3295448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41"/>
          <p:cNvSpPr/>
          <p:nvPr/>
        </p:nvSpPr>
        <p:spPr>
          <a:xfrm>
            <a:off x="3294229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1"/>
          <p:cNvSpPr/>
          <p:nvPr/>
        </p:nvSpPr>
        <p:spPr>
          <a:xfrm>
            <a:off x="3294229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41"/>
          <p:cNvSpPr/>
          <p:nvPr/>
        </p:nvSpPr>
        <p:spPr>
          <a:xfrm>
            <a:off x="3294229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41"/>
          <p:cNvSpPr/>
          <p:nvPr/>
        </p:nvSpPr>
        <p:spPr>
          <a:xfrm>
            <a:off x="3295579" y="391435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41"/>
          <p:cNvSpPr/>
          <p:nvPr/>
        </p:nvSpPr>
        <p:spPr>
          <a:xfrm>
            <a:off x="1502830" y="1449659"/>
            <a:ext cx="17925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Q1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41"/>
          <p:cNvSpPr/>
          <p:nvPr/>
        </p:nvSpPr>
        <p:spPr>
          <a:xfrm>
            <a:off x="1502830" y="1757137"/>
            <a:ext cx="5970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41"/>
          <p:cNvSpPr/>
          <p:nvPr/>
        </p:nvSpPr>
        <p:spPr>
          <a:xfrm>
            <a:off x="2100319" y="1757137"/>
            <a:ext cx="5970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41"/>
          <p:cNvSpPr/>
          <p:nvPr/>
        </p:nvSpPr>
        <p:spPr>
          <a:xfrm>
            <a:off x="2697808" y="1757137"/>
            <a:ext cx="597000" cy="3075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41"/>
          <p:cNvSpPr/>
          <p:nvPr/>
        </p:nvSpPr>
        <p:spPr>
          <a:xfrm>
            <a:off x="3296475" y="1449659"/>
            <a:ext cx="17925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Q2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41"/>
          <p:cNvSpPr/>
          <p:nvPr/>
        </p:nvSpPr>
        <p:spPr>
          <a:xfrm>
            <a:off x="3296475" y="1757137"/>
            <a:ext cx="5970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41"/>
          <p:cNvSpPr/>
          <p:nvPr/>
        </p:nvSpPr>
        <p:spPr>
          <a:xfrm>
            <a:off x="3893964" y="1757137"/>
            <a:ext cx="5970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41"/>
          <p:cNvSpPr/>
          <p:nvPr/>
        </p:nvSpPr>
        <p:spPr>
          <a:xfrm>
            <a:off x="4491453" y="1757137"/>
            <a:ext cx="597000" cy="3075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41"/>
          <p:cNvSpPr/>
          <p:nvPr/>
        </p:nvSpPr>
        <p:spPr>
          <a:xfrm>
            <a:off x="5089424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1"/>
          <p:cNvSpPr/>
          <p:nvPr/>
        </p:nvSpPr>
        <p:spPr>
          <a:xfrm>
            <a:off x="5089555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1"/>
          <p:cNvSpPr/>
          <p:nvPr/>
        </p:nvSpPr>
        <p:spPr>
          <a:xfrm>
            <a:off x="5089555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41"/>
          <p:cNvSpPr/>
          <p:nvPr/>
        </p:nvSpPr>
        <p:spPr>
          <a:xfrm>
            <a:off x="5089555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41"/>
          <p:cNvSpPr/>
          <p:nvPr/>
        </p:nvSpPr>
        <p:spPr>
          <a:xfrm>
            <a:off x="5090451" y="1449659"/>
            <a:ext cx="17925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Q3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41"/>
          <p:cNvSpPr/>
          <p:nvPr/>
        </p:nvSpPr>
        <p:spPr>
          <a:xfrm>
            <a:off x="5090451" y="1757137"/>
            <a:ext cx="5970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5687940" y="1757137"/>
            <a:ext cx="5970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41"/>
          <p:cNvSpPr/>
          <p:nvPr/>
        </p:nvSpPr>
        <p:spPr>
          <a:xfrm>
            <a:off x="6285429" y="1757137"/>
            <a:ext cx="597000" cy="307500"/>
          </a:xfrm>
          <a:prstGeom prst="rect">
            <a:avLst/>
          </a:prstGeom>
          <a:solidFill>
            <a:srgbClr val="464646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6882362" y="2064622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41"/>
          <p:cNvSpPr/>
          <p:nvPr/>
        </p:nvSpPr>
        <p:spPr>
          <a:xfrm>
            <a:off x="6882493" y="2526976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1"/>
          <p:cNvSpPr/>
          <p:nvPr/>
        </p:nvSpPr>
        <p:spPr>
          <a:xfrm>
            <a:off x="6882362" y="2989499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41"/>
          <p:cNvSpPr/>
          <p:nvPr/>
        </p:nvSpPr>
        <p:spPr>
          <a:xfrm>
            <a:off x="6882362" y="3451853"/>
            <a:ext cx="1792500" cy="462900"/>
          </a:xfrm>
          <a:prstGeom prst="rect">
            <a:avLst/>
          </a:prstGeom>
          <a:solidFill>
            <a:srgbClr val="EDEDE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1"/>
          <p:cNvSpPr/>
          <p:nvPr/>
        </p:nvSpPr>
        <p:spPr>
          <a:xfrm>
            <a:off x="6883389" y="1449659"/>
            <a:ext cx="17925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Q4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6883389" y="1757137"/>
            <a:ext cx="5970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41"/>
          <p:cNvSpPr/>
          <p:nvPr/>
        </p:nvSpPr>
        <p:spPr>
          <a:xfrm>
            <a:off x="7480878" y="1757137"/>
            <a:ext cx="5970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IPS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41"/>
          <p:cNvSpPr/>
          <p:nvPr/>
        </p:nvSpPr>
        <p:spPr>
          <a:xfrm>
            <a:off x="8078367" y="1757137"/>
            <a:ext cx="597000" cy="307500"/>
          </a:xfrm>
          <a:prstGeom prst="rect">
            <a:avLst/>
          </a:prstGeom>
          <a:solidFill>
            <a:srgbClr val="50505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DOL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41"/>
          <p:cNvSpPr/>
          <p:nvPr/>
        </p:nvSpPr>
        <p:spPr>
          <a:xfrm rot="5400000" flipH="1">
            <a:off x="4116388" y="2335009"/>
            <a:ext cx="145800" cy="1775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41"/>
          <p:cNvSpPr/>
          <p:nvPr/>
        </p:nvSpPr>
        <p:spPr>
          <a:xfrm rot="5400000" flipH="1">
            <a:off x="3303601" y="3151368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3D3D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41"/>
          <p:cNvSpPr/>
          <p:nvPr/>
        </p:nvSpPr>
        <p:spPr>
          <a:xfrm rot="5400000" flipH="1">
            <a:off x="3534363" y="1285334"/>
            <a:ext cx="140700" cy="2945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41"/>
          <p:cNvSpPr/>
          <p:nvPr/>
        </p:nvSpPr>
        <p:spPr>
          <a:xfrm rot="5400000" flipH="1">
            <a:off x="2395113" y="2424325"/>
            <a:ext cx="141900" cy="6684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2F2F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41"/>
          <p:cNvSpPr/>
          <p:nvPr/>
        </p:nvSpPr>
        <p:spPr>
          <a:xfrm>
            <a:off x="486813" y="2526983"/>
            <a:ext cx="1014600" cy="4629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41"/>
          <p:cNvSpPr/>
          <p:nvPr/>
        </p:nvSpPr>
        <p:spPr>
          <a:xfrm>
            <a:off x="486813" y="2989504"/>
            <a:ext cx="1014600" cy="462900"/>
          </a:xfrm>
          <a:prstGeom prst="rect">
            <a:avLst/>
          </a:prstGeom>
          <a:solidFill>
            <a:srgbClr val="3D3D3D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r>
              <a:rPr lang="en"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41"/>
          <p:cNvSpPr/>
          <p:nvPr/>
        </p:nvSpPr>
        <p:spPr>
          <a:xfrm>
            <a:off x="486813" y="3451855"/>
            <a:ext cx="1014600" cy="462900"/>
          </a:xfrm>
          <a:prstGeom prst="rect">
            <a:avLst/>
          </a:prstGeom>
          <a:solidFill>
            <a:srgbClr val="41414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1"/>
          <p:cNvSpPr/>
          <p:nvPr/>
        </p:nvSpPr>
        <p:spPr>
          <a:xfrm>
            <a:off x="486813" y="3914359"/>
            <a:ext cx="1014600" cy="462900"/>
          </a:xfrm>
          <a:prstGeom prst="rect">
            <a:avLst/>
          </a:prstGeom>
          <a:solidFill>
            <a:srgbClr val="41414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1"/>
          <p:cNvSpPr/>
          <p:nvPr/>
        </p:nvSpPr>
        <p:spPr>
          <a:xfrm>
            <a:off x="486813" y="1449659"/>
            <a:ext cx="1014600" cy="1077900"/>
          </a:xfrm>
          <a:prstGeom prst="rect">
            <a:avLst/>
          </a:prstGeom>
          <a:solidFill>
            <a:srgbClr val="2F2F2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41"/>
          <p:cNvSpPr/>
          <p:nvPr/>
        </p:nvSpPr>
        <p:spPr>
          <a:xfrm rot="5400000" flipH="1">
            <a:off x="2913036" y="1109759"/>
            <a:ext cx="141600" cy="23721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41"/>
          <p:cNvSpPr/>
          <p:nvPr/>
        </p:nvSpPr>
        <p:spPr>
          <a:xfrm rot="5400000" flipH="1">
            <a:off x="1918137" y="1961309"/>
            <a:ext cx="141900" cy="669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2F2F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41"/>
          <p:cNvSpPr/>
          <p:nvPr/>
        </p:nvSpPr>
        <p:spPr>
          <a:xfrm>
            <a:off x="2086313" y="2273159"/>
            <a:ext cx="44700" cy="453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1"/>
          <p:cNvSpPr/>
          <p:nvPr/>
        </p:nvSpPr>
        <p:spPr>
          <a:xfrm>
            <a:off x="2961497" y="2273158"/>
            <a:ext cx="44700" cy="453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41"/>
          <p:cNvSpPr/>
          <p:nvPr/>
        </p:nvSpPr>
        <p:spPr>
          <a:xfrm rot="5400000" flipH="1">
            <a:off x="6514288" y="2793034"/>
            <a:ext cx="137400" cy="17820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1"/>
          <p:cNvSpPr/>
          <p:nvPr/>
        </p:nvSpPr>
        <p:spPr>
          <a:xfrm rot="5400000" flipH="1">
            <a:off x="5691925" y="3612734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1"/>
          <p:cNvSpPr txBox="1"/>
          <p:nvPr/>
        </p:nvSpPr>
        <p:spPr>
          <a:xfrm>
            <a:off x="8142151" y="4409255"/>
            <a:ext cx="526800" cy="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505050"/>
                </a:solidFill>
                <a:latin typeface="Roboto"/>
                <a:ea typeface="Roboto"/>
                <a:cs typeface="Roboto"/>
                <a:sym typeface="Roboto"/>
              </a:rPr>
              <a:t>LOREM</a:t>
            </a:r>
            <a:endParaRPr>
              <a:solidFill>
                <a:srgbClr val="505050"/>
              </a:solidFill>
            </a:endParaRPr>
          </a:p>
        </p:txBody>
      </p:sp>
      <p:sp>
        <p:nvSpPr>
          <p:cNvPr id="266" name="Google Shape;266;p41"/>
          <p:cNvSpPr/>
          <p:nvPr/>
        </p:nvSpPr>
        <p:spPr>
          <a:xfrm>
            <a:off x="8139617" y="4425358"/>
            <a:ext cx="66300" cy="57600"/>
          </a:xfrm>
          <a:prstGeom prst="triangle">
            <a:avLst>
              <a:gd name="adj" fmla="val 50000"/>
            </a:avLst>
          </a:prstGeom>
          <a:solidFill>
            <a:srgbClr val="505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1"/>
          <p:cNvSpPr/>
          <p:nvPr/>
        </p:nvSpPr>
        <p:spPr>
          <a:xfrm rot="5400000" flipH="1">
            <a:off x="7408988" y="2957584"/>
            <a:ext cx="141600" cy="2377200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41"/>
          <p:cNvSpPr/>
          <p:nvPr/>
        </p:nvSpPr>
        <p:spPr>
          <a:xfrm rot="5400000" flipH="1">
            <a:off x="6291200" y="4075509"/>
            <a:ext cx="141300" cy="1413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12" y="486640"/>
            <a:ext cx="8368775" cy="4248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02EAA37-3BFD-0A03-BF8E-95733DA8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7238" y="4874346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59D6B-3D2F-BE30-B603-5BF365F12FE4}"/>
              </a:ext>
            </a:extLst>
          </p:cNvPr>
          <p:cNvSpPr txBox="1"/>
          <p:nvPr/>
        </p:nvSpPr>
        <p:spPr>
          <a:xfrm>
            <a:off x="2408203" y="4734832"/>
            <a:ext cx="4594032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Fig.3 Federated learning + </a:t>
            </a:r>
            <a:r>
              <a:rPr lang="en-US" sz="14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LoRA</a:t>
            </a:r>
            <a:r>
              <a:rPr lang="en-US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fine-tuning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buNone/>
            </a:pPr>
            <a:r>
              <a:rPr lang="en-IN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/>
              <a:t>REFERENCE</a:t>
            </a:r>
            <a:endParaRPr sz="1620" b="1"/>
          </a:p>
        </p:txBody>
      </p:sp>
      <p:sp>
        <p:nvSpPr>
          <p:cNvPr id="275" name="Google Shape;275;p42"/>
          <p:cNvSpPr txBox="1"/>
          <p:nvPr/>
        </p:nvSpPr>
        <p:spPr>
          <a:xfrm>
            <a:off x="357675" y="558450"/>
            <a:ext cx="8096400" cy="40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[1] B. Yang, J. Dang, H. Liu and Z. Jin, "Advancing LLM-Generated Code Reliability: A Hybrid Approach for Hallucination Detection" in IEEE Transactions on Software Engineering, vol. , no. 01, pp. 1-17, PrePrints 5555, doi: 10.1109/TSE.2025.3640641.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[2] S. Fakhoury, A. Naik, G. Sakkas, S. Chakraborty and S. K. Lahiri, "LLM-Based Test-Driven Interactive Code Generation: User Study and Empirical Evaluation," in </a:t>
            </a:r>
            <a:r>
              <a:rPr lang="en" sz="1200" i="1" dirty="0">
                <a:solidFill>
                  <a:schemeClr val="dk1"/>
                </a:solidFill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</a:rPr>
              <a:t>, vol. 50, no. 9, pp. 2254-2268, Sept. 2024, doi: 10.1109/TSE.2024.3428972.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[3] J. Chen, Z. Cai, W. Chen, W. Wang, Z. Zheng and P. S. Yu, "A Federated Adaptive Large Language Model Fine-Tuning Framework for Software Development," in </a:t>
            </a:r>
            <a:r>
              <a:rPr lang="en" sz="1200" i="1" dirty="0">
                <a:solidFill>
                  <a:schemeClr val="dk1"/>
                </a:solidFill>
              </a:rPr>
              <a:t>IEEE Transactions on Services Computing</a:t>
            </a:r>
            <a:r>
              <a:rPr lang="en" sz="1200" dirty="0">
                <a:solidFill>
                  <a:schemeClr val="dk1"/>
                </a:solidFill>
              </a:rPr>
              <a:t>, doi: 10.1109/TSC.2025.3623626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[4] M. Nashaat and J. Miller, "Towards Efficient Fine-Tuning of Language Models With Organizational Data for Automated Software Review," in </a:t>
            </a:r>
            <a:r>
              <a:rPr lang="en" sz="1200" i="1" dirty="0">
                <a:solidFill>
                  <a:schemeClr val="dk1"/>
                </a:solidFill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</a:rPr>
              <a:t>, vol. 50, no. 9, pp. 2240-2253, Sept. 2024, doi: 10.1109/TSE.2024.3428324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[5] R. Khojah, F. G. de Oliveira Neto, M. Mohamad and P. Leitner, "The Impact of Prompt Programming on Function-Level Code Generation," in </a:t>
            </a:r>
            <a:r>
              <a:rPr lang="en" sz="1200" i="1" dirty="0">
                <a:solidFill>
                  <a:schemeClr val="dk1"/>
                </a:solidFill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</a:rPr>
              <a:t>, vol. 51, no. 8, pp. 2381-2395, Aug. 2025, doi: 10.1109/TSE.2025.3587794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01E48B-87A2-2BCF-E349-A9BD23A6C061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99B3B4-0693-4394-8204-0345F0F0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3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/>
              <a:t>REFERENCE</a:t>
            </a:r>
            <a:endParaRPr sz="1620" b="1"/>
          </a:p>
        </p:txBody>
      </p:sp>
      <p:sp>
        <p:nvSpPr>
          <p:cNvPr id="281" name="Google Shape;281;p43"/>
          <p:cNvSpPr txBox="1"/>
          <p:nvPr/>
        </p:nvSpPr>
        <p:spPr>
          <a:xfrm>
            <a:off x="357675" y="558450"/>
            <a:ext cx="8096400" cy="4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[6] Q. Wang, C. Li, Y. Liu, Q. Zhu, J. Song and T. Shen, "An Adaptive Framework Embedded With LLM for Knowledge Graph Construction," in </a:t>
            </a:r>
            <a:r>
              <a:rPr lang="en" sz="1200" i="1" dirty="0">
                <a:solidFill>
                  <a:schemeClr val="dk1"/>
                </a:solidFill>
              </a:rPr>
              <a:t>IEEE Transactions on Multimedia</a:t>
            </a:r>
            <a:r>
              <a:rPr lang="en" sz="1200" dirty="0">
                <a:solidFill>
                  <a:schemeClr val="dk1"/>
                </a:solidFill>
              </a:rPr>
              <a:t>, vol. 27, pp. 2912-2923, 2025, doi: 10.1109/TMM.2025.3557717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[7] X. Yu, L. Liu, X. Hu, J. W. Keung, J. Liu and X. Xia, "Fight Fire With Fire: How Much Can We Trust ChatGPT on Source Code-Related Tasks?," in </a:t>
            </a:r>
            <a:r>
              <a:rPr lang="en" sz="1200" i="1" dirty="0">
                <a:solidFill>
                  <a:schemeClr val="dk1"/>
                </a:solidFill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</a:rPr>
              <a:t>, vol. 50, no. 12, pp. 3435-3453, Dec. 2024, doi: 10.1109/TSE.2024.3492204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[8] X. Yi, C. Hu, B. Cai, H. Huang, Y. Chen and K. Wang, "FedALoRA: Adaptive Local LoRA Aggregation for Personalized Federated Learning in LLM," in </a:t>
            </a:r>
            <a:r>
              <a:rPr lang="en" sz="1200" i="1" dirty="0">
                <a:solidFill>
                  <a:schemeClr val="dk1"/>
                </a:solidFill>
              </a:rPr>
              <a:t>IEEE Internet of Things Journal</a:t>
            </a:r>
            <a:r>
              <a:rPr lang="en" sz="1200" dirty="0">
                <a:solidFill>
                  <a:schemeClr val="dk1"/>
                </a:solidFill>
              </a:rPr>
              <a:t>, vol. 12, no. 24, pp. 51854-51865, 15 Dec.15, 2025, doi: 10.1109/JIOT.2025.3582427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[9] Z. Liu, Y. Tang, X. Luo, Y. Zhou and L. F. Zhang, "No Need to Lift a Finger Anymore? Assessing the Quality of Code Generation by ChatGPT," in </a:t>
            </a:r>
            <a:r>
              <a:rPr lang="en" sz="1200" i="1" dirty="0">
                <a:solidFill>
                  <a:schemeClr val="dk1"/>
                </a:solidFill>
              </a:rPr>
              <a:t>IEEE Transactions on Software Engineering</a:t>
            </a:r>
            <a:r>
              <a:rPr lang="en" sz="1200" dirty="0">
                <a:solidFill>
                  <a:schemeClr val="dk1"/>
                </a:solidFill>
              </a:rPr>
              <a:t>, vol. 50, no. 6, pp. 1548-1584, June 2024, doi: 10.1109/TSE.2024.3392499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[10] S. Ouyang, J. M. Zhang, Z. Sun and A. M. Penuela, "Knowledge-Enhanced Program Repair for Data Science Code," in 2025 IEEE/ACM 47th International Conference on Software Engineering (ICSE), Ottawa, ON, Canada, 2025, pp. 898-910, doi: 10.1109/ICSE55347.2025.00246.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0F5BB5-7582-8009-95B3-892C991DC818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2807D-FBEA-42BB-AD63-CB591C89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>
            <a:spLocks noGrp="1"/>
          </p:cNvSpPr>
          <p:nvPr>
            <p:ph type="title"/>
          </p:nvPr>
        </p:nvSpPr>
        <p:spPr>
          <a:xfrm>
            <a:off x="43500" y="65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 b="1"/>
              <a:t>REFERENCE</a:t>
            </a:r>
            <a:endParaRPr sz="1620" b="1"/>
          </a:p>
        </p:txBody>
      </p:sp>
      <p:sp>
        <p:nvSpPr>
          <p:cNvPr id="287" name="Google Shape;287;p44"/>
          <p:cNvSpPr txBox="1"/>
          <p:nvPr/>
        </p:nvSpPr>
        <p:spPr>
          <a:xfrm>
            <a:off x="357675" y="732850"/>
            <a:ext cx="80964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[11] J. Liu, Y. Zhang, D. Wang, Y. Li and W. Dong, "THINK: Tackling API Hallucinations in LLMs via Injecting Knowledge," </a:t>
            </a:r>
            <a:r>
              <a:rPr lang="en" sz="1200" i="1" dirty="0">
                <a:solidFill>
                  <a:schemeClr val="dk1"/>
                </a:solidFill>
              </a:rPr>
              <a:t>2025 IEEE International Conference on Software Analysis, Evolution and Reengineering (SANER)</a:t>
            </a:r>
            <a:r>
              <a:rPr lang="en" sz="1200" dirty="0">
                <a:solidFill>
                  <a:schemeClr val="dk1"/>
                </a:solidFill>
              </a:rPr>
              <a:t>, Montreal, QC, Canada, 2025, pp. 229-240, doi: 10.1109/SANER64311.2025.00029.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[12] H. Zhang, Q. Yan, W. Min, C. Zhang, L. Kuang and Y. Xia, "EvoAPR: Enhancing Large Language Models for Automatic Program Repair with Genetic Algorithm and Dynamic LoRA," </a:t>
            </a:r>
            <a:r>
              <a:rPr lang="en" sz="1200" i="1" dirty="0">
                <a:solidFill>
                  <a:schemeClr val="dk1"/>
                </a:solidFill>
              </a:rPr>
              <a:t>2025 IEEE International Conference on Web Services (ICWS)</a:t>
            </a:r>
            <a:r>
              <a:rPr lang="en" sz="1200" dirty="0">
                <a:solidFill>
                  <a:schemeClr val="dk1"/>
                </a:solidFill>
              </a:rPr>
              <a:t>, Helsinki, Finland, 2025, pp. 946-956, doi: 10.1109/ICWS67624.2025.00123.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[13] X. Yi, C. Hu, B. Cai, H. Huang, Y. Chen and K. Wang, "FedALoRA: Adaptive Local LoRA Aggregation for Personalized Federated Learning in LLM," in </a:t>
            </a:r>
            <a:r>
              <a:rPr lang="en" sz="1200" i="1" dirty="0">
                <a:solidFill>
                  <a:schemeClr val="dk1"/>
                </a:solidFill>
              </a:rPr>
              <a:t>IEEE Internet of Things Journal</a:t>
            </a:r>
            <a:r>
              <a:rPr lang="en" sz="1200" dirty="0">
                <a:solidFill>
                  <a:schemeClr val="dk1"/>
                </a:solidFill>
              </a:rPr>
              <a:t>, vol. 12, no. 24, pp. 51854-51865, 15 Dec.15, 2025, doi: 10.1109/JIOT.2025.3582427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BAA438-3A28-B6E8-51AD-06BFE843BA8C}"/>
              </a:ext>
            </a:extLst>
          </p:cNvPr>
          <p:cNvSpPr/>
          <p:nvPr/>
        </p:nvSpPr>
        <p:spPr>
          <a:xfrm>
            <a:off x="0" y="4838700"/>
            <a:ext cx="9190892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A786E8-CB83-1655-EC66-3A251ED3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7850" y="4852312"/>
            <a:ext cx="1312025" cy="365125"/>
          </a:xfrm>
        </p:spPr>
        <p:txBody>
          <a:bodyPr>
            <a:normAutofit fontScale="77500" lnSpcReduction="20000"/>
          </a:bodyPr>
          <a:lstStyle/>
          <a:p>
            <a:fld id="{F63EB51A-F9B6-45F0-8887-5B0FD7750ACD}" type="slidenum">
              <a:rPr 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4366</Words>
  <Application>Microsoft Office PowerPoint</Application>
  <PresentationFormat>On-screen Show (16:9)</PresentationFormat>
  <Paragraphs>457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Roboto</vt:lpstr>
      <vt:lpstr>Times New Roman</vt:lpstr>
      <vt:lpstr>Roboto Mono</vt:lpstr>
      <vt:lpstr>Simple Light</vt:lpstr>
      <vt:lpstr>Federated Learning for Code Generation with Hallucination-Aware Fine Tuning </vt:lpstr>
      <vt:lpstr>INTRODUCTION</vt:lpstr>
      <vt:lpstr>PROBLEM STATEMENT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METHODS/MODULES USED 1.Problem ingestion and code generation</vt:lpstr>
      <vt:lpstr>2.Hallucination detection</vt:lpstr>
      <vt:lpstr>3.Automatic program repair module</vt:lpstr>
      <vt:lpstr>4.Fine tuning using LoRA </vt:lpstr>
      <vt:lpstr>5.Federated Aggregation and Distribution</vt:lpstr>
      <vt:lpstr>6.Evaluation and analysis</vt:lpstr>
      <vt:lpstr>TIMELINE FOR COMPLETION OF MODULES</vt:lpstr>
      <vt:lpstr>REFERENCE</vt:lpstr>
      <vt:lpstr>REFERENCE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PRABHAKARA ARJUN R</cp:lastModifiedBy>
  <cp:revision>20</cp:revision>
  <dcterms:modified xsi:type="dcterms:W3CDTF">2026-01-23T05:24:23Z</dcterms:modified>
</cp:coreProperties>
</file>