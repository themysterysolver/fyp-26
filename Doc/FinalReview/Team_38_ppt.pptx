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79" r:id="rId9"/>
    <p:sldId id="280" r:id="rId10"/>
    <p:sldId id="281" r:id="rId11"/>
    <p:sldId id="282" r:id="rId12"/>
    <p:sldId id="306" r:id="rId13"/>
    <p:sldId id="307" r:id="rId14"/>
    <p:sldId id="283" r:id="rId15"/>
    <p:sldId id="289" r:id="rId16"/>
    <p:sldId id="290" r:id="rId17"/>
    <p:sldId id="294" r:id="rId18"/>
    <p:sldId id="301" r:id="rId19"/>
    <p:sldId id="297" r:id="rId20"/>
    <p:sldId id="308" r:id="rId21"/>
    <p:sldId id="309" r:id="rId22"/>
    <p:sldId id="310" r:id="rId23"/>
    <p:sldId id="311" r:id="rId24"/>
    <p:sldId id="314" r:id="rId25"/>
    <p:sldId id="312" r:id="rId26"/>
    <p:sldId id="303" r:id="rId27"/>
    <p:sldId id="304" r:id="rId28"/>
    <p:sldId id="305" r:id="rId29"/>
    <p:sldId id="313" r:id="rId30"/>
    <p:sldId id="315" r:id="rId31"/>
    <p:sldId id="316" r:id="rId32"/>
    <p:sldId id="318" r:id="rId33"/>
    <p:sldId id="317" r:id="rId34"/>
    <p:sldId id="319" r:id="rId35"/>
    <p:sldId id="320" r:id="rId36"/>
    <p:sldId id="262" r:id="rId37"/>
    <p:sldId id="263" r:id="rId38"/>
    <p:sldId id="264" r:id="rId39"/>
    <p:sldId id="265" r:id="rId40"/>
    <p:sldId id="266" r:id="rId41"/>
    <p:sldId id="267" r:id="rId42"/>
    <p:sldId id="268" r:id="rId43"/>
    <p:sldId id="269" r:id="rId44"/>
    <p:sldId id="270" r:id="rId45"/>
    <p:sldId id="271" r:id="rId46"/>
    <p:sldId id="272" r:id="rId47"/>
    <p:sldId id="273" r:id="rId48"/>
    <p:sldId id="274" r:id="rId49"/>
    <p:sldId id="284" r:id="rId50"/>
    <p:sldId id="285" r:id="rId51"/>
    <p:sldId id="286" r:id="rId52"/>
    <p:sldId id="287" r:id="rId5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55"/>
    </p:embeddedFont>
    <p:embeddedFont>
      <p:font typeface="Roboto" panose="02000000000000000000" pitchFamily="2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B37524-8608-4B16-BC45-35DD96E42492}">
  <a:tblStyle styleId="{73B37524-8608-4B16-BC45-35DD96E424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1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7b5b97c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7b5b97c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7b5b97c7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7b5b97c7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7b5b97c7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7b5b97c7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754ac20c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754ac20cb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5be15748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5be15748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754ac20c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754ac20c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5be15748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5be15748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5be15748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5be15748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5be15748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5be15748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783BC59C-21E2-2416-760C-1FC52A70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78B148B8-499C-00E3-8769-3E92016A5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B1CC4C2F-57A9-C4A1-CE0E-D5837FA66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9462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C3FA156-32CD-DEFD-0271-A3725F78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4081558C-BFF5-4CBD-9F50-AD80E8AFC1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9A4C7C9-1A3F-43CC-51BA-672F41180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42833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4C23B89-638E-FF35-543A-043B5A9A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634361C8-9A4A-B140-23E5-2A65D7377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71247A57-D005-B46D-E511-355DCE44E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66031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F129146-6985-08F6-D021-A70681C54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96131AE2-9987-2916-DDF4-DEA86F472D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88D6763D-072C-B9A5-9074-837FE505B7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56782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222B632-BEA8-8443-F198-C3C5292CB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3EB42F17-4879-6F22-E66D-7B7F7D88D7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560DE64C-609D-0F47-A504-6F5F449F9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61822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30EDC03-35F6-8AE2-D1F9-4B4AFB4EC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24B3146A-2A04-465C-1776-4006B144F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85994695-A757-C959-EB39-65498AF99E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1963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5D49ACF-F791-A125-BBE0-ECFA1EEF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F3AC916D-007D-0ECE-0F7F-9190916B6D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9074344C-302E-F4E0-C017-4EF1F2D0CF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560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BF0CF6C-E587-1BCC-1BCF-7D02D514E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5478B759-EBE2-7771-F590-0E1A7BF490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77966F0C-1001-FA96-E24F-CE94BA6CE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4126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9925C98-4C9B-8893-B47D-B4E9AA95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DA6CED71-79FC-088B-7167-D6435F744D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034AEBEE-4DA8-A29A-F0E2-1E014649BD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6624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FA1A6EA-1FCF-5477-FE56-5CB74F828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0E0ED4A9-CCFC-1928-ADDC-D67D619D5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8242E3E3-1692-0432-B1C1-EEED0919C1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85464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9A1D81A9-B1A1-EBA9-ABBA-67CAF0586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889BC96E-D540-FBEB-3175-67AEC4EF01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8DD468C8-D80B-0AE1-59D0-D5701B400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78708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19324F3-552E-EEAE-D6F1-59D580B8A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514DD0D3-2AA0-B5D6-5FF4-E25098D3F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B8D61F12-528B-A057-CFF1-E4F503DC2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16995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0453F19E-9035-8190-F180-73613D126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939CD071-F283-FD45-743B-F33FB7809E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D39F3CB9-19A3-CAAC-0D5A-40DF6E76A8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65739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9E4F6223-891D-99C2-34EF-586A9532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>
            <a:extLst>
              <a:ext uri="{FF2B5EF4-FFF2-40B4-BE49-F238E27FC236}">
                <a16:creationId xmlns:a16="http://schemas.microsoft.com/office/drawing/2014/main" id="{0FA2421F-C748-0636-20E3-CC131B1D6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>
            <a:extLst>
              <a:ext uri="{FF2B5EF4-FFF2-40B4-BE49-F238E27FC236}">
                <a16:creationId xmlns:a16="http://schemas.microsoft.com/office/drawing/2014/main" id="{86217AB7-C6D1-99CF-BEED-78714DC049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2531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1B30B2D8-FD64-D66E-0905-550FB85E9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>
            <a:extLst>
              <a:ext uri="{FF2B5EF4-FFF2-40B4-BE49-F238E27FC236}">
                <a16:creationId xmlns:a16="http://schemas.microsoft.com/office/drawing/2014/main" id="{B1769B33-99E9-4117-83BC-37B760152B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>
            <a:extLst>
              <a:ext uri="{FF2B5EF4-FFF2-40B4-BE49-F238E27FC236}">
                <a16:creationId xmlns:a16="http://schemas.microsoft.com/office/drawing/2014/main" id="{89A06D46-696C-3C5A-02F7-67FB68CF3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9634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71F704F-090E-0D72-D121-8B8095162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BB82282D-5990-45F7-5560-5ECA6C7DF5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EA80BE9-87CC-8C8E-97F7-479663D85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35605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724D730B-AE2A-2B34-4BFA-4BE66C739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C58079A2-ADD7-7B7E-686C-3BD6EB7C50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33A1652-81DF-D69B-EE1A-3F77353D0D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70459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B0EB8F3-1058-36D9-FC6B-37FFF214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F5950A59-9CAB-49E1-F5FF-027B57A921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823B3F2-DB16-D08A-B28D-77505B74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0831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FA93F7D-785E-90CB-F72F-95C49781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958B8F85-48AE-C2BC-12B4-00D2A9F840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767A23A5-50A7-9221-F0AD-7F6166CD63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78152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9D08C966-57E6-5003-1212-150D8B0AE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69DBE811-E428-C22E-0E8B-3DE0A61312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329A1BB6-BC78-16D8-9F00-43E9CB0461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9163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C5D6704-F978-3243-23D8-000EB6059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D6AE7A40-BBE4-4CD2-95BA-23940856B8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1DD293A3-08E9-E539-5004-1450FC4383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32990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D8C41C3-CB24-32A0-BCAD-5035C8255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8DF5EAB5-2A20-E3E4-8073-87B4A85A61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2B8CA785-D255-6D1D-78C6-8F2942CBAB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28397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2523237-93E9-632E-1E17-A885307C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E38FC7A8-58FC-E71F-D832-687A68CADC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6CFE63F3-4CAB-2779-4F5E-DF5394D742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98202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7b5b97c7c_0_1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7b5b97c7c_0_1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7b5b97c7c_0_1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7b5b97c7c_0_1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7b5b97c7c_0_1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7b5b97c7c_0_1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7b5b97c7c_0_1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7b5b97c7c_0_1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7b5b97c7c_0_1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7b5b97c7c_0_1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7b5b97c7c_0_1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7b5b97c7c_0_1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7b5b97c7c_0_1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7b5b97c7c_0_1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7b5b97c7c_0_1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7b5b97c7c_0_1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85a0414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85a0414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85a0414e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85a0414e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85a0414e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85a0414e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85a0414e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85a0414e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85a0414e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85a0414e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7b5b97c7c_0_10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7b5b97c7c_0_10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85a0414e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b85a0414e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abff5344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babff5344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abff5344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babff5344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B8B670-62CD-5B56-BF4D-7F23D590A3E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279400" marR="635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for Code Generation with Hallucination-Aware Fine Tuning</a:t>
            </a:r>
            <a:endParaRPr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79" y="3679587"/>
            <a:ext cx="2974875" cy="105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BF0FC89-364A-B060-FD66-D0ABA636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E93A0-171F-26CD-CDF3-E083911A513F}"/>
              </a:ext>
            </a:extLst>
          </p:cNvPr>
          <p:cNvSpPr txBox="1"/>
          <p:nvPr/>
        </p:nvSpPr>
        <p:spPr>
          <a:xfrm>
            <a:off x="2725615" y="1062382"/>
            <a:ext cx="3739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CS6811 – Project Work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80D0B-7259-0BDE-42B1-D560F27479CB}"/>
              </a:ext>
            </a:extLst>
          </p:cNvPr>
          <p:cNvSpPr txBox="1"/>
          <p:nvPr/>
        </p:nvSpPr>
        <p:spPr>
          <a:xfrm>
            <a:off x="7039778" y="3734718"/>
            <a:ext cx="1792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Thanasekhar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Technology, MIT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163100" y="108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 dirty="0"/>
              <a:t>INTRODUCTION</a:t>
            </a:r>
            <a:endParaRPr sz="1720" b="1"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248700" y="681450"/>
            <a:ext cx="8895300" cy="4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have  remarkable capabilities in code generation ,enabling automated solutions to a wide range of software engineering tasks.</a:t>
            </a: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However  LLMs frequently suffer from hallucinations in code generation, producing syntactically valid but semantically incorrect programs, non-existent APIs, or logically flawed implementations.</a:t>
            </a: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to mitigating code hallucinations primarily rely on prompt engineering, repeated sampling, or full model fine-tuning.</a:t>
            </a: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 fine-tuning is computationally expensive and impractical in low-resource or decentralized settings, and repeated sampling does not address the underlying causes and mitigation of hallucination.</a:t>
            </a: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development environments, code generation systems are often deployed across multiple decentralized clients where data cannot be centrally aggregated due to privacy, ownership.</a:t>
            </a: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these limitations we propose a hallucination-aware code generation framework that combines program analysis, targeted automatic program repair, and federated parameter-efficient fine-tuning using </a:t>
            </a:r>
            <a:r>
              <a:rPr lang="en-US" sz="136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36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C85887-3AF5-B7BF-F37B-DF5D5B29410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3109946-00BA-10F5-050F-85C317F8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124350" y="10725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17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24350" y="316523"/>
            <a:ext cx="8895300" cy="46248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Code generation using large language models (LLMs) is currently hindered by hallucinations. Existing mitigation strategies typically rely on supervised fine-tuning or reinforcement learning from human feedback (RLHF), where models are trained to align with human preferences .While parameter-efficient fine-tuning methods such as LoRA reduce computational overhead compared to full fine-tuning, both approaches primarily optimize model behavior but without explicit verification of program correctness. As a result, these methods may improve correctness but often fail to systematically detect and correct deeper structural, semantic, and execution-level errors in generated code.</a:t>
            </a:r>
            <a:endParaRPr sz="1388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Furthermore, in real world scenarios, high-quality code and execution feedback are distributed across multiple organizations making centralized data collection infeasible due to privacy concerns. Without a secure and decentralized learning mechanism, models are unable to effectively learn from diverse hallucination patterns observed across clients. This creates a critical gap for a unified framework that integrates explicit hallucination detection and automated program verification with privacy-preserving, parameter-efficient adaptation to improve the quality of code generation .</a:t>
            </a:r>
            <a:endParaRPr sz="1388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1075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768264-C0F3-1231-F996-DD7CC1B12AA8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6BAA4D4-6C1C-EB49-40FE-BF3E2415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81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17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F0B119-3AAD-D2FF-D013-2AD7FC43E74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2E21217-6E82-46C8-71AE-06EEB751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AE77B9-6F62-D285-F536-1B50BBC6B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146" y="768200"/>
            <a:ext cx="8520600" cy="3416400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17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To. Develop a federated learning framework for LLM-based code generation using </a:t>
            </a:r>
            <a:r>
              <a:rPr lang="en-IN" sz="1388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enabling decentralized training across clients while preserving privacy and reducing computational overhead.</a:t>
            </a:r>
          </a:p>
          <a:p>
            <a:pPr marL="285750" indent="-285750">
              <a:lnSpc>
                <a:spcPct val="17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hallucination-aware pipeline that detects and classifies code errors using static analysis (AST, LIB/API) and dynamic execution, forming a structured fault taxonomy.</a:t>
            </a:r>
          </a:p>
          <a:p>
            <a:pPr marL="285750" indent="-285750">
              <a:lnSpc>
                <a:spcPct val="17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 Fed-Error Average, an error-aware aggregation strategy that weights client updates based on hallucination error distributions to handle heterogeneous, non-IID data.</a:t>
            </a:r>
          </a:p>
          <a:p>
            <a:pPr marL="285750" indent="-285750">
              <a:lnSpc>
                <a:spcPct val="17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framework on </a:t>
            </a:r>
            <a:r>
              <a:rPr lang="en-IN" sz="1388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HumanEval</a:t>
            </a: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MBPP, and DS-1000 using Pass@1 and </a:t>
            </a:r>
            <a:r>
              <a:rPr lang="en-IN" sz="1388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CodeBLEU</a:t>
            </a: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metrics to validate improvements in functional correctness and hallucination reduction.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6C8BF9-75E2-B7B2-ECF0-9A40F06A8B7D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1"/>
          </p:nvPr>
        </p:nvSpPr>
        <p:spPr>
          <a:xfrm>
            <a:off x="163932" y="456274"/>
            <a:ext cx="55653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2332744" y="3401646"/>
            <a:ext cx="6307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Fig1. Client side hallucination detection and mitigation framework</a:t>
            </a:r>
            <a:endParaRPr sz="1200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8B23330-663D-1AEF-F51C-EE96C793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A2E8C-1D91-BF38-1B45-1241B0035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79" y="1628423"/>
            <a:ext cx="7784782" cy="1419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subTitle" idx="1"/>
          </p:nvPr>
        </p:nvSpPr>
        <p:spPr>
          <a:xfrm>
            <a:off x="85350" y="155452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2549032" y="4041914"/>
            <a:ext cx="6307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2. Federated learning + LoRA for fine-tuning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6BB976-DEB5-A5C2-93C1-523D90EC7116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CED99A-9F58-45EF-73A3-80A411D1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E2ED85-C2F8-4DC0-A777-61E7B6598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929" y="772620"/>
            <a:ext cx="4564380" cy="31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128588" y="63112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8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METHODS/MODULES USED</a:t>
            </a:r>
            <a:endParaRPr sz="178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1.Problem ingestion and code generation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Google Shape;178;p35"/>
          <p:cNvSpPr txBox="1">
            <a:spLocks noGrp="1"/>
          </p:cNvSpPr>
          <p:nvPr>
            <p:ph type="body" idx="1"/>
          </p:nvPr>
        </p:nvSpPr>
        <p:spPr>
          <a:xfrm>
            <a:off x="444092" y="813112"/>
            <a:ext cx="8746800" cy="48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Benchmark code-generation datasets.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:Initial LLM-generated code solutions (potentially containing hallucinations).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Loading: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 code-generation datasets including MBPP, HumanEval, and DS-1000 are loaded using the Hugging Face library.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Client-wise Dataset Allocation: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federated client is assigned a distinct dataset or dataset subset to simulate heterogeneous behaviour.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Specification Construction: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task, structured inputs consisting of the problem statement, function signature, constraints is constructed.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Single-Shot Prompting: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 is performed using a single-shot prompting strategy, where the model receives the task specification without iterative refinement.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Inference: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frozen Qwen2.5-Coder-1.5B pretrained model is used to generate initial code outputs, which may contain hallucinations and serve as baseline for downstream analysis.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158527-112C-4FBE-D52C-38F0198A80FF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2B8F1C5-C050-FEF3-3944-3AF236AC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2.Hallucination detection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Google Shape;184;p36"/>
          <p:cNvSpPr txBox="1">
            <a:spLocks noGrp="1"/>
          </p:cNvSpPr>
          <p:nvPr>
            <p:ph type="body" idx="1"/>
          </p:nvPr>
        </p:nvSpPr>
        <p:spPr>
          <a:xfrm>
            <a:off x="459263" y="667095"/>
            <a:ext cx="8814000" cy="43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LLM-generated code obtained from the code generation module.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:Detected hallucination types along with structured diagnostic information.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 Construction and Analysis: 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Syntax Tree (AST) is constructed and analyzed to detect syntax errors, undefined variables, and invalid language constructs.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 analysis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We use ast to check if each methods,functions align with the library in static setup.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Analysis: 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test cases are executed on the code to detect runtime errors and semantic hallucinations.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Labeling: 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Detected errors are categorized into different hallucination types, and the resulting information is recorded for dataset construction during fine-tuning.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CFC8F1-C376-EDC8-EA17-FAC3823E541F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9ACE23-3038-F57B-4AEC-D110BEB5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3.Dataset creation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Google Shape;190;p37"/>
          <p:cNvSpPr txBox="1">
            <a:spLocks noGrp="1"/>
          </p:cNvSpPr>
          <p:nvPr>
            <p:ph type="body" idx="1"/>
          </p:nvPr>
        </p:nvSpPr>
        <p:spPr>
          <a:xfrm>
            <a:off x="377100" y="613258"/>
            <a:ext cx="8766900" cy="45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Buggy code, detected hallucination type, fault infomration.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:Final dataset for fine-tuning using LoRA at each client.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23850">
              <a:buClr>
                <a:schemeClr val="dk1"/>
              </a:buClr>
              <a:buSzPts val="1500"/>
            </a:pPr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Construction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Aggregates task-level records containing dataset name, task ID, prompt, hallucination status, AST/dynamic/library analysis, generated code, canonical solution, error sources, types, and line information.</a:t>
            </a:r>
          </a:p>
          <a:p>
            <a:pPr indent="-323850">
              <a:buClr>
                <a:schemeClr val="dk1"/>
              </a:buClr>
              <a:buSzPts val="1500"/>
            </a:pPr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 Limitation Handling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Although an APR module was explored for fixing hallucinated code using fault signals, it was not used due to unreliable patch generation from the Qwen coder model.</a:t>
            </a:r>
          </a:p>
          <a:p>
            <a:pPr indent="-323850">
              <a:buClr>
                <a:schemeClr val="dk1"/>
              </a:buClr>
              <a:buSzPts val="1500"/>
            </a:pPr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Selection Strategy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If code passes hallucination checks then use generated code as target; otherwise use canonical benchmark solution as target to ensure correctness.</a:t>
            </a:r>
          </a:p>
          <a:p>
            <a:pPr indent="-323850">
              <a:buClr>
                <a:schemeClr val="dk1"/>
              </a:buClr>
              <a:buSzPts val="1500"/>
            </a:pPr>
            <a:r>
              <a:rPr lang="en-US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Pair Formation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Prompts and corresponding correct solutions form input–output pairs for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fine-tuning, ensuring consistent and accurate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supervision.Evaluation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Objective: Focus is on hallucination reduction in a federated setting, with correctness validated via Pass@1 rather than relying on detection-and-repair loops.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126B6B-7FAF-936D-7C0D-C90E15EFD3AD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E856FD-B837-1E3E-D7F1-977C5A902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4.Fine tuning using LoRA 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Google Shape;196;p38"/>
          <p:cNvSpPr txBox="1">
            <a:spLocks noGrp="1"/>
          </p:cNvSpPr>
          <p:nvPr>
            <p:ph type="body" idx="1"/>
          </p:nvPr>
        </p:nvSpPr>
        <p:spPr>
          <a:xfrm>
            <a:off x="420300" y="580750"/>
            <a:ext cx="8723700" cy="45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Hallucination-aware code samples, including buggy code, diagnostic information, and   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repair outcomes, along with a frozen pre-trained LLM.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:Client-specific LoRA adapters trained on hallucination aware datasets.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Construction: 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structured dataset using problem description, buggy code, hallucination type, repairability flag and corrected code.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Low-Rank Decomposition: 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updates are parameterized using two low-rank matrices A and B, where the rank r is set to 8. 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Layer Injection: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LoRA modules are injected into the Query and Key projection matrices of each Transformer layer. 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 Isolation: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Original model weights remain frozen, and only LoRA parameters are made trainable. 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 Checkpointing:</a:t>
            </a:r>
            <a:r>
              <a:rPr lang="en" sz="15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trained LoRA adapter weights are saved and transmitted to the server, ensuring lightweight communication and privacy preservation.</a:t>
            </a: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F63ED-81F1-A185-9C1A-55D1DA58BFD1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A71592-BBFB-A9B9-DE96-5029813F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5.Federated Aggregation and Distribution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Google Shape;202;p39"/>
          <p:cNvSpPr txBox="1">
            <a:spLocks noGrp="1"/>
          </p:cNvSpPr>
          <p:nvPr>
            <p:ph type="body" idx="1"/>
          </p:nvPr>
        </p:nvSpPr>
        <p:spPr>
          <a:xfrm>
            <a:off x="420300" y="641950"/>
            <a:ext cx="8723700" cy="45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Client-side LoRA adapter weights,along with sample size.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:Global LoRA adapter distributed to all participating clients.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 Collection: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LoRA adapter weights are collected from all participating clients after local fine-tuning.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Federated Averaging: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Client-side adapters are aggregated using the Federated Averaging (FedErrorAvg) algorithm, which targets particulat type of error.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Adapter Construction: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global LoRA adapter is constructed by averaging the weighted client adapters while keeping the base model parameters frozen.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 Distribution: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aggregated global LoRA adapter is redistributed to all clients and combined with the shared base model for subsequent inference or further training rounds.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F5D337-080A-C199-465B-7B3CC8DD65C8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1B03BA-AE62-BA9C-6B2F-6E813D5A1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C6479DC-49A0-450B-2AEE-4F4CE18A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734D8736-AB18-9942-2974-25E31FB2261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8218" y="180434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 for federated average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CF27A5-16A3-D180-F5FF-D7390BA68B23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39079D-55AE-1EF1-5940-6A775A8F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A0C3C-1B75-ECED-24BA-62ABF987ECA0}"/>
              </a:ext>
            </a:extLst>
          </p:cNvPr>
          <p:cNvSpPr txBox="1"/>
          <p:nvPr/>
        </p:nvSpPr>
        <p:spPr>
          <a:xfrm>
            <a:off x="412215" y="773350"/>
            <a:ext cx="461129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F4C564-870B-4002-3D6C-59F4C0AD6848}"/>
                  </a:ext>
                </a:extLst>
              </p:cNvPr>
              <p:cNvSpPr txBox="1"/>
              <p:nvPr/>
            </p:nvSpPr>
            <p:spPr>
              <a:xfrm>
                <a:off x="1384410" y="1475094"/>
                <a:ext cx="1383456" cy="6058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nary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F4C564-870B-4002-3D6C-59F4C0AD6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410" y="1475094"/>
                <a:ext cx="1383456" cy="605807"/>
              </a:xfrm>
              <a:prstGeom prst="rect">
                <a:avLst/>
              </a:prstGeom>
              <a:blipFill>
                <a:blip r:embed="rId3"/>
                <a:stretch>
                  <a:fillRect b="-10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1978C0-65C4-6984-DD1E-19EA5E4C07EA}"/>
                  </a:ext>
                </a:extLst>
              </p:cNvPr>
              <p:cNvSpPr txBox="1"/>
              <p:nvPr/>
            </p:nvSpPr>
            <p:spPr>
              <a:xfrm>
                <a:off x="647959" y="2828072"/>
                <a:ext cx="263335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:r>
                  <a:rPr lang="en-US" sz="1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1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number of training samples on client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1978C0-65C4-6984-DD1E-19EA5E4C0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59" y="2828072"/>
                <a:ext cx="2633350" cy="261610"/>
              </a:xfrm>
              <a:prstGeom prst="rect">
                <a:avLst/>
              </a:prstGeom>
              <a:blipFill>
                <a:blip r:embed="rId4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8220A4C-54D0-5C60-E751-F0902A4B9957}"/>
              </a:ext>
            </a:extLst>
          </p:cNvPr>
          <p:cNvSpPr txBox="1"/>
          <p:nvPr/>
        </p:nvSpPr>
        <p:spPr>
          <a:xfrm>
            <a:off x="647959" y="3162368"/>
            <a:ext cx="30364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– total number of samples used across all clients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51C04C-E616-C405-BF2C-EE07428065D7}"/>
              </a:ext>
            </a:extLst>
          </p:cNvPr>
          <p:cNvSpPr txBox="1"/>
          <p:nvPr/>
        </p:nvSpPr>
        <p:spPr>
          <a:xfrm>
            <a:off x="647959" y="2541662"/>
            <a:ext cx="22105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- client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A2BAA854-5D91-9BEC-B637-C16B8A73F4B6}"/>
              </a:ext>
            </a:extLst>
          </p:cNvPr>
          <p:cNvSpPr txBox="1"/>
          <p:nvPr/>
        </p:nvSpPr>
        <p:spPr>
          <a:xfrm>
            <a:off x="4444244" y="781629"/>
            <a:ext cx="38277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frequency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4">
                <a:extLst>
                  <a:ext uri="{FF2B5EF4-FFF2-40B4-BE49-F238E27FC236}">
                    <a16:creationId xmlns:a16="http://schemas.microsoft.com/office/drawing/2014/main" id="{D77CAD68-C3CB-8144-24C8-0896FFC0E5C9}"/>
                  </a:ext>
                </a:extLst>
              </p:cNvPr>
              <p:cNvSpPr txBox="1"/>
              <p:nvPr/>
            </p:nvSpPr>
            <p:spPr>
              <a:xfrm>
                <a:off x="4613972" y="1306286"/>
                <a:ext cx="1565365" cy="8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𝑐𝑜𝑢𝑛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4">
                <a:extLst>
                  <a:ext uri="{FF2B5EF4-FFF2-40B4-BE49-F238E27FC236}">
                    <a16:creationId xmlns:a16="http://schemas.microsoft.com/office/drawing/2014/main" id="{D77CAD68-C3CB-8144-24C8-0896FFC0E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972" y="1306286"/>
                <a:ext cx="1565365" cy="8615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CBB4F4D1-7DCC-BA96-EFF3-8F3EAE957058}"/>
                  </a:ext>
                </a:extLst>
              </p:cNvPr>
              <p:cNvSpPr txBox="1"/>
              <p:nvPr/>
            </p:nvSpPr>
            <p:spPr>
              <a:xfrm>
                <a:off x="4525528" y="3617290"/>
                <a:ext cx="5582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= total occurrences of error type ‘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across all clients</a:t>
                </a:r>
                <a:b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</a:t>
                </a:r>
                <a:r>
                  <a:rPr lang="en-US" sz="1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k,e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errors of type ‘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client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CBB4F4D1-7DCC-BA96-EFF3-8F3EAE957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528" y="3617290"/>
                <a:ext cx="5582093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6">
                <a:extLst>
                  <a:ext uri="{FF2B5EF4-FFF2-40B4-BE49-F238E27FC236}">
                    <a16:creationId xmlns:a16="http://schemas.microsoft.com/office/drawing/2014/main" id="{290EFC6E-3297-35CA-E8F4-8EEDCD060B31}"/>
                  </a:ext>
                </a:extLst>
              </p:cNvPr>
              <p:cNvSpPr txBox="1"/>
              <p:nvPr/>
            </p:nvSpPr>
            <p:spPr>
              <a:xfrm>
                <a:off x="4517151" y="2868759"/>
                <a:ext cx="1963614" cy="6756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𝑤𝑒𝑖𝑔h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𝑒𝑟𝑟𝑜𝑟𝑠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11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3" name="TextBox 6">
                <a:extLst>
                  <a:ext uri="{FF2B5EF4-FFF2-40B4-BE49-F238E27FC236}">
                    <a16:creationId xmlns:a16="http://schemas.microsoft.com/office/drawing/2014/main" id="{290EFC6E-3297-35CA-E8F4-8EEDCD060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151" y="2868759"/>
                <a:ext cx="1963614" cy="675698"/>
              </a:xfrm>
              <a:prstGeom prst="rect">
                <a:avLst/>
              </a:prstGeom>
              <a:blipFill>
                <a:blip r:embed="rId7"/>
                <a:stretch>
                  <a:fillRect l="-2484" t="-20000" b="-463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7">
            <a:extLst>
              <a:ext uri="{FF2B5EF4-FFF2-40B4-BE49-F238E27FC236}">
                <a16:creationId xmlns:a16="http://schemas.microsoft.com/office/drawing/2014/main" id="{BFE39B71-BE77-840E-C05F-F4C69A289461}"/>
              </a:ext>
            </a:extLst>
          </p:cNvPr>
          <p:cNvSpPr txBox="1"/>
          <p:nvPr/>
        </p:nvSpPr>
        <p:spPr>
          <a:xfrm>
            <a:off x="4444244" y="2520295"/>
            <a:ext cx="38277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</a:t>
            </a:r>
            <a:r>
              <a:rPr lang="en-US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fefinition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087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AB67AAF-35A5-4049-8385-135A59D7E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F99E926B-C6E0-3024-3A65-FCC61B4A9A7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3937" y="86267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Formulas for federated average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8CA5A-9BCB-6ABC-6BF4-5537C0F7A56E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9A59EB-BFDC-A543-220E-63AE2BA3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2F6271-2206-017E-8037-087911063075}"/>
              </a:ext>
            </a:extLst>
          </p:cNvPr>
          <p:cNvSpPr txBox="1"/>
          <p:nvPr/>
        </p:nvSpPr>
        <p:spPr>
          <a:xfrm>
            <a:off x="376792" y="647308"/>
            <a:ext cx="3827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4">
                <a:extLst>
                  <a:ext uri="{FF2B5EF4-FFF2-40B4-BE49-F238E27FC236}">
                    <a16:creationId xmlns:a16="http://schemas.microsoft.com/office/drawing/2014/main" id="{2C29CD0C-3EFE-3231-A1F1-4044B96AA824}"/>
                  </a:ext>
                </a:extLst>
              </p:cNvPr>
              <p:cNvSpPr txBox="1"/>
              <p:nvPr/>
            </p:nvSpPr>
            <p:spPr>
              <a:xfrm>
                <a:off x="519666" y="1162143"/>
                <a:ext cx="2928750" cy="7998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𝑒𝑟𝑟𝑜𝑟𝑠</m:t>
                          </m:r>
                        </m:sub>
                        <m:sup/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𝑐𝑜𝑢𝑛</m:t>
                          </m:r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𝑤𝑒𝑖𝑔h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4">
                <a:extLst>
                  <a:ext uri="{FF2B5EF4-FFF2-40B4-BE49-F238E27FC236}">
                    <a16:creationId xmlns:a16="http://schemas.microsoft.com/office/drawing/2014/main" id="{2C29CD0C-3EFE-3231-A1F1-4044B96AA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66" y="1162143"/>
                <a:ext cx="2928750" cy="799834"/>
              </a:xfrm>
              <a:prstGeom prst="rect">
                <a:avLst/>
              </a:prstGeom>
              <a:blipFill>
                <a:blip r:embed="rId3"/>
                <a:stretch>
                  <a:fillRect t="-95420" b="-992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5">
            <a:extLst>
              <a:ext uri="{FF2B5EF4-FFF2-40B4-BE49-F238E27FC236}">
                <a16:creationId xmlns:a16="http://schemas.microsoft.com/office/drawing/2014/main" id="{5F881B0A-7EF1-326F-D44E-DC904316CF47}"/>
              </a:ext>
            </a:extLst>
          </p:cNvPr>
          <p:cNvSpPr txBox="1"/>
          <p:nvPr/>
        </p:nvSpPr>
        <p:spPr>
          <a:xfrm>
            <a:off x="519666" y="1958718"/>
            <a:ext cx="4423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client, the total count of each type of error along with its computed weight is accounted for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37DEC84E-AC0D-E61A-B3E7-513DD09EF625}"/>
                  </a:ext>
                </a:extLst>
              </p:cNvPr>
              <p:cNvSpPr txBox="1"/>
              <p:nvPr/>
            </p:nvSpPr>
            <p:spPr>
              <a:xfrm>
                <a:off x="1014993" y="3352815"/>
                <a:ext cx="1507336" cy="7999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37DEC84E-AC0D-E61A-B3E7-513DD09EF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93" y="3352815"/>
                <a:ext cx="1507336" cy="7999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7">
            <a:extLst>
              <a:ext uri="{FF2B5EF4-FFF2-40B4-BE49-F238E27FC236}">
                <a16:creationId xmlns:a16="http://schemas.microsoft.com/office/drawing/2014/main" id="{2ACD350B-B822-E73E-7B88-2721274A3434}"/>
              </a:ext>
            </a:extLst>
          </p:cNvPr>
          <p:cNvSpPr txBox="1"/>
          <p:nvPr/>
        </p:nvSpPr>
        <p:spPr>
          <a:xfrm>
            <a:off x="376792" y="2878404"/>
            <a:ext cx="3827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Normalisation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BDF455AE-23B0-2B54-B837-D4483C1B2D02}"/>
              </a:ext>
            </a:extLst>
          </p:cNvPr>
          <p:cNvSpPr txBox="1"/>
          <p:nvPr/>
        </p:nvSpPr>
        <p:spPr>
          <a:xfrm>
            <a:off x="5658422" y="716427"/>
            <a:ext cx="2721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4">
                <a:extLst>
                  <a:ext uri="{FF2B5EF4-FFF2-40B4-BE49-F238E27FC236}">
                    <a16:creationId xmlns:a16="http://schemas.microsoft.com/office/drawing/2014/main" id="{8AE3B5C0-0158-936D-9F0B-077FBF216F62}"/>
                  </a:ext>
                </a:extLst>
              </p:cNvPr>
              <p:cNvSpPr txBox="1"/>
              <p:nvPr/>
            </p:nvSpPr>
            <p:spPr>
              <a:xfrm>
                <a:off x="5434070" y="1401129"/>
                <a:ext cx="2612767" cy="105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4">
                <a:extLst>
                  <a:ext uri="{FF2B5EF4-FFF2-40B4-BE49-F238E27FC236}">
                    <a16:creationId xmlns:a16="http://schemas.microsoft.com/office/drawing/2014/main" id="{8AE3B5C0-0158-936D-9F0B-077FBF216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070" y="1401129"/>
                <a:ext cx="2612767" cy="10558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8D554E41-9F19-A12B-066F-3D3A87264ECF}"/>
                  </a:ext>
                </a:extLst>
              </p:cNvPr>
              <p:cNvSpPr txBox="1"/>
              <p:nvPr/>
            </p:nvSpPr>
            <p:spPr>
              <a:xfrm>
                <a:off x="5122069" y="2491554"/>
                <a:ext cx="558641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1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1200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- local model weight on round t on client k</a:t>
                </a:r>
              </a:p>
              <a:p>
                <a:r>
                  <a:rPr lang="el-G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k​  - 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normalized weight assigned to client k</a:t>
                </a:r>
                <a:b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1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t+1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Global model weights after aggregation at round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12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8D554E41-9F19-A12B-066F-3D3A87264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069" y="2491554"/>
                <a:ext cx="5586414" cy="646331"/>
              </a:xfrm>
              <a:prstGeom prst="rect">
                <a:avLst/>
              </a:prstGeom>
              <a:blipFill>
                <a:blip r:embed="rId6"/>
                <a:stretch>
                  <a:fillRect t="-943" b="-66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0234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>
            <a:spLocks noGrp="1"/>
          </p:cNvSpPr>
          <p:nvPr>
            <p:ph type="title"/>
          </p:nvPr>
        </p:nvSpPr>
        <p:spPr>
          <a:xfrm>
            <a:off x="192075" y="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/>
              <a:t>6.Evaluation and </a:t>
            </a: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Google Shape;208;p40"/>
          <p:cNvSpPr txBox="1">
            <a:spLocks noGrp="1"/>
          </p:cNvSpPr>
          <p:nvPr>
            <p:ph type="body" idx="1"/>
          </p:nvPr>
        </p:nvSpPr>
        <p:spPr>
          <a:xfrm>
            <a:off x="420300" y="641243"/>
            <a:ext cx="8723700" cy="47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Code generated by the base model and the federated LoRA-enhanced model across benchmark datasets.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Benchmark-wise evaluation.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code-generation benchmarks including MBPP, HumanEval, DS-1000 are used here.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Correctness (Pass@1):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Pass@1 metric is used to measure functional correctness if code passes all unit tests on the first attempt.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Similarity Analysis: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CodeBLEU is used as a secondary metric to measure syntactic and structural similarity between generated code and reference implementations.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Before–After Comparison: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is compared before and after LoRA fine-tuning to quantify improvements in correctness and hallucination reduction.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FedAvg Vs FedErrorAvg : 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comapre the hallucination reduction for both fed average and fed error average.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1BAF71-B3D6-A546-2872-64D3E0326647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D91FD8-9D0D-4589-F757-04E0BAA8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0F717B6-8DAC-29CD-7A1E-DB7512A5C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4CC932F3-C9D3-1459-5A7E-AE61B1733C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1.Problem ingestion and code generation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3D8730-E790-1FE7-6B5C-A56ADBB329E0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A971EA-B1D1-F41B-DFED-9D85EFC6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C45EA-66E6-273B-DE89-B958AB885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84" y="810539"/>
            <a:ext cx="5183368" cy="17504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7052F4-FF1C-FC8F-1F17-5AB24CF60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176" y="2627591"/>
            <a:ext cx="5183369" cy="21295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5C6184-A537-309F-F8E3-23A3A5B1BEE2}"/>
              </a:ext>
            </a:extLst>
          </p:cNvPr>
          <p:cNvSpPr txBox="1"/>
          <p:nvPr/>
        </p:nvSpPr>
        <p:spPr>
          <a:xfrm>
            <a:off x="5524940" y="1531852"/>
            <a:ext cx="2274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HumanEval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4C5D93-A698-9A28-7ABA-EC237023FD43}"/>
              </a:ext>
            </a:extLst>
          </p:cNvPr>
          <p:cNvSpPr txBox="1"/>
          <p:nvPr/>
        </p:nvSpPr>
        <p:spPr>
          <a:xfrm>
            <a:off x="1242930" y="3210194"/>
            <a:ext cx="18966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MBPP dataset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27E962-7DEB-2E08-C8A0-659B7997C52F}"/>
              </a:ext>
            </a:extLst>
          </p:cNvPr>
          <p:cNvSpPr txBox="1"/>
          <p:nvPr/>
        </p:nvSpPr>
        <p:spPr>
          <a:xfrm>
            <a:off x="1000876" y="3488774"/>
            <a:ext cx="25506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Extraction function signature in MBPP</a:t>
            </a:r>
          </a:p>
          <a:p>
            <a:r>
              <a:rPr lang="en-IN" sz="1100" dirty="0"/>
              <a:t> which will be later used for testing.</a:t>
            </a:r>
          </a:p>
        </p:txBody>
      </p:sp>
    </p:spTree>
    <p:extLst>
      <p:ext uri="{BB962C8B-B14F-4D97-AF65-F5344CB8AC3E}">
        <p14:creationId xmlns:p14="http://schemas.microsoft.com/office/powerpoint/2010/main" val="1330453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E13670-8CAA-0586-E87E-5B5168DD3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C4BC080D-B478-D150-645A-EED2B6156F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1.Problem ingestion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5E089-E419-E6E8-DED2-F787B1DA0557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F263C1-D0B2-3F70-8FCC-9AA6F842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A9E2D-79FD-8A79-5F4F-869832B59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340" y="1000124"/>
            <a:ext cx="6690212" cy="28880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75F6E7-FE22-036A-3B3D-5D0998748AC0}"/>
              </a:ext>
            </a:extLst>
          </p:cNvPr>
          <p:cNvSpPr txBox="1"/>
          <p:nvPr/>
        </p:nvSpPr>
        <p:spPr>
          <a:xfrm>
            <a:off x="3200400" y="4060062"/>
            <a:ext cx="1960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DS1000 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31676-B4C1-3325-DCCC-6F8A14CB410E}"/>
              </a:ext>
            </a:extLst>
          </p:cNvPr>
          <p:cNvSpPr txBox="1"/>
          <p:nvPr/>
        </p:nvSpPr>
        <p:spPr>
          <a:xfrm>
            <a:off x="2980788" y="4278104"/>
            <a:ext cx="23471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column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task_id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track data</a:t>
            </a:r>
          </a:p>
        </p:txBody>
      </p:sp>
    </p:spTree>
    <p:extLst>
      <p:ext uri="{BB962C8B-B14F-4D97-AF65-F5344CB8AC3E}">
        <p14:creationId xmlns:p14="http://schemas.microsoft.com/office/powerpoint/2010/main" val="1942828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4C4D94F7-3368-247C-0427-2B70745E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1C597E7B-F35F-0934-5EA8-29109723C4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2.Hallucination detection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B98097-CFF5-45EA-7575-89678F8E41A7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E902E-0CC5-FFBB-0D39-BD2CED44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1A8094-A7CC-96D2-A554-29AC00B13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43" y="944243"/>
            <a:ext cx="5374214" cy="3113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1669F9-6D64-E332-A21F-14F3B9715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076" y="1319173"/>
            <a:ext cx="3263444" cy="24527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A15B91-94E9-E90A-E274-B73D3599C298}"/>
              </a:ext>
            </a:extLst>
          </p:cNvPr>
          <p:cNvSpPr txBox="1"/>
          <p:nvPr/>
        </p:nvSpPr>
        <p:spPr>
          <a:xfrm>
            <a:off x="1493044" y="4089396"/>
            <a:ext cx="3929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Hallucinated Vs Pass count across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B720A-21AB-FB79-071F-8C51B3880264}"/>
              </a:ext>
            </a:extLst>
          </p:cNvPr>
          <p:cNvSpPr txBox="1"/>
          <p:nvPr/>
        </p:nvSpPr>
        <p:spPr>
          <a:xfrm>
            <a:off x="6398279" y="4038641"/>
            <a:ext cx="351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pass and hallucinated code</a:t>
            </a:r>
          </a:p>
        </p:txBody>
      </p:sp>
    </p:spTree>
    <p:extLst>
      <p:ext uri="{BB962C8B-B14F-4D97-AF65-F5344CB8AC3E}">
        <p14:creationId xmlns:p14="http://schemas.microsoft.com/office/powerpoint/2010/main" val="3137950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F4707DC-0352-441F-1151-C01874E2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1064338C-9371-AE64-E6C1-E939DAEC4FE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2.Dynamic Analaysis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BC5420-ADCD-2A16-9793-C5147CEA353E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4A8BEB-DFC8-8560-A880-0B414823B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435A7-0AED-1E89-3EF4-D88C1BB6A7D5}"/>
              </a:ext>
            </a:extLst>
          </p:cNvPr>
          <p:cNvSpPr txBox="1"/>
          <p:nvPr/>
        </p:nvSpPr>
        <p:spPr>
          <a:xfrm>
            <a:off x="3469932" y="3812099"/>
            <a:ext cx="2244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hallucination at runtime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270710-2DE3-5981-D14D-968E62D4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71" y="941946"/>
            <a:ext cx="7379150" cy="283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74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78662B6A-F016-5AC9-921A-EBA0EE5A2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0FDB4C76-1B17-8695-65BB-04B2E4B3A54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3.Dataset creation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6C023E-3271-8ADA-5DA8-86953B341BD1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AA233-0839-5987-1CA8-A3B123E3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134955-2E36-838B-CB05-36D84922B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72" y="1687803"/>
            <a:ext cx="1824380" cy="1754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477B7D-407C-9C70-CF14-E4E230B25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616" y="1052554"/>
            <a:ext cx="3217088" cy="3328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EF5698-45EA-C664-6147-2C0804F0B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168" y="1390212"/>
            <a:ext cx="2557954" cy="24027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78BE0E-0BD7-AD55-3057-5C6BEEB722C1}"/>
              </a:ext>
            </a:extLst>
          </p:cNvPr>
          <p:cNvSpPr txBox="1"/>
          <p:nvPr/>
        </p:nvSpPr>
        <p:spPr>
          <a:xfrm>
            <a:off x="875314" y="4429875"/>
            <a:ext cx="6782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information across different modules are collected for dataset creation and fine-tuning</a:t>
            </a:r>
          </a:p>
        </p:txBody>
      </p:sp>
    </p:spTree>
    <p:extLst>
      <p:ext uri="{BB962C8B-B14F-4D97-AF65-F5344CB8AC3E}">
        <p14:creationId xmlns:p14="http://schemas.microsoft.com/office/powerpoint/2010/main" val="489852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BC3B754-AABC-6990-D012-D334C059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3E9F53D9-7D0F-E7D6-C6DD-9A93FCB7752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4.LoRA Fine Tuning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D6C8CC-1B42-677D-428E-3A5CA879E19D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1213C7-875F-5B78-7104-FB87FF5A6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1B830E-5EE2-D007-EC03-4C299B6DD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383352"/>
              </p:ext>
            </p:extLst>
          </p:nvPr>
        </p:nvGraphicFramePr>
        <p:xfrm>
          <a:off x="604043" y="1404558"/>
          <a:ext cx="7811294" cy="2292290"/>
        </p:xfrm>
        <a:graphic>
          <a:graphicData uri="http://schemas.openxmlformats.org/drawingml/2006/table">
            <a:tbl>
              <a:tblPr firstRow="1" firstCol="1" bandRow="1">
                <a:tableStyleId>{73B37524-8608-4B16-BC45-35DD96E42492}</a:tableStyleId>
              </a:tblPr>
              <a:tblGrid>
                <a:gridCol w="3905647">
                  <a:extLst>
                    <a:ext uri="{9D8B030D-6E8A-4147-A177-3AD203B41FA5}">
                      <a16:colId xmlns:a16="http://schemas.microsoft.com/office/drawing/2014/main" val="1752498795"/>
                    </a:ext>
                  </a:extLst>
                </a:gridCol>
                <a:gridCol w="3905647">
                  <a:extLst>
                    <a:ext uri="{9D8B030D-6E8A-4147-A177-3AD203B41FA5}">
                      <a16:colId xmlns:a16="http://schemas.microsoft.com/office/drawing/2014/main" val="1339110211"/>
                    </a:ext>
                  </a:extLst>
                </a:gridCol>
              </a:tblGrid>
              <a:tr h="2353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4352323"/>
                  </a:ext>
                </a:extLst>
              </a:tr>
              <a:tr h="2353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 (rank)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5753318"/>
                  </a:ext>
                </a:extLst>
              </a:tr>
              <a:tr h="2353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lora_alpha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9385593"/>
                  </a:ext>
                </a:extLst>
              </a:tr>
              <a:tr h="5027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target_modules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 projections (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gate_proj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7440477"/>
                  </a:ext>
                </a:extLst>
              </a:tr>
              <a:tr h="2353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lora_dropout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6188904"/>
                  </a:ext>
                </a:extLst>
              </a:tr>
              <a:tr h="2353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bias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"none"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5521904"/>
                  </a:ext>
                </a:extLst>
              </a:tr>
              <a:tr h="2353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task_type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CAUSAL_LM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634689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1105FFF-1AD6-52B3-5201-907767FD3E86}"/>
              </a:ext>
            </a:extLst>
          </p:cNvPr>
          <p:cNvSpPr txBox="1"/>
          <p:nvPr/>
        </p:nvSpPr>
        <p:spPr>
          <a:xfrm>
            <a:off x="3309682" y="3947113"/>
            <a:ext cx="2400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Configuration for PEFT</a:t>
            </a:r>
          </a:p>
        </p:txBody>
      </p:sp>
    </p:spTree>
    <p:extLst>
      <p:ext uri="{BB962C8B-B14F-4D97-AF65-F5344CB8AC3E}">
        <p14:creationId xmlns:p14="http://schemas.microsoft.com/office/powerpoint/2010/main" val="24717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1AE862F5-5196-1963-F118-55B24A85E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E99E1420-FEAB-AD78-4FB2-3F405797A3D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4.LoRA Fine Tuning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1836C-527D-8B81-EB74-7AB9393AC6C0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810947-0A9C-C5C7-04BE-BA93C6D8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E83349-37D7-F8AB-413B-2F32DDB1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719223"/>
              </p:ext>
            </p:extLst>
          </p:nvPr>
        </p:nvGraphicFramePr>
        <p:xfrm>
          <a:off x="425450" y="1037572"/>
          <a:ext cx="8521700" cy="3200400"/>
        </p:xfrm>
        <a:graphic>
          <a:graphicData uri="http://schemas.openxmlformats.org/drawingml/2006/table">
            <a:tbl>
              <a:tblPr firstRow="1" firstCol="1" bandRow="1">
                <a:tableStyleId>{73B37524-8608-4B16-BC45-35DD96E42492}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1642617804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4273070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9344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num_train_epochs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7083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per_device_train_batch_size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6968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gradient_accumulation_steps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3541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learning_rate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2e-4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032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weight_decay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919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warmup_ratio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5481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lr_scheduler_type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cosine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126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max_grad_norm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7589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max_seq_length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2048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8820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packing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8089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bf16 / fp16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auto-detect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916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save_strategy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epoch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8537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save_total_limit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6080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logging_steps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602894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4829F49-C703-A29D-91C8-893340783BC0}"/>
              </a:ext>
            </a:extLst>
          </p:cNvPr>
          <p:cNvSpPr txBox="1"/>
          <p:nvPr/>
        </p:nvSpPr>
        <p:spPr>
          <a:xfrm>
            <a:off x="3623064" y="4338553"/>
            <a:ext cx="18421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for SFT </a:t>
            </a:r>
          </a:p>
        </p:txBody>
      </p:sp>
    </p:spTree>
    <p:extLst>
      <p:ext uri="{BB962C8B-B14F-4D97-AF65-F5344CB8AC3E}">
        <p14:creationId xmlns:p14="http://schemas.microsoft.com/office/powerpoint/2010/main" val="1632203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E0410A4-0D50-CA31-C542-D14C3B5A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5455E6F9-6E38-7053-CB7E-7CBEBDADAAC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4.LoRA Fine Tuning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6C438E-F04F-6541-8B69-197F521DD06F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1E60F9-1398-0E13-74A0-DE4AA184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D2C22-9ECD-9631-B428-4AA499F69352}"/>
              </a:ext>
            </a:extLst>
          </p:cNvPr>
          <p:cNvSpPr txBox="1"/>
          <p:nvPr/>
        </p:nvSpPr>
        <p:spPr>
          <a:xfrm>
            <a:off x="3215870" y="3718633"/>
            <a:ext cx="2432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Adapters obtained after SFT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2BD6E8-BABC-3142-3F83-6F75541D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025" y="1163920"/>
            <a:ext cx="5949950" cy="24676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C2CA75-2D88-D6EC-229F-B92440F95332}"/>
              </a:ext>
            </a:extLst>
          </p:cNvPr>
          <p:cNvSpPr txBox="1"/>
          <p:nvPr/>
        </p:nvSpPr>
        <p:spPr>
          <a:xfrm>
            <a:off x="457847" y="4159951"/>
            <a:ext cx="7662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The number of trainable parameters gets reduced from 2.7B to 29.9 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Each targeted projection of layer get’s two matrices A and B. Having 36 transformer layers and 7 projection </a:t>
            </a:r>
          </a:p>
          <a:p>
            <a:r>
              <a:rPr lang="en-IN" sz="1200" dirty="0"/>
              <a:t>    per layer on decomposition we yield  504 adapters.</a:t>
            </a:r>
          </a:p>
        </p:txBody>
      </p:sp>
    </p:spTree>
    <p:extLst>
      <p:ext uri="{BB962C8B-B14F-4D97-AF65-F5344CB8AC3E}">
        <p14:creationId xmlns:p14="http://schemas.microsoft.com/office/powerpoint/2010/main" val="3078641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49899BB-7147-7446-A45B-FA16A933B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F66E5E0B-AF18-5824-52A9-58B83636F7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Federated aggregation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D7AE8C-1F0A-E9F4-DC52-A55293FC49DE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7F408F-DFF3-DAA9-B3F5-2D6043F4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D8BEFA68-757D-441F-6141-029466D69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2" y="30003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B7049F-5EA2-8BA4-EA8B-EF5458C19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740" y="1043280"/>
            <a:ext cx="5949950" cy="32746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C9DFE61-A5BD-1737-EDF6-7DA8112BE753}"/>
              </a:ext>
            </a:extLst>
          </p:cNvPr>
          <p:cNvSpPr txBox="1"/>
          <p:nvPr/>
        </p:nvSpPr>
        <p:spPr>
          <a:xfrm>
            <a:off x="3423569" y="4206662"/>
            <a:ext cx="23342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Algorithm for Fed-error average</a:t>
            </a:r>
          </a:p>
        </p:txBody>
      </p:sp>
    </p:spTree>
    <p:extLst>
      <p:ext uri="{BB962C8B-B14F-4D97-AF65-F5344CB8AC3E}">
        <p14:creationId xmlns:p14="http://schemas.microsoft.com/office/powerpoint/2010/main" val="2503749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91C21564-4689-E19E-3F65-522E4DF84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DB0CD014-50DB-DFFD-F59A-480B3954B4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399"/>
            <a:ext cx="5701800" cy="7750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Federated aggregation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A249C3-C5A0-2174-6FD5-911BE8379556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CABA0A-A1F9-D3F4-5D04-0371617F5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33" name="Picture 13">
            <a:extLst>
              <a:ext uri="{FF2B5EF4-FFF2-40B4-BE49-F238E27FC236}">
                <a16:creationId xmlns:a16="http://schemas.microsoft.com/office/drawing/2014/main" id="{33E783BB-2BBC-2415-E984-9258D0C7B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208" y="996032"/>
            <a:ext cx="5951538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FB6CE573-C65C-7F0C-0410-DAD2579E0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208" y="1878192"/>
            <a:ext cx="5951538" cy="29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1" name="Picture 11">
            <a:extLst>
              <a:ext uri="{FF2B5EF4-FFF2-40B4-BE49-F238E27FC236}">
                <a16:creationId xmlns:a16="http://schemas.microsoft.com/office/drawing/2014/main" id="{78FB076D-F9B2-4696-6C3D-F6F6ABD79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208" y="2622974"/>
            <a:ext cx="5951538" cy="40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">
            <a:extLst>
              <a:ext uri="{FF2B5EF4-FFF2-40B4-BE49-F238E27FC236}">
                <a16:creationId xmlns:a16="http://schemas.microsoft.com/office/drawing/2014/main" id="{560D75CD-335C-F374-4C5A-D41C6CE09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208" y="3410109"/>
            <a:ext cx="5951538" cy="3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4">
            <a:extLst>
              <a:ext uri="{FF2B5EF4-FFF2-40B4-BE49-F238E27FC236}">
                <a16:creationId xmlns:a16="http://schemas.microsoft.com/office/drawing/2014/main" id="{A927AA81-E541-0FC4-A548-2603B2128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2" y="30003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5DB299A0-7081-C92A-4B5D-6D7968371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181" y="174760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Figure 6.1.a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Output of fine-tuned adapters after Federated average (complete dataset)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14422B2A-7A39-9A3C-C679-9773858E7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181" y="332988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Figure 6.1.b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Output of fine-tuned adapters after Federated Error average (complete dataset)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600B2729-D4D6-A2DD-BC2D-9331DD4C0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208" y="254740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Figure 6.2.a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Output of fine-tuned adapters after Federated average (Training dataset)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54D89636-3CB8-27FC-D996-7C6E95080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0098" y="402579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Figure 6.2.b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Output of fine-tuned adapters after Federated Error average (Training dataset)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926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3496A7DC-AAFB-DB29-CF0A-5A995B183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8E5D00D2-286B-FAFF-0F72-5196071ED60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Verification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2CB4E3-D587-8D3C-8A8C-3E96504DDC34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31CF61-F2F8-8590-28F1-14FE8A68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63E18DDB-945D-7720-9497-4E01733B2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2" y="30003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BB25BA-8411-0D43-2013-8375924EE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472" y="701332"/>
            <a:ext cx="5949950" cy="19792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5D1D4F-1B0E-D15C-372F-342003466DF7}"/>
              </a:ext>
            </a:extLst>
          </p:cNvPr>
          <p:cNvSpPr txBox="1"/>
          <p:nvPr/>
        </p:nvSpPr>
        <p:spPr>
          <a:xfrm>
            <a:off x="424017" y="3144843"/>
            <a:ext cx="759173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key aspect of this evaluation framework is that the base model weights remain entirely frozen throughout the process. The federated adapter weights — aggregated </a:t>
            </a:r>
            <a:r>
              <a:rPr lang="en-I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LoRA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matrices from across all clients — are applied as an additive overlay on top of the frozen base. This means the base model's pre-trained knowledge is preserved, and the adapter contributes only the task-specific delta learned during fine-tuning.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evaluated across all three datasets using four adapter variants: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FedErrorAvg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Complete,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FedErrorAvg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58B8A-EFA1-83EB-2217-793825883993}"/>
              </a:ext>
            </a:extLst>
          </p:cNvPr>
          <p:cNvSpPr txBox="1"/>
          <p:nvPr/>
        </p:nvSpPr>
        <p:spPr>
          <a:xfrm>
            <a:off x="3898852" y="2781930"/>
            <a:ext cx="28411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for model loading with adapters </a:t>
            </a:r>
          </a:p>
        </p:txBody>
      </p:sp>
    </p:spTree>
    <p:extLst>
      <p:ext uri="{BB962C8B-B14F-4D97-AF65-F5344CB8AC3E}">
        <p14:creationId xmlns:p14="http://schemas.microsoft.com/office/powerpoint/2010/main" val="1043906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2C407041-6CBD-FE5E-8AB6-08E8D8B0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>
            <a:extLst>
              <a:ext uri="{FF2B5EF4-FFF2-40B4-BE49-F238E27FC236}">
                <a16:creationId xmlns:a16="http://schemas.microsoft.com/office/drawing/2014/main" id="{18687520-67FE-BAA7-4612-5CC74305BA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9575" y="-381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r>
              <a:rPr lang="en" sz="1900" b="1" dirty="0"/>
              <a:t> SETUP</a:t>
            </a:r>
            <a:endParaRPr sz="1900" b="1" dirty="0"/>
          </a:p>
        </p:txBody>
      </p:sp>
      <p:sp>
        <p:nvSpPr>
          <p:cNvPr id="208" name="Google Shape;208;p40">
            <a:extLst>
              <a:ext uri="{FF2B5EF4-FFF2-40B4-BE49-F238E27FC236}">
                <a16:creationId xmlns:a16="http://schemas.microsoft.com/office/drawing/2014/main" id="{0C7F4AD3-8C7C-9EAC-FCE0-E491CE440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2875" y="214200"/>
            <a:ext cx="8723700" cy="47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LLM </a:t>
            </a: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QwenCoder2.5-3B parameter is used as base model.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Type: Causal Language Models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Stage: Pretraining &amp; Post-training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Parameters: 3.09B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</a:t>
            </a:r>
            <a:r>
              <a:rPr lang="en-IN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Paramaters</a:t>
            </a: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(Non-Embedding): 2.77B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Layers: 36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Attention Heads (GQA): 16 for Q and 2 for KV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Length: Full 32,768 tokens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Generation Settings: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configured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do_sample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False and temperature = 1.0 to ensure deterministic and reproducible code generation across multiple runs.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171450">
              <a:spcBef>
                <a:spcPts val="1200"/>
              </a:spcBef>
              <a:buClr>
                <a:schemeClr val="dk1"/>
              </a:buClr>
              <a:buSzPts val="1600"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77937-28B3-279E-28A0-9659BA3ADD07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AC9462-9985-7928-B345-729FA30DA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998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DA50E0F4-7280-ACFF-5FE6-DA146DAA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>
            <a:extLst>
              <a:ext uri="{FF2B5EF4-FFF2-40B4-BE49-F238E27FC236}">
                <a16:creationId xmlns:a16="http://schemas.microsoft.com/office/drawing/2014/main" id="{88A01F4F-E180-F661-1E20-F139663D98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075" y="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Google Shape;208;p40">
            <a:extLst>
              <a:ext uri="{FF2B5EF4-FFF2-40B4-BE49-F238E27FC236}">
                <a16:creationId xmlns:a16="http://schemas.microsoft.com/office/drawing/2014/main" id="{3BCB7BCD-3E85-02F2-542A-2F69B33DD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525" y="319774"/>
            <a:ext cx="8723700" cy="47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30200"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indent="-330200">
              <a:buClr>
                <a:schemeClr val="dk1"/>
              </a:buClr>
              <a:buSzPts val="1600"/>
            </a:pPr>
            <a:r>
              <a:rPr lang="en-IN" sz="16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HumanEval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Consists of 164 tasks focused on functional correctness. </a:t>
            </a:r>
          </a:p>
          <a:p>
            <a:pPr lvl="1" indent="-330200">
              <a:buClr>
                <a:schemeClr val="dk1"/>
              </a:buClr>
              <a:buSzPts val="1600"/>
            </a:pP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MBPP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Consists of 377 tasks covering basic Python programming problems. </a:t>
            </a:r>
          </a:p>
          <a:p>
            <a:pPr lvl="1" indent="-330200">
              <a:buClr>
                <a:schemeClr val="dk1"/>
              </a:buClr>
              <a:buSzPts val="1600"/>
            </a:pP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DS-1000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Consists of 1000 data science problems involving libraries like NumPy, Pandas, etc. </a:t>
            </a:r>
          </a:p>
          <a:p>
            <a:pPr indent="-330200"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indent="-330200">
              <a:buClr>
                <a:schemeClr val="dk1"/>
              </a:buClr>
              <a:buSzPts val="1600"/>
            </a:pP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16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for LLM inference, code generation, and initial pipeline development; utilized NVIDIA T4 GPU with CUDA support. </a:t>
            </a:r>
          </a:p>
          <a:p>
            <a:pPr lvl="1" indent="-330200">
              <a:buClr>
                <a:schemeClr val="dk1"/>
              </a:buClr>
              <a:buSzPts val="1600"/>
            </a:pP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for local development of static and dynamic analysis modules, dataset processing, and result analysis; integrated with Git/GitHub for version control. </a:t>
            </a:r>
          </a:p>
          <a:p>
            <a:pPr lvl="1" indent="-330200">
              <a:buClr>
                <a:schemeClr val="dk1"/>
              </a:buClr>
              <a:buSzPts val="1600"/>
            </a:pPr>
            <a:r>
              <a:rPr lang="en-IN" sz="16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JupyterHub</a:t>
            </a: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(CTSKII): 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fine-tuning and federated learning experiments; provided NVIDIA A4000 GPU with persistent storage and containerized environment. </a:t>
            </a: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D78E25-CD9D-2889-C59D-699FBB7B9B39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70F831-2EE0-1388-6F70-453550E5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961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52BA0B0-4851-ECD3-F040-72847A35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3C96698F-2630-C964-FEFC-03D7965876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F16DC6-A4C1-682E-47DF-55F36D3FE5F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3E095-FB73-D1DF-463B-AC88A31AF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8BB995-A165-6FEC-54DC-2B22C0C26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040" y="844232"/>
            <a:ext cx="5963920" cy="34550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3FB7D4-542D-88C1-AD87-637BDDFB4DB8}"/>
              </a:ext>
            </a:extLst>
          </p:cNvPr>
          <p:cNvSpPr txBox="1"/>
          <p:nvPr/>
        </p:nvSpPr>
        <p:spPr>
          <a:xfrm>
            <a:off x="3457575" y="4333826"/>
            <a:ext cx="2282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Pass@1 for benchmarking dataset</a:t>
            </a:r>
          </a:p>
        </p:txBody>
      </p:sp>
    </p:spTree>
    <p:extLst>
      <p:ext uri="{BB962C8B-B14F-4D97-AF65-F5344CB8AC3E}">
        <p14:creationId xmlns:p14="http://schemas.microsoft.com/office/powerpoint/2010/main" val="3855407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2AFC684F-75AF-8E0E-4C47-2C2E77414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97751CEF-3C61-D1A0-AE2C-1284F638BC7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4916AD-DF4A-FBB3-78D8-16B8A37A6ED5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B7B71D-09F5-8EA8-7AB9-1AAA7A98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70240-BF3F-53A3-31C6-D6E77A0EB7AB}"/>
              </a:ext>
            </a:extLst>
          </p:cNvPr>
          <p:cNvSpPr txBox="1"/>
          <p:nvPr/>
        </p:nvSpPr>
        <p:spPr>
          <a:xfrm>
            <a:off x="2721769" y="4498882"/>
            <a:ext cx="3767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errors with frozen model across all three dataset.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A62D85-88FA-6B83-C6D1-A19885364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308217"/>
              </p:ext>
            </p:extLst>
          </p:nvPr>
        </p:nvGraphicFramePr>
        <p:xfrm>
          <a:off x="742436" y="608603"/>
          <a:ext cx="7659128" cy="3855720"/>
        </p:xfrm>
        <a:graphic>
          <a:graphicData uri="http://schemas.openxmlformats.org/drawingml/2006/table">
            <a:tbl>
              <a:tblPr firstRow="1" firstCol="1" bandRow="1">
                <a:tableStyleId>{73B37524-8608-4B16-BC45-35DD96E42492}</a:tableStyleId>
              </a:tblPr>
              <a:tblGrid>
                <a:gridCol w="1615002">
                  <a:extLst>
                    <a:ext uri="{9D8B030D-6E8A-4147-A177-3AD203B41FA5}">
                      <a16:colId xmlns:a16="http://schemas.microsoft.com/office/drawing/2014/main" val="1668126652"/>
                    </a:ext>
                  </a:extLst>
                </a:gridCol>
                <a:gridCol w="1352951">
                  <a:extLst>
                    <a:ext uri="{9D8B030D-6E8A-4147-A177-3AD203B41FA5}">
                      <a16:colId xmlns:a16="http://schemas.microsoft.com/office/drawing/2014/main" val="1488149854"/>
                    </a:ext>
                  </a:extLst>
                </a:gridCol>
                <a:gridCol w="1563725">
                  <a:extLst>
                    <a:ext uri="{9D8B030D-6E8A-4147-A177-3AD203B41FA5}">
                      <a16:colId xmlns:a16="http://schemas.microsoft.com/office/drawing/2014/main" val="3996870246"/>
                    </a:ext>
                  </a:extLst>
                </a:gridCol>
                <a:gridCol w="1563725">
                  <a:extLst>
                    <a:ext uri="{9D8B030D-6E8A-4147-A177-3AD203B41FA5}">
                      <a16:colId xmlns:a16="http://schemas.microsoft.com/office/drawing/2014/main" val="3820387453"/>
                    </a:ext>
                  </a:extLst>
                </a:gridCol>
                <a:gridCol w="1563725">
                  <a:extLst>
                    <a:ext uri="{9D8B030D-6E8A-4147-A177-3AD203B41FA5}">
                      <a16:colId xmlns:a16="http://schemas.microsoft.com/office/drawing/2014/main" val="4194436796"/>
                    </a:ext>
                  </a:extLst>
                </a:gridCol>
              </a:tblGrid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Error_Type</a:t>
                      </a:r>
                      <a:endParaRPr lang="en-IN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DS1000</a:t>
                      </a:r>
                      <a:endParaRPr lang="en-IN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HumanEval</a:t>
                      </a:r>
                      <a:endParaRPr lang="en-IN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MBPP</a:t>
                      </a:r>
                      <a:endParaRPr lang="en-IN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100142093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AssertionError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427568823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4058768254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AxisError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121962696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IndentationError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459183508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4198079339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IndexingError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398936731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InvalidIndexError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870660763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283104915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ModuleNotFoundError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374692116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458664025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827712607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532953401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TimeoutError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1108778271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1732061796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UnboundLocalError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1873199371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689612956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attribute_error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754825597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missing_return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199711963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module_not_found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030533215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name_error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1044469789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type_error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386930314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1392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1791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219396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6336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05600D2-7A09-71E7-773D-AC90E0626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D378DCCE-A283-A0C2-13FA-292DE4AA14C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48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E7197E-2F89-B6D6-32AC-11603FA3A9C6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B77085-607B-7F2C-FF67-986BC71B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0E31CE1-1450-B6AB-E07F-413643C71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03" y="942801"/>
            <a:ext cx="4036218" cy="252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9" name="Picture 1">
            <a:extLst>
              <a:ext uri="{FF2B5EF4-FFF2-40B4-BE49-F238E27FC236}">
                <a16:creationId xmlns:a16="http://schemas.microsoft.com/office/drawing/2014/main" id="{FCD53F88-5007-0FBD-B567-1F15BCA59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017" y="975579"/>
            <a:ext cx="3879490" cy="242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BF62186-6F31-03EA-62A6-93CDB9571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4187B54-A331-B7F8-91B2-55E632FCA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351FBA-F27E-B40B-2702-6366E3D50DF7}"/>
              </a:ext>
            </a:extLst>
          </p:cNvPr>
          <p:cNvSpPr txBox="1"/>
          <p:nvPr/>
        </p:nvSpPr>
        <p:spPr>
          <a:xfrm>
            <a:off x="404110" y="3498301"/>
            <a:ext cx="36808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count </a:t>
            </a:r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datasets after federated average,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complete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510ACF-4F1B-D87E-FC64-F4D66D1F9429}"/>
              </a:ext>
            </a:extLst>
          </p:cNvPr>
          <p:cNvSpPr txBox="1"/>
          <p:nvPr/>
        </p:nvSpPr>
        <p:spPr>
          <a:xfrm>
            <a:off x="4810015" y="3498705"/>
            <a:ext cx="353654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count across all datasets after federated average,</a:t>
            </a:r>
          </a:p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testing part of the dataset</a:t>
            </a:r>
          </a:p>
        </p:txBody>
      </p:sp>
    </p:spTree>
    <p:extLst>
      <p:ext uri="{BB962C8B-B14F-4D97-AF65-F5344CB8AC3E}">
        <p14:creationId xmlns:p14="http://schemas.microsoft.com/office/powerpoint/2010/main" val="41970103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002B411-5540-32FA-11FA-155843E76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D005BD6C-A2BD-9C35-CBB9-EDDDE7A9B8C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48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RESULTS AND ANALYSIS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172CC8-4065-1823-89F1-F50BD460B6BF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5A7B14-F0D5-9425-1498-9A7ABDCA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D9FDE-7425-DB55-2A7F-67C3CB71B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8F2090A-97BA-D76D-FD24-CAECC771A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35FC4B-F5BA-08CF-E9AF-2A9090B4C4C2}"/>
              </a:ext>
            </a:extLst>
          </p:cNvPr>
          <p:cNvSpPr txBox="1"/>
          <p:nvPr/>
        </p:nvSpPr>
        <p:spPr>
          <a:xfrm>
            <a:off x="404110" y="3498301"/>
            <a:ext cx="37128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count </a:t>
            </a:r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datasets after Fed-Error average,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complete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25BE67-2A10-A246-C505-F372A3D47BFF}"/>
              </a:ext>
            </a:extLst>
          </p:cNvPr>
          <p:cNvSpPr txBox="1"/>
          <p:nvPr/>
        </p:nvSpPr>
        <p:spPr>
          <a:xfrm>
            <a:off x="4810015" y="3498705"/>
            <a:ext cx="356860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count across all datasets after Fed-Error average,</a:t>
            </a:r>
          </a:p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testing part of the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27ADB6-A961-873E-4B02-7AB85C257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10" y="777320"/>
            <a:ext cx="4024610" cy="2515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AD2FFA-A157-F9DA-6E18-004929FE4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015" y="891540"/>
            <a:ext cx="3691048" cy="230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347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EF87EB5-A1FE-10B3-CF47-5D56495F6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CC97D6F4-FBC2-AC99-FB7F-DF934D73D89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48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F6485B-F7A5-5938-986C-E20703CDA7A9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D8BD16-68EA-3B4B-5920-E072026F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55E76C-F79A-021C-E692-2C81A812A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A2C8BB7-6D2E-506F-9FF2-86599AB37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A8A133-676A-49A8-D0D6-59FD9724E80C}"/>
              </a:ext>
            </a:extLst>
          </p:cNvPr>
          <p:cNvSpPr txBox="1"/>
          <p:nvPr/>
        </p:nvSpPr>
        <p:spPr>
          <a:xfrm>
            <a:off x="404110" y="3498301"/>
            <a:ext cx="30957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rate </a:t>
            </a:r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datasets after Fed-Error average,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complete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7110BF-9058-32F7-F1BE-E47D0DA52E7E}"/>
              </a:ext>
            </a:extLst>
          </p:cNvPr>
          <p:cNvSpPr txBox="1"/>
          <p:nvPr/>
        </p:nvSpPr>
        <p:spPr>
          <a:xfrm>
            <a:off x="4810015" y="3498705"/>
            <a:ext cx="298190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rate across all datasets after Fed-Error average,</a:t>
            </a:r>
          </a:p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testing part of the dataset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6F53F2-DBF4-65DF-ABF5-4BE9DA687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43" y="833681"/>
            <a:ext cx="4289426" cy="2421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44605E-157A-E853-5F20-C99AD8B83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805" y="836558"/>
            <a:ext cx="4750540" cy="228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86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14A6CD0-9DDA-A2EB-E714-CCEEDFE4E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EC1BCE60-921F-2D18-C703-65593CE513D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48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69B31-B897-C078-9A85-162E034E488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ECC9BF-CD34-F52F-6A96-CFF4BE59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18ED0-4DCD-B526-041D-2A758D0A0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83E0CF1-0D40-260E-3783-948C8B60B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70D741-0898-F6DC-D35F-66FB4009E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985" y="1464579"/>
            <a:ext cx="4751705" cy="23755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CE0E48-8634-9BCA-BA40-38015AF29170}"/>
              </a:ext>
            </a:extLst>
          </p:cNvPr>
          <p:cNvSpPr txBox="1"/>
          <p:nvPr/>
        </p:nvSpPr>
        <p:spPr>
          <a:xfrm>
            <a:off x="1863566" y="3794076"/>
            <a:ext cx="49391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CodeBLEU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 between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baseline,FedAverage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FedErrorAverage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A5C1D2-2A16-9086-1166-A1E1E78F0143}"/>
              </a:ext>
            </a:extLst>
          </p:cNvPr>
          <p:cNvSpPr txBox="1"/>
          <p:nvPr/>
        </p:nvSpPr>
        <p:spPr>
          <a:xfrm>
            <a:off x="200025" y="683945"/>
            <a:ext cx="704071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CodeBLEU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metric for evaluating the quality of AI-generated code against reference code.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an extension of the classic BLEU score but specifically designed for code.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2491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753A7FA-871F-D6D5-DD41-BD2AF817F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50B71056-FC18-9F74-5602-60BE5F4086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48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B28AFE-1E17-0D45-945C-3D461EE47B6B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4CBD71-77ED-71E6-8EEB-9F52A401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0AE5AE-CE68-354B-17FA-B4D4B9C07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E22BA0B-CF06-047A-ADB4-69D20CBDD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F4D8D7-760B-0E2F-2EC3-AB25BB4F0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084130"/>
              </p:ext>
            </p:extLst>
          </p:nvPr>
        </p:nvGraphicFramePr>
        <p:xfrm>
          <a:off x="2842631" y="638909"/>
          <a:ext cx="3458738" cy="3657600"/>
        </p:xfrm>
        <a:graphic>
          <a:graphicData uri="http://schemas.openxmlformats.org/drawingml/2006/table">
            <a:tbl>
              <a:tblPr firstRow="1" firstCol="1" bandRow="1">
                <a:tableStyleId>{73B37524-8608-4B16-BC45-35DD96E42492}</a:tableStyleId>
              </a:tblPr>
              <a:tblGrid>
                <a:gridCol w="945215">
                  <a:extLst>
                    <a:ext uri="{9D8B030D-6E8A-4147-A177-3AD203B41FA5}">
                      <a16:colId xmlns:a16="http://schemas.microsoft.com/office/drawing/2014/main" val="3132774420"/>
                    </a:ext>
                  </a:extLst>
                </a:gridCol>
                <a:gridCol w="590064">
                  <a:extLst>
                    <a:ext uri="{9D8B030D-6E8A-4147-A177-3AD203B41FA5}">
                      <a16:colId xmlns:a16="http://schemas.microsoft.com/office/drawing/2014/main" val="3677721800"/>
                    </a:ext>
                  </a:extLst>
                </a:gridCol>
                <a:gridCol w="624948">
                  <a:extLst>
                    <a:ext uri="{9D8B030D-6E8A-4147-A177-3AD203B41FA5}">
                      <a16:colId xmlns:a16="http://schemas.microsoft.com/office/drawing/2014/main" val="3484056511"/>
                    </a:ext>
                  </a:extLst>
                </a:gridCol>
                <a:gridCol w="672450">
                  <a:extLst>
                    <a:ext uri="{9D8B030D-6E8A-4147-A177-3AD203B41FA5}">
                      <a16:colId xmlns:a16="http://schemas.microsoft.com/office/drawing/2014/main" val="2014410953"/>
                    </a:ext>
                  </a:extLst>
                </a:gridCol>
                <a:gridCol w="626061">
                  <a:extLst>
                    <a:ext uri="{9D8B030D-6E8A-4147-A177-3AD203B41FA5}">
                      <a16:colId xmlns:a16="http://schemas.microsoft.com/office/drawing/2014/main" val="1701745086"/>
                    </a:ext>
                  </a:extLst>
                </a:gridCol>
              </a:tblGrid>
              <a:tr h="445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error_type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baseline_</a:t>
                      </a:r>
                      <a:endParaRPr lang="en-IN" sz="8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count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fedavg_</a:t>
                      </a:r>
                      <a:endParaRPr lang="en-IN" sz="8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count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federroravg_</a:t>
                      </a:r>
                      <a:endParaRPr lang="en-IN" sz="8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count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reduction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1003066692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AssertionError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126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135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126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2492902082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AttributeError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14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7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7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944748517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AxisError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168849977"/>
                  </a:ext>
                </a:extLst>
              </a:tr>
              <a:tr h="297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FileNotFoundError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2132556839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IndentationError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18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3325840700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IndexError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4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1139422080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InternalError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1141898099"/>
                  </a:ext>
                </a:extLst>
              </a:tr>
              <a:tr h="297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InvalidIndexError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357474033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KeyError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555528085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NameError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71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17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13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58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1897701030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NotFittedError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2515962030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RuntimeError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3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3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2865652655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SyntaxError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19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9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9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656561758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TimeoutError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3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3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3247003271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TypeError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24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17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18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753326695"/>
                  </a:ext>
                </a:extLst>
              </a:tr>
              <a:tr h="297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UnboundLocalError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1885724379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ValueError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0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3088353496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A7B92D8A-332F-2E7C-0851-5FBE21A43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427" y="4430857"/>
            <a:ext cx="627935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44536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Error reduction comparison for Fed- Error average and baseline</a:t>
            </a:r>
            <a:r>
              <a:rPr lang="en-US" altLang="en-US" sz="400" dirty="0">
                <a:ea typeface="Times New Roman" panose="02020603050405020304" pitchFamily="18" charset="0"/>
              </a:rPr>
              <a:t> 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44536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for test dataset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6466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F391AF51-1422-83D0-19D3-A6DE8AA1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C5C01B-7B27-AA36-4C0A-34465296F653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3AC23A-43EC-F298-3D59-BB08A471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71F723-1326-EA8C-9469-E474C3362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0D0C76C-9086-C567-0D0A-D8C0146DA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33501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2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55E592B-D9CB-78D3-0E53-F46C2379C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48185"/>
              </p:ext>
            </p:extLst>
          </p:nvPr>
        </p:nvGraphicFramePr>
        <p:xfrm>
          <a:off x="589935" y="255463"/>
          <a:ext cx="8229599" cy="4178792"/>
        </p:xfrm>
        <a:graphic>
          <a:graphicData uri="http://schemas.openxmlformats.org/drawingml/2006/table">
            <a:tbl>
              <a:tblPr firstRow="1" firstCol="1" bandRow="1">
                <a:tableStyleId>{73B37524-8608-4B16-BC45-35DD96E42492}</a:tableStyleId>
              </a:tblPr>
              <a:tblGrid>
                <a:gridCol w="2278698">
                  <a:extLst>
                    <a:ext uri="{9D8B030D-6E8A-4147-A177-3AD203B41FA5}">
                      <a16:colId xmlns:a16="http://schemas.microsoft.com/office/drawing/2014/main" val="4000271127"/>
                    </a:ext>
                  </a:extLst>
                </a:gridCol>
                <a:gridCol w="1753773">
                  <a:extLst>
                    <a:ext uri="{9D8B030D-6E8A-4147-A177-3AD203B41FA5}">
                      <a16:colId xmlns:a16="http://schemas.microsoft.com/office/drawing/2014/main" val="2894871864"/>
                    </a:ext>
                  </a:extLst>
                </a:gridCol>
                <a:gridCol w="1216321">
                  <a:extLst>
                    <a:ext uri="{9D8B030D-6E8A-4147-A177-3AD203B41FA5}">
                      <a16:colId xmlns:a16="http://schemas.microsoft.com/office/drawing/2014/main" val="423125282"/>
                    </a:ext>
                  </a:extLst>
                </a:gridCol>
                <a:gridCol w="1906860">
                  <a:extLst>
                    <a:ext uri="{9D8B030D-6E8A-4147-A177-3AD203B41FA5}">
                      <a16:colId xmlns:a16="http://schemas.microsoft.com/office/drawing/2014/main" val="1494052329"/>
                    </a:ext>
                  </a:extLst>
                </a:gridCol>
                <a:gridCol w="1073947">
                  <a:extLst>
                    <a:ext uri="{9D8B030D-6E8A-4147-A177-3AD203B41FA5}">
                      <a16:colId xmlns:a16="http://schemas.microsoft.com/office/drawing/2014/main" val="528244240"/>
                    </a:ext>
                  </a:extLst>
                </a:gridCol>
              </a:tblGrid>
              <a:tr h="1063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 err="1">
                          <a:effectLst/>
                        </a:rPr>
                        <a:t>error_type</a:t>
                      </a:r>
                      <a:endParaRPr lang="en-IN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 err="1">
                          <a:effectLst/>
                        </a:rPr>
                        <a:t>baseline_count</a:t>
                      </a:r>
                      <a:endParaRPr lang="en-IN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 err="1">
                          <a:effectLst/>
                        </a:rPr>
                        <a:t>fedavg_count</a:t>
                      </a:r>
                      <a:endParaRPr lang="en-IN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 err="1">
                          <a:effectLst/>
                        </a:rPr>
                        <a:t>federroravg_count</a:t>
                      </a:r>
                      <a:endParaRPr lang="en-IN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effectLst/>
                        </a:rPr>
                        <a:t>reduction</a:t>
                      </a:r>
                      <a:endParaRPr lang="en-IN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410019524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 err="1">
                          <a:effectLst/>
                        </a:rPr>
                        <a:t>AssertionError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379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364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365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14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579656290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AttributeError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58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43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18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872767034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AxisError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4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134113770"/>
                  </a:ext>
                </a:extLst>
              </a:tr>
              <a:tr h="184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FileNotFoundError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3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3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82335315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 err="1">
                          <a:effectLst/>
                        </a:rPr>
                        <a:t>IndentationError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69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48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60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9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622986893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IndexError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6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9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9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927596398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IndexingError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2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1853673793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InvalidIndexError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119273493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KeyError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19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54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18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873511990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LinAlgError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0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736651507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ModuleNotFoundError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1236467413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NameError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201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56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161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639247701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NotFittedError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6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5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1143038893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NotImplementedError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82601514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OverflowError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0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0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327967285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QhullError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65810488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RecursionError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172198024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RuntimeError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7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7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1841018088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SyntaxError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4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1451738413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TimeoutError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483126562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TypeError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80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85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84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120450409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UFuncTypeError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112563312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UnboundLocalError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1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871663463"/>
                  </a:ext>
                </a:extLst>
              </a:tr>
              <a:tr h="184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UnidentifiedImageError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4144160871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ValueError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61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62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55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6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946782039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return_outside_function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16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6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0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888022342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3BD6C76E-DE3E-223F-34C7-33E24CDCA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5360" y="4538578"/>
            <a:ext cx="52245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44536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Error reduction comparison for Fed- Error average and baseline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6291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441425" y="1196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4" name="Google Shape;94;p19"/>
          <p:cNvGraphicFramePr/>
          <p:nvPr>
            <p:extLst>
              <p:ext uri="{D42A27DB-BD31-4B8C-83A1-F6EECF244321}">
                <p14:modId xmlns:p14="http://schemas.microsoft.com/office/powerpoint/2010/main" val="893193299"/>
              </p:ext>
            </p:extLst>
          </p:nvPr>
        </p:nvGraphicFramePr>
        <p:xfrm>
          <a:off x="441425" y="720450"/>
          <a:ext cx="8261125" cy="367369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4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1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2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Advancing LLM-Generated Code Reliability: A Hybrid Approach for Hallucination Detection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Software Engineering (TSE), 2025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SDHD, a hybrid hallucination detection framework that integrates static analysis and dynamic execution for LLM-generated code. </a:t>
                      </a:r>
                      <a:endParaRPr sz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framework detects eight hallucination types and achieves superior precision, recall, and F1-score across multiple benchmarks.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detection depends on test coverage quality, and incomplete coverage may miss certain logical failures.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framework is currently validated only on Python, limiting cross-language generalizability.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5DAD10-9C7E-1075-FE08-8CA2FC6C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20"/>
          <p:cNvGraphicFramePr/>
          <p:nvPr>
            <p:extLst>
              <p:ext uri="{D42A27DB-BD31-4B8C-83A1-F6EECF244321}">
                <p14:modId xmlns:p14="http://schemas.microsoft.com/office/powerpoint/2010/main" val="754008993"/>
              </p:ext>
            </p:extLst>
          </p:nvPr>
        </p:nvGraphicFramePr>
        <p:xfrm>
          <a:off x="300050" y="296388"/>
          <a:ext cx="8261125" cy="385477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3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Test-Driven Interactive Code Generation: User Study and Empirical Evaluation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Software Engineering (TSE), 2024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TICODER is a test-driven interactive workflow that incrementally clarifies user intent through LLM-generated tests and lightweight user feedback. </a:t>
                      </a:r>
                      <a:endParaRPr sz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ranks and prunes candidate code suggestions based on user-approved tests using two variants: PASS/FAIL validation and explicit output specification. </a:t>
                      </a:r>
                      <a:endParaRPr sz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There is interactive overhead, and incorrect or noisy user feedback can prune correct solutions prematurely.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Effectiveness is contingent on the LLM's ability to generate high-quality tests.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AD0BC3F-A8C1-0D6A-2560-70408457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Google Shape;104;p21"/>
          <p:cNvGraphicFramePr/>
          <p:nvPr>
            <p:extLst>
              <p:ext uri="{D42A27DB-BD31-4B8C-83A1-F6EECF244321}">
                <p14:modId xmlns:p14="http://schemas.microsoft.com/office/powerpoint/2010/main" val="55936638"/>
              </p:ext>
            </p:extLst>
          </p:nvPr>
        </p:nvGraphicFramePr>
        <p:xfrm>
          <a:off x="300050" y="296388"/>
          <a:ext cx="8261125" cy="4242099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3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5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Federated Adaptive Large Language Model Fine-Tuning Framework for Software Development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Services Computing, 2025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framework integrates LoRA-based parameter-efficient fine-tuning within a federated setting, where each organization locally trains lightweight adapter modules and shares only adapter to the central server.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144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 FedAvg-style is used to combine adapters based on local data size and an L2-norm constraint to manage gradient divergence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144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 results show degraded performance on unrelated datasets.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Although communication costs are reduced, the framework still requires multiple communication rounds, which may introduce latency in large-scale federations.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096F2E-7245-C248-0081-320EA114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22"/>
          <p:cNvGraphicFramePr/>
          <p:nvPr>
            <p:extLst>
              <p:ext uri="{D42A27DB-BD31-4B8C-83A1-F6EECF244321}">
                <p14:modId xmlns:p14="http://schemas.microsoft.com/office/powerpoint/2010/main" val="2278362301"/>
              </p:ext>
            </p:extLst>
          </p:nvPr>
        </p:nvGraphicFramePr>
        <p:xfrm>
          <a:off x="300050" y="296388"/>
          <a:ext cx="8261125" cy="475992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Towards Efficient Fine-Tuning of Language Models With Organizational Data for Automated Software Review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Software Engineering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CodeMentor, a framework for few-shot learning that utilizes heuristic rules and weak supervision to construct datasets from internal organizational data 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employs Low-Rank Adaptation (LoRA) for parameter-efficient fine-tuning and integrates Reinforcement Learning from Human Feedback (RLHF) to incorporate domain expertise.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framework depends on the quality of organizational data, which may introduce domain bias and limit generalization across different coding lang.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RLHF requires computational resources and expert involvement,bottleneck scenario during scaling.</a:t>
                      </a: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58FC84A-24B3-6446-4E41-247D0A39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Google Shape;114;p23"/>
          <p:cNvGraphicFramePr/>
          <p:nvPr>
            <p:extLst>
              <p:ext uri="{D42A27DB-BD31-4B8C-83A1-F6EECF244321}">
                <p14:modId xmlns:p14="http://schemas.microsoft.com/office/powerpoint/2010/main" val="3029395220"/>
              </p:ext>
            </p:extLst>
          </p:nvPr>
        </p:nvGraphicFramePr>
        <p:xfrm>
          <a:off x="300050" y="296388"/>
          <a:ext cx="8261125" cy="475992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Impact of Prompt Programming on Function-Level Code Generation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Software Engineering (TSE), 2025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Empirical study to evaluate the impact of prompt programming techniques on function-level code generation. 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CodePromptEval, a dataset of 7,072 prompts derived from 221 real-world Python functions, covering five prompt techniques: few-shot learning, chain-of-thought, persona, function signature, and package context, including all 32 possible combinations.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is restricted to Python function-level tasks, limiting generalizability to other languages and higher-level program synthesis.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Rely on benchmark-driven evaluation, which may not fully capture real-world scenario.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Prompt techniques are evaluated in a fixed ordering, excluding effects of alternative prompt sequencing.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7078CF2-1596-336B-6ED1-3DD6BC60D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p24"/>
          <p:cNvGraphicFramePr/>
          <p:nvPr>
            <p:extLst>
              <p:ext uri="{D42A27DB-BD31-4B8C-83A1-F6EECF244321}">
                <p14:modId xmlns:p14="http://schemas.microsoft.com/office/powerpoint/2010/main" val="3301104967"/>
              </p:ext>
            </p:extLst>
          </p:nvPr>
        </p:nvGraphicFramePr>
        <p:xfrm>
          <a:off x="158675" y="180338"/>
          <a:ext cx="8261125" cy="475992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Adaptive Framework Embedded With LLM for Knowledge Graph Construction</a:t>
                      </a: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Multimedia, Vol. 27, 2025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KG construction happens in three stages: Information Extraction (IE) for open triple extraction, Additional Relation (AR) for enriching triples with semantic information, and Knowledge Graph Normalization (KGN) for schema-level alignment using vector similarity search. 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Prompt Generation (APG) module automatically generates, evaluates, and ranks prompts to guide LLM behavior across stages, enabling multi-domain KG construction from text, speech, and images.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overhead due to multi-stage LLM inference, embedding generation, and vector similarity matching.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framework relies heavily on prompt engineering, which,, is not fully autonomous and may still suffer from hallucination and semantic inconsistency.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19EDAAF-D842-18C3-CB99-A7FC4873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Google Shape;124;p25"/>
          <p:cNvGraphicFramePr/>
          <p:nvPr>
            <p:extLst>
              <p:ext uri="{D42A27DB-BD31-4B8C-83A1-F6EECF244321}">
                <p14:modId xmlns:p14="http://schemas.microsoft.com/office/powerpoint/2010/main" val="3704197319"/>
              </p:ext>
            </p:extLst>
          </p:nvPr>
        </p:nvGraphicFramePr>
        <p:xfrm>
          <a:off x="158675" y="180338"/>
          <a:ext cx="8261125" cy="489939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7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9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[7]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Fight Fire With Fire: How Much Can We Trust ChatGPT on Source Code-Related Tasks?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Software Engineering (TSE), Vol. 50, No. 12, 2024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Evaluating self-verification capability of GPT for: code generation, code completion, and program repair.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Direct question, guiding question, and test report generation prompting is used assess whether ChatGPT can reliably validate its own outputs. 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Effectiveness is measured using accuracy, precision, recall, and F1-score, with additional analysis of self-contradictory hallucinations.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 show that ChatGPT frequently overestimates the correctness of its own outputs, leading to low recall in direct self-verification.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While guiding questions and test reports improve recall, precision is reduced.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Generated test reports often contain incorrect explanations, especially for code generation and failed repairs.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011956F5-8BD8-A305-FE58-515A5F044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Google Shape;129;p26"/>
          <p:cNvGraphicFramePr/>
          <p:nvPr>
            <p:extLst>
              <p:ext uri="{D42A27DB-BD31-4B8C-83A1-F6EECF244321}">
                <p14:modId xmlns:p14="http://schemas.microsoft.com/office/powerpoint/2010/main" val="1558749978"/>
              </p:ext>
            </p:extLst>
          </p:nvPr>
        </p:nvGraphicFramePr>
        <p:xfrm>
          <a:off x="432816" y="158589"/>
          <a:ext cx="8269747" cy="4915026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3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2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8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734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4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[8]</a:t>
                      </a: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FedALoRA: Adaptive Local LoRA Aggregation for Personalized Federated Learning in LLM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Internet of Things Journal, Vol. 12, No. 24, December 2025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FedALoRA, a personalized federated learning framework that integrates LoRA-based PEFT with adaptive local aggregation to address severe non-IID data in federated LLM training.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FedALoRA uses an Adaptive LoRA Aggregation to merge global and local parameters via locally learned weights. This selective, element-wise fusion focused on higher transformer layers preserves domain expertise while capturing shared knowledge without increasing communication costs.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FedALoRA introduces additional local optimization complexity due to adaptive weight learning in ALoRA modules.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method requires careful tuning of the hyperparameter </a:t>
                      </a:r>
                      <a:r>
                        <a:rPr lang="en" sz="1250" i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which controls the number of transformer layers involved in adaptive aggregation, and improper settings can degrade performance.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A79D816-F7BF-2070-ED95-42C4973E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Google Shape;134;p27"/>
          <p:cNvGraphicFramePr/>
          <p:nvPr>
            <p:extLst>
              <p:ext uri="{D42A27DB-BD31-4B8C-83A1-F6EECF244321}">
                <p14:modId xmlns:p14="http://schemas.microsoft.com/office/powerpoint/2010/main" val="3290235421"/>
              </p:ext>
            </p:extLst>
          </p:nvPr>
        </p:nvGraphicFramePr>
        <p:xfrm>
          <a:off x="441425" y="-12"/>
          <a:ext cx="8261125" cy="4984920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9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5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[9]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Need to Lift a Finger Anymore? Assessing the Quality of Code Generation by ChatGPT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Software Engineering (TSE), Vol. 50, No. 6, June 2024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framework for assessing ChatGPT-based code generation. The authors construct standardized prompts for 728 LeetCode algorithm problems and 54 CWE security scenarios across five programming languages. 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Generated code is evaluated using automated judgment platforms (LeetCode for functional correctness) and static analysis tools (CodeQL for vulnerability detection). 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multi-round fixing process is designed, where execution or analysis feedback is iteratively fed back to ChatGPT for up to 5 rounds. 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ChatGPT performs significantly better on problems published before 2021, indicating reliance on memorized patterns rather than reasoning.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dialog-based fixing process has limited effectiveness, for logically complex problems 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Generated code often contains security vulnerabilities and non-deterministic behavior.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A62A48A-111D-C2F4-2BA9-7108E1C58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139;p28"/>
          <p:cNvGraphicFramePr/>
          <p:nvPr>
            <p:extLst>
              <p:ext uri="{D42A27DB-BD31-4B8C-83A1-F6EECF244321}">
                <p14:modId xmlns:p14="http://schemas.microsoft.com/office/powerpoint/2010/main" val="1584100901"/>
              </p:ext>
            </p:extLst>
          </p:nvPr>
        </p:nvGraphicFramePr>
        <p:xfrm>
          <a:off x="446270" y="351469"/>
          <a:ext cx="8251460" cy="4242522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8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1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3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1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29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[10]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 Enhanced Program Repair for Data Science Code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Proceedings of the 47th IEEE/ACM International Conference on Software Engineering (ICSE), 2025 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API KG Construction is done using a custom ontology and RDF triples to model API attributes and dependencies for seven data science libraries.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SPARQL is used for knowledge retrieval from on buggy code.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AST level Bug Knowledge Enrichment, which executes code node-by-node to localize runtime and assertion errors at the AST node level.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DS-KG is version-specific and requires continuous updates to track evolving API documentation, making long-term maintenance costly and error-prone.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KG-based knowledge retrieval introduces higher latency than plain-text search.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0EDA8FF-2471-A46F-77C8-C3A2A6C3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Google Shape;144;p29"/>
          <p:cNvGraphicFramePr/>
          <p:nvPr>
            <p:extLst>
              <p:ext uri="{D42A27DB-BD31-4B8C-83A1-F6EECF244321}">
                <p14:modId xmlns:p14="http://schemas.microsoft.com/office/powerpoint/2010/main" val="483093346"/>
              </p:ext>
            </p:extLst>
          </p:nvPr>
        </p:nvGraphicFramePr>
        <p:xfrm>
          <a:off x="467360" y="158588"/>
          <a:ext cx="8235204" cy="4997588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0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9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59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80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[11]</a:t>
                      </a: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THINK: Tackling API Hallucinations in LLMs via Injecting Knowledge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International Conference on Software Analysis, Evolution and Reengineering (SANER), 2025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THINK proposes a two-phase API hallucination mitigation framework consisting of Pre and Post execution Optimization.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Constructs an API knowledge database (Javadoc + validated code examples) and retrieves task-relevant APIs using task decomposition, similarity search, and LLM-based API labeling to guide code generation.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Error Classification into Seven API Error Types for correction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may introduce irrelevant API knowledge, occasionally degrading performance for tasks already solvable by strong LLMs.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 retrieval results and ReAct-based repair depend on LLM generation, leading to non-deterministic behavior and reduced reproducibility across runs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84054B6-4AC5-8145-6C3F-AC137093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30"/>
          <p:cNvGraphicFramePr/>
          <p:nvPr>
            <p:extLst>
              <p:ext uri="{D42A27DB-BD31-4B8C-83A1-F6EECF244321}">
                <p14:modId xmlns:p14="http://schemas.microsoft.com/office/powerpoint/2010/main" val="1409812517"/>
              </p:ext>
            </p:extLst>
          </p:nvPr>
        </p:nvGraphicFramePr>
        <p:xfrm>
          <a:off x="477520" y="158588"/>
          <a:ext cx="8496893" cy="4300963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59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9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81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0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3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[12]</a:t>
                      </a: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EvoAPR: Enhancing Large Language Models for Automatic Program Repair with Genetic Algorithm and Dynamic LoRA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International Conference on Web Services (ICWS), 2025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Genetic evolution of buggy hunks under tri-objective fitness: syntax compliance, bug-hunk masking rate, repair-location masking rate.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lang="en-US"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</a:t>
                      </a:r>
                      <a:r>
                        <a:rPr lang="en-US" sz="125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</a:t>
                      </a:r>
                      <a:r>
                        <a:rPr lang="en-US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swaps non-overlapping rank-r adapters per bug-index/project for on-demand, project-specific parameter retrieval.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lang="en-US"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+ </a:t>
                      </a:r>
                      <a:r>
                        <a:rPr lang="en-US" sz="125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</a:t>
                      </a:r>
                      <a:r>
                        <a:rPr lang="en-US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models generate candidate patches; token-level entropy scorer picks the least uncertain fix as the final patch.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Genetic template evolution and dynamic </a:t>
                      </a:r>
                      <a:r>
                        <a:rPr lang="en-US" sz="125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</a:t>
                      </a:r>
                      <a:r>
                        <a:rPr lang="en-US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fine-tuning introduce significant computation and implementation complexity.</a:t>
                      </a: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effectiveness of both stages relies on accurate bug localization and rich bug context. 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EC950B-A91F-8BE2-5FA0-7C9C75649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Google Shape;154;p31"/>
          <p:cNvGraphicFramePr/>
          <p:nvPr>
            <p:extLst>
              <p:ext uri="{D42A27DB-BD31-4B8C-83A1-F6EECF244321}">
                <p14:modId xmlns:p14="http://schemas.microsoft.com/office/powerpoint/2010/main" val="3571052236"/>
              </p:ext>
            </p:extLst>
          </p:nvPr>
        </p:nvGraphicFramePr>
        <p:xfrm>
          <a:off x="441438" y="158588"/>
          <a:ext cx="8532975" cy="4673567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2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8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34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39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[13]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CodeHalu: Investigating Code Hallucinations in LLMs via Execution Based Verification</a:t>
                      </a: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Proceedings of the AAAI Conference on Artificial Intelligence (AAAI), 2025</a:t>
                      </a: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Executes LLM-generated code against test cases under time and memory constraints, recording execution failures, unexpected outputs, infinite loop behaviors to detect hallucination states.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Aggregates execution states across multiple LLMs and applies a two-stage heuristic induction process to classify hallucinations into four main types (Mapping, Naming, Resource, Logic) and eight subcategories.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focuses exclusively on Python, and hallucination behaviors in other programming languages are not evaluated.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CodeHalu targets functional and logical correctness; identifying or mitigating security vulnerabilities is outside its scope.</a:t>
                      </a:r>
                      <a:endParaRPr sz="125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3F45032-2010-45EA-7E5B-339A03038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>
            <a:spLocks noGrp="1"/>
          </p:cNvSpPr>
          <p:nvPr>
            <p:ph type="title"/>
          </p:nvPr>
        </p:nvSpPr>
        <p:spPr>
          <a:xfrm>
            <a:off x="52888" y="872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FOR COMPLETION OF MODULES</a:t>
            </a:r>
            <a:endParaRPr sz="16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Google Shape;214;p41"/>
          <p:cNvSpPr/>
          <p:nvPr/>
        </p:nvSpPr>
        <p:spPr>
          <a:xfrm>
            <a:off x="5089555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41"/>
          <p:cNvSpPr/>
          <p:nvPr/>
        </p:nvSpPr>
        <p:spPr>
          <a:xfrm>
            <a:off x="6882362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41"/>
          <p:cNvSpPr/>
          <p:nvPr/>
        </p:nvSpPr>
        <p:spPr>
          <a:xfrm>
            <a:off x="1501807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41"/>
          <p:cNvSpPr/>
          <p:nvPr/>
        </p:nvSpPr>
        <p:spPr>
          <a:xfrm>
            <a:off x="1500588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41"/>
          <p:cNvSpPr/>
          <p:nvPr/>
        </p:nvSpPr>
        <p:spPr>
          <a:xfrm>
            <a:off x="1500588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</a:t>
            </a:r>
            <a:endParaRPr/>
          </a:p>
        </p:txBody>
      </p:sp>
      <p:sp>
        <p:nvSpPr>
          <p:cNvPr id="219" name="Google Shape;219;p41"/>
          <p:cNvSpPr/>
          <p:nvPr/>
        </p:nvSpPr>
        <p:spPr>
          <a:xfrm>
            <a:off x="1500588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41"/>
          <p:cNvSpPr/>
          <p:nvPr/>
        </p:nvSpPr>
        <p:spPr>
          <a:xfrm>
            <a:off x="1500588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41"/>
          <p:cNvSpPr/>
          <p:nvPr/>
        </p:nvSpPr>
        <p:spPr>
          <a:xfrm>
            <a:off x="3295448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41"/>
          <p:cNvSpPr/>
          <p:nvPr/>
        </p:nvSpPr>
        <p:spPr>
          <a:xfrm>
            <a:off x="3294229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1"/>
          <p:cNvSpPr/>
          <p:nvPr/>
        </p:nvSpPr>
        <p:spPr>
          <a:xfrm>
            <a:off x="3294229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41"/>
          <p:cNvSpPr/>
          <p:nvPr/>
        </p:nvSpPr>
        <p:spPr>
          <a:xfrm>
            <a:off x="3294229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41"/>
          <p:cNvSpPr/>
          <p:nvPr/>
        </p:nvSpPr>
        <p:spPr>
          <a:xfrm>
            <a:off x="3295579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41"/>
          <p:cNvSpPr/>
          <p:nvPr/>
        </p:nvSpPr>
        <p:spPr>
          <a:xfrm>
            <a:off x="1502830" y="1449659"/>
            <a:ext cx="17925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Q1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41"/>
          <p:cNvSpPr/>
          <p:nvPr/>
        </p:nvSpPr>
        <p:spPr>
          <a:xfrm>
            <a:off x="1502830" y="1757137"/>
            <a:ext cx="5970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41"/>
          <p:cNvSpPr/>
          <p:nvPr/>
        </p:nvSpPr>
        <p:spPr>
          <a:xfrm>
            <a:off x="2100319" y="1757137"/>
            <a:ext cx="5970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41"/>
          <p:cNvSpPr/>
          <p:nvPr/>
        </p:nvSpPr>
        <p:spPr>
          <a:xfrm>
            <a:off x="2697808" y="1757137"/>
            <a:ext cx="5970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41"/>
          <p:cNvSpPr/>
          <p:nvPr/>
        </p:nvSpPr>
        <p:spPr>
          <a:xfrm>
            <a:off x="3296475" y="1449659"/>
            <a:ext cx="17925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Q2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41"/>
          <p:cNvSpPr/>
          <p:nvPr/>
        </p:nvSpPr>
        <p:spPr>
          <a:xfrm>
            <a:off x="3296475" y="1757137"/>
            <a:ext cx="5970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41"/>
          <p:cNvSpPr/>
          <p:nvPr/>
        </p:nvSpPr>
        <p:spPr>
          <a:xfrm>
            <a:off x="3893964" y="1757137"/>
            <a:ext cx="5970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41"/>
          <p:cNvSpPr/>
          <p:nvPr/>
        </p:nvSpPr>
        <p:spPr>
          <a:xfrm>
            <a:off x="4491453" y="1757137"/>
            <a:ext cx="5970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41"/>
          <p:cNvSpPr/>
          <p:nvPr/>
        </p:nvSpPr>
        <p:spPr>
          <a:xfrm>
            <a:off x="5089424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1"/>
          <p:cNvSpPr/>
          <p:nvPr/>
        </p:nvSpPr>
        <p:spPr>
          <a:xfrm>
            <a:off x="5089555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41"/>
          <p:cNvSpPr/>
          <p:nvPr/>
        </p:nvSpPr>
        <p:spPr>
          <a:xfrm>
            <a:off x="5089555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41"/>
          <p:cNvSpPr/>
          <p:nvPr/>
        </p:nvSpPr>
        <p:spPr>
          <a:xfrm>
            <a:off x="5089555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41"/>
          <p:cNvSpPr/>
          <p:nvPr/>
        </p:nvSpPr>
        <p:spPr>
          <a:xfrm>
            <a:off x="5090451" y="1449659"/>
            <a:ext cx="17925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Q3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41"/>
          <p:cNvSpPr/>
          <p:nvPr/>
        </p:nvSpPr>
        <p:spPr>
          <a:xfrm>
            <a:off x="5090451" y="1757137"/>
            <a:ext cx="5970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41"/>
          <p:cNvSpPr/>
          <p:nvPr/>
        </p:nvSpPr>
        <p:spPr>
          <a:xfrm>
            <a:off x="5687940" y="1757137"/>
            <a:ext cx="5970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41"/>
          <p:cNvSpPr/>
          <p:nvPr/>
        </p:nvSpPr>
        <p:spPr>
          <a:xfrm>
            <a:off x="6285429" y="1757137"/>
            <a:ext cx="5970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41"/>
          <p:cNvSpPr/>
          <p:nvPr/>
        </p:nvSpPr>
        <p:spPr>
          <a:xfrm>
            <a:off x="6882362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41"/>
          <p:cNvSpPr/>
          <p:nvPr/>
        </p:nvSpPr>
        <p:spPr>
          <a:xfrm>
            <a:off x="6882493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41"/>
          <p:cNvSpPr/>
          <p:nvPr/>
        </p:nvSpPr>
        <p:spPr>
          <a:xfrm>
            <a:off x="6882362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41"/>
          <p:cNvSpPr/>
          <p:nvPr/>
        </p:nvSpPr>
        <p:spPr>
          <a:xfrm>
            <a:off x="6882362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41"/>
          <p:cNvSpPr/>
          <p:nvPr/>
        </p:nvSpPr>
        <p:spPr>
          <a:xfrm>
            <a:off x="6883389" y="1449659"/>
            <a:ext cx="17925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Q4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41"/>
          <p:cNvSpPr/>
          <p:nvPr/>
        </p:nvSpPr>
        <p:spPr>
          <a:xfrm>
            <a:off x="6883389" y="1757137"/>
            <a:ext cx="5970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41"/>
          <p:cNvSpPr/>
          <p:nvPr/>
        </p:nvSpPr>
        <p:spPr>
          <a:xfrm>
            <a:off x="7480878" y="1757137"/>
            <a:ext cx="5970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41"/>
          <p:cNvSpPr/>
          <p:nvPr/>
        </p:nvSpPr>
        <p:spPr>
          <a:xfrm>
            <a:off x="8078367" y="1757137"/>
            <a:ext cx="5970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41"/>
          <p:cNvSpPr/>
          <p:nvPr/>
        </p:nvSpPr>
        <p:spPr>
          <a:xfrm rot="5400000" flipH="1">
            <a:off x="4116388" y="2335009"/>
            <a:ext cx="145800" cy="1775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41"/>
          <p:cNvSpPr/>
          <p:nvPr/>
        </p:nvSpPr>
        <p:spPr>
          <a:xfrm rot="5400000" flipH="1">
            <a:off x="3303601" y="3151368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3D3D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41"/>
          <p:cNvSpPr/>
          <p:nvPr/>
        </p:nvSpPr>
        <p:spPr>
          <a:xfrm rot="5400000" flipH="1">
            <a:off x="3534363" y="1285334"/>
            <a:ext cx="140700" cy="2945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41"/>
          <p:cNvSpPr/>
          <p:nvPr/>
        </p:nvSpPr>
        <p:spPr>
          <a:xfrm rot="5400000" flipH="1">
            <a:off x="2395113" y="2424325"/>
            <a:ext cx="141900" cy="6684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2F2F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41"/>
          <p:cNvSpPr/>
          <p:nvPr/>
        </p:nvSpPr>
        <p:spPr>
          <a:xfrm>
            <a:off x="486813" y="2526983"/>
            <a:ext cx="1014600" cy="4629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41"/>
          <p:cNvSpPr/>
          <p:nvPr/>
        </p:nvSpPr>
        <p:spPr>
          <a:xfrm>
            <a:off x="486813" y="2989504"/>
            <a:ext cx="1014600" cy="4629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41"/>
          <p:cNvSpPr/>
          <p:nvPr/>
        </p:nvSpPr>
        <p:spPr>
          <a:xfrm>
            <a:off x="486813" y="3451855"/>
            <a:ext cx="1014600" cy="462900"/>
          </a:xfrm>
          <a:prstGeom prst="rect">
            <a:avLst/>
          </a:prstGeom>
          <a:solidFill>
            <a:srgbClr val="41414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1"/>
          <p:cNvSpPr/>
          <p:nvPr/>
        </p:nvSpPr>
        <p:spPr>
          <a:xfrm>
            <a:off x="486813" y="3914359"/>
            <a:ext cx="1014600" cy="462900"/>
          </a:xfrm>
          <a:prstGeom prst="rect">
            <a:avLst/>
          </a:prstGeom>
          <a:solidFill>
            <a:srgbClr val="41414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41"/>
          <p:cNvSpPr/>
          <p:nvPr/>
        </p:nvSpPr>
        <p:spPr>
          <a:xfrm>
            <a:off x="486813" y="1449659"/>
            <a:ext cx="1014600" cy="10779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41"/>
          <p:cNvSpPr/>
          <p:nvPr/>
        </p:nvSpPr>
        <p:spPr>
          <a:xfrm rot="5400000" flipH="1">
            <a:off x="2913036" y="1109759"/>
            <a:ext cx="141600" cy="23721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41"/>
          <p:cNvSpPr/>
          <p:nvPr/>
        </p:nvSpPr>
        <p:spPr>
          <a:xfrm rot="5400000" flipH="1">
            <a:off x="1918137" y="1961309"/>
            <a:ext cx="141900" cy="669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2F2F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41"/>
          <p:cNvSpPr/>
          <p:nvPr/>
        </p:nvSpPr>
        <p:spPr>
          <a:xfrm>
            <a:off x="2086313" y="2273159"/>
            <a:ext cx="44700" cy="453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1"/>
          <p:cNvSpPr/>
          <p:nvPr/>
        </p:nvSpPr>
        <p:spPr>
          <a:xfrm>
            <a:off x="2961497" y="2273158"/>
            <a:ext cx="44700" cy="453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41"/>
          <p:cNvSpPr/>
          <p:nvPr/>
        </p:nvSpPr>
        <p:spPr>
          <a:xfrm rot="5400000" flipH="1">
            <a:off x="6514288" y="2793034"/>
            <a:ext cx="137400" cy="1782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1"/>
          <p:cNvSpPr/>
          <p:nvPr/>
        </p:nvSpPr>
        <p:spPr>
          <a:xfrm rot="5400000" flipH="1">
            <a:off x="5691925" y="3612734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1"/>
          <p:cNvSpPr txBox="1"/>
          <p:nvPr/>
        </p:nvSpPr>
        <p:spPr>
          <a:xfrm>
            <a:off x="8142151" y="4409255"/>
            <a:ext cx="526800" cy="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505050"/>
                </a:solidFill>
                <a:latin typeface="Roboto"/>
                <a:ea typeface="Roboto"/>
                <a:cs typeface="Roboto"/>
                <a:sym typeface="Roboto"/>
              </a:rPr>
              <a:t>LOREM</a:t>
            </a:r>
            <a:endParaRPr>
              <a:solidFill>
                <a:srgbClr val="505050"/>
              </a:solidFill>
            </a:endParaRPr>
          </a:p>
        </p:txBody>
      </p:sp>
      <p:sp>
        <p:nvSpPr>
          <p:cNvPr id="266" name="Google Shape;266;p41"/>
          <p:cNvSpPr/>
          <p:nvPr/>
        </p:nvSpPr>
        <p:spPr>
          <a:xfrm>
            <a:off x="8139617" y="4425358"/>
            <a:ext cx="66300" cy="57600"/>
          </a:xfrm>
          <a:prstGeom prst="triangle">
            <a:avLst>
              <a:gd name="adj" fmla="val 50000"/>
            </a:avLst>
          </a:prstGeom>
          <a:solidFill>
            <a:srgbClr val="505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41"/>
          <p:cNvSpPr/>
          <p:nvPr/>
        </p:nvSpPr>
        <p:spPr>
          <a:xfrm rot="5400000" flipH="1">
            <a:off x="7408988" y="2957584"/>
            <a:ext cx="141600" cy="23772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41"/>
          <p:cNvSpPr/>
          <p:nvPr/>
        </p:nvSpPr>
        <p:spPr>
          <a:xfrm rot="5400000" flipH="1">
            <a:off x="6291200" y="4075509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12" y="486640"/>
            <a:ext cx="8368775" cy="42481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02EAA37-3BFD-0A03-BF8E-95733DA8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7238" y="4874346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E59D6B-3D2F-BE30-B603-5BF365F12FE4}"/>
              </a:ext>
            </a:extLst>
          </p:cNvPr>
          <p:cNvSpPr txBox="1"/>
          <p:nvPr/>
        </p:nvSpPr>
        <p:spPr>
          <a:xfrm>
            <a:off x="2408203" y="4734832"/>
            <a:ext cx="4594032" cy="56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US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Fig.3 Federated learning + </a:t>
            </a:r>
            <a:r>
              <a:rPr lang="en-US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LoRA</a:t>
            </a:r>
            <a:r>
              <a:rPr lang="en-US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fine-tuning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15000"/>
              </a:lnSpc>
              <a:buNone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>
            <a:spLocks noGrp="1"/>
          </p:cNvSpPr>
          <p:nvPr>
            <p:ph type="title"/>
          </p:nvPr>
        </p:nvSpPr>
        <p:spPr>
          <a:xfrm>
            <a:off x="43500" y="65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sz="16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Google Shape;275;p42"/>
          <p:cNvSpPr txBox="1"/>
          <p:nvPr/>
        </p:nvSpPr>
        <p:spPr>
          <a:xfrm>
            <a:off x="357675" y="558450"/>
            <a:ext cx="8096400" cy="384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B. Yang, J. Dang, H. Liu and Z. Jin, "Advancing LLM-Generated Code Reliability: A Hybrid Approach for Hallucination Detection" in IEEE Transactions on Software Engineering, vol. , no. 01, pp. 1-17, PrePrints 5555, doi: 10.1109/TSE.2025.3640641.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S. Fakhoury, A. Naik, G. Sakkas, S. Chakraborty and S. K. Lahiri, "LLM-Based Test-Driven Interactive Code Generation: User Study and Empirical Evaluation,"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50, no. 9, pp. 2254-2268, Sept. 2024, doi: 10.1109/TSE.2024.3428972.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J. Chen, Z. Cai, W. Chen, W. Wang, Z. Zheng and P. S. Yu, "A Federated Adaptive Large Language Model Fine-Tuning Framework for Software Development,"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Services Computing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doi: 10.1109/TSC.2025.3623626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M. Nashaat and J. Miller, "Towards Efficient Fine-Tuning of Language Models With Organizational Data for Automated Software Review,"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50, no. 9, pp. 2240-2253, Sept. 2024, doi: 10.1109/TSE.2024.3428324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R. Khojah, F. G. de Oliveira Neto, M. Mohamad and P. Leitner, "The Impact of Prompt Programming on Function-Level Code Generation,"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51, no. 8, pp. 2381-2395, Aug. 2025, doi: 10.1109/TSE.2025.3587794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01E48B-87A2-2BCF-E349-A9BD23A6C061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99B3B4-0693-4394-8204-0345F0F0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>
            <a:spLocks noGrp="1"/>
          </p:cNvSpPr>
          <p:nvPr>
            <p:ph type="title"/>
          </p:nvPr>
        </p:nvSpPr>
        <p:spPr>
          <a:xfrm>
            <a:off x="43500" y="65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sz="16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Google Shape;281;p43"/>
          <p:cNvSpPr txBox="1"/>
          <p:nvPr/>
        </p:nvSpPr>
        <p:spPr>
          <a:xfrm>
            <a:off x="357675" y="558450"/>
            <a:ext cx="8096400" cy="404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Q. Wang, C. Li, Y. Liu, Q. Zhu, J. Song and T. Shen, "An Adaptive Framework Embedded With LLM for Knowledge Graph Construction,"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Multimedia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27, pp. 2912-2923, 2025, doi: 10.1109/TMM.2025.3557717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X. Yu, L. Liu, X. Hu, J. W. Keung, J. Liu and X. Xia, "Fight Fire With Fire: How Much Can We Trust ChatGPT on Source Code-Related Tasks?,"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50, no. 12, pp. 3435-3453, Dec. 2024, doi: 10.1109/TSE.2024.3492204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X. Yi, C. Hu, B. Cai, H. Huang, Y. Chen and K. Wang, "FedALoRA: Adaptive Local LoRA Aggregation for Personalized Federated Learning in LLM,"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Internet of Things Journal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24, pp. 51854-51865, 15 Dec.15, 2025, doi: 10.1109/JIOT.2025.3582427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 Z. Liu, Y. Tang, X. Luo, Y. Zhou and L. F. Zhang, "No Need to Lift a Finger Anymore? Assessing the Quality of Code Generation by ChatGPT,"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50, no. 6, pp. 1548-1584, June 2024, doi: 10.1109/TSE.2024.3392499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 S. Ouyang, J. M. Zhang, Z. Sun and A. M. Penuela, "Knowledge-Enhanced Program Repair for Data Science Code," in 2025 IEEE/ACM 47th International Conference on Software Engineering (ICSE), Ottawa, ON, Canada, 2025, pp. 898-910, doi: 10.1109/ICSE55347.2025.00246.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0F5BB5-7582-8009-95B3-892C991DC818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2807D-FBEA-42BB-AD63-CB591C89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>
            <a:spLocks noGrp="1"/>
          </p:cNvSpPr>
          <p:nvPr>
            <p:ph type="title"/>
          </p:nvPr>
        </p:nvSpPr>
        <p:spPr>
          <a:xfrm>
            <a:off x="43500" y="65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sz="16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Google Shape;287;p44"/>
          <p:cNvSpPr txBox="1"/>
          <p:nvPr/>
        </p:nvSpPr>
        <p:spPr>
          <a:xfrm>
            <a:off x="357675" y="732850"/>
            <a:ext cx="8096400" cy="26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[11] J. Liu, Y. Zhang, D. Wang, Y. Li and W. Dong, "THINK: Tackling API Hallucinations in LLMs via Injecting Knowledge,"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IEEE International Conference on Software Analysis, Evolution and Reengineering (SANER)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Montreal, QC, Canada, 2025, pp. 229-240, doi: 10.1109/SANER64311.2025.00029.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[12] H. Zhang, Q. Yan, W. Min, C. Zhang, L. Kuang and Y. Xia, "EvoAPR: Enhancing Large Language Models for Automatic Program Repair with Genetic Algorithm and Dynamic LoRA,"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IEEE International Conference on Web Services (ICWS)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Helsinki, Finland, 2025, pp. 946-956, doi: 10.1109/ICWS67624.2025.00123.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[13] X. Yi, C. Hu, B. Cai, H. Huang, Y. Chen and K. Wang, "FedALoRA: Adaptive Local LoRA Aggregation for Personalized Federated Learning in LLM," in </a:t>
            </a:r>
            <a:r>
              <a:rPr lang="en" sz="12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Internet of Things Journal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24, pp. 51854-51865, 15 Dec.15, 2025, doi: 10.1109/JIOT.2025.3582427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BAA438-3A28-B6E8-51AD-06BFE843BA8C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A786E8-CB83-1655-EC66-3A251ED3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</TotalTime>
  <Words>5454</Words>
  <Application>Microsoft Office PowerPoint</Application>
  <PresentationFormat>On-screen Show (16:9)</PresentationFormat>
  <Paragraphs>932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Roboto</vt:lpstr>
      <vt:lpstr>Times New Roman</vt:lpstr>
      <vt:lpstr>Arial</vt:lpstr>
      <vt:lpstr>Cambria Math</vt:lpstr>
      <vt:lpstr>Simple Light</vt:lpstr>
      <vt:lpstr>Federated Learning for Code Generation with Hallucination-Aware Fine Tuning </vt:lpstr>
      <vt:lpstr>INTRODUCTION</vt:lpstr>
      <vt:lpstr>PROBLEM STATEMENT</vt:lpstr>
      <vt:lpstr>OBJECTIVES</vt:lpstr>
      <vt:lpstr>PowerPoint Presentation</vt:lpstr>
      <vt:lpstr>PowerPoint Presentation</vt:lpstr>
      <vt:lpstr>METHODS/MODULES USED 1.Problem ingestion and code generation</vt:lpstr>
      <vt:lpstr>2.Hallucination detection</vt:lpstr>
      <vt:lpstr>3.Dataset creation</vt:lpstr>
      <vt:lpstr>4.Fine tuning using LoRA </vt:lpstr>
      <vt:lpstr>5.Federated Aggregation and Distribution</vt:lpstr>
      <vt:lpstr>PowerPoint Presentation</vt:lpstr>
      <vt:lpstr>PowerPoint Presentation</vt:lpstr>
      <vt:lpstr>6.Evaluation and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EXPERIMENTAL SETUP</vt:lpstr>
      <vt:lpstr>EXPERIMENTAL SETUP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 FOR COMPLETION OF MODULES</vt:lpstr>
      <vt:lpstr>REFERENCE</vt:lpstr>
      <vt:lpstr>REFERENCE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PRABHAKARA ARJUN R</cp:lastModifiedBy>
  <cp:revision>44</cp:revision>
  <dcterms:modified xsi:type="dcterms:W3CDTF">2026-03-24T04:05:25Z</dcterms:modified>
</cp:coreProperties>
</file>