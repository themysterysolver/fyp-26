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79" r:id="rId9"/>
    <p:sldId id="321" r:id="rId10"/>
    <p:sldId id="280" r:id="rId11"/>
    <p:sldId id="281" r:id="rId12"/>
    <p:sldId id="282" r:id="rId13"/>
    <p:sldId id="283" r:id="rId14"/>
    <p:sldId id="289" r:id="rId15"/>
    <p:sldId id="290" r:id="rId16"/>
    <p:sldId id="294" r:id="rId17"/>
    <p:sldId id="301" r:id="rId18"/>
    <p:sldId id="297" r:id="rId19"/>
    <p:sldId id="308" r:id="rId20"/>
    <p:sldId id="309" r:id="rId21"/>
    <p:sldId id="310" r:id="rId22"/>
    <p:sldId id="314" r:id="rId23"/>
    <p:sldId id="324" r:id="rId24"/>
    <p:sldId id="325" r:id="rId25"/>
    <p:sldId id="305" r:id="rId26"/>
    <p:sldId id="313" r:id="rId27"/>
    <p:sldId id="315" r:id="rId28"/>
    <p:sldId id="316" r:id="rId29"/>
    <p:sldId id="318" r:id="rId30"/>
    <p:sldId id="317" r:id="rId31"/>
    <p:sldId id="319" r:id="rId32"/>
    <p:sldId id="320" r:id="rId33"/>
    <p:sldId id="322" r:id="rId34"/>
    <p:sldId id="326" r:id="rId35"/>
    <p:sldId id="327" r:id="rId36"/>
    <p:sldId id="285" r:id="rId37"/>
    <p:sldId id="286" r:id="rId38"/>
    <p:sldId id="287" r:id="rId3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B37524-8608-4B16-BC45-35DD96E42492}">
  <a:tblStyle styleId="{73B37524-8608-4B16-BC45-35DD96E424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66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76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7b5b97c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7b5b97c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7b5b97c7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7b5b97c7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7b5b97c7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7b5b97c7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754ac20c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754ac20cb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5be15748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5be15748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754ac20c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754ac20c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43E0EDD9-DB72-9897-985F-2708E3F2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754ac20cb_0_2:notes">
            <a:extLst>
              <a:ext uri="{FF2B5EF4-FFF2-40B4-BE49-F238E27FC236}">
                <a16:creationId xmlns:a16="http://schemas.microsoft.com/office/drawing/2014/main" id="{B0650919-3D08-35D3-2F68-7D4D4CA1ED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754ac20cb_0_2:notes">
            <a:extLst>
              <a:ext uri="{FF2B5EF4-FFF2-40B4-BE49-F238E27FC236}">
                <a16:creationId xmlns:a16="http://schemas.microsoft.com/office/drawing/2014/main" id="{890675AA-03E2-4C26-8FC1-B869B9BCB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7127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5be15748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5be15748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5be15748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5be15748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5be15748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5be15748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4C23B89-638E-FF35-543A-043B5A9A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634361C8-9A4A-B140-23E5-2A65D7377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71247A57-D005-B46D-E511-355DCE44E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6603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F129146-6985-08F6-D021-A70681C54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96131AE2-9987-2916-DDF4-DEA86F472D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88D6763D-072C-B9A5-9074-837FE505B7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56782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222B632-BEA8-8443-F198-C3C5292CB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3EB42F17-4879-6F22-E66D-7B7F7D88D7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560DE64C-609D-0F47-A504-6F5F449F9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61822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30EDC03-35F6-8AE2-D1F9-4B4AFB4EC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24B3146A-2A04-465C-1776-4006B144F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85994695-A757-C959-EB39-65498AF99E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1963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5D49ACF-F791-A125-BBE0-ECFA1EEF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F3AC916D-007D-0ECE-0F7F-9190916B6D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9074344C-302E-F4E0-C017-4EF1F2D0CF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56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BF0CF6C-E587-1BCC-1BCF-7D02D514E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5478B759-EBE2-7771-F590-0E1A7BF490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77966F0C-1001-FA96-E24F-CE94BA6CE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4126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9925C98-4C9B-8893-B47D-B4E9AA95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DA6CED71-79FC-088B-7167-D6435F744D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034AEBEE-4DA8-A29A-F0E2-1E014649BD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6624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FA1A6EA-1FCF-5477-FE56-5CB74F828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0E0ED4A9-CCFC-1928-ADDC-D67D619D5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8242E3E3-1692-0432-B1C1-EEED0919C1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85464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19324F3-552E-EEAE-D6F1-59D580B8A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514DD0D3-2AA0-B5D6-5FF4-E25098D3F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B8D61F12-528B-A057-CFF1-E4F503DC2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16995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DCC3ADDD-4103-6B83-9138-0026B432B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>
            <a:extLst>
              <a:ext uri="{FF2B5EF4-FFF2-40B4-BE49-F238E27FC236}">
                <a16:creationId xmlns:a16="http://schemas.microsoft.com/office/drawing/2014/main" id="{30859F72-18FE-C5FD-5F9F-3456EE1BF0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>
            <a:extLst>
              <a:ext uri="{FF2B5EF4-FFF2-40B4-BE49-F238E27FC236}">
                <a16:creationId xmlns:a16="http://schemas.microsoft.com/office/drawing/2014/main" id="{5B0CEAE3-97C2-53B1-0401-417E5595A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31956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71F704F-090E-0D72-D121-8B8095162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BB82282D-5990-45F7-5560-5ECA6C7DF5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EA80BE9-87CC-8C8E-97F7-479663D85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35605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724D730B-AE2A-2B34-4BFA-4BE66C739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C58079A2-ADD7-7B7E-686C-3BD6EB7C50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33A1652-81DF-D69B-EE1A-3F77353D0D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70459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B0EB8F3-1058-36D9-FC6B-37FFF214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F5950A59-9CAB-49E1-F5FF-027B57A921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823B3F2-DB16-D08A-B28D-77505B74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0831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FA93F7D-785E-90CB-F72F-95C49781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958B8F85-48AE-C2BC-12B4-00D2A9F840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767A23A5-50A7-9221-F0AD-7F6166CD63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78152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9D08C966-57E6-5003-1212-150D8B0AE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69DBE811-E428-C22E-0E8B-3DE0A61312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329A1BB6-BC78-16D8-9F00-43E9CB0461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9163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C5D6704-F978-3243-23D8-000EB6059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D6AE7A40-BBE4-4CD2-95BA-23940856B8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1DD293A3-08E9-E539-5004-1450FC4383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32990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D8C41C3-CB24-32A0-BCAD-5035C8255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8DF5EAB5-2A20-E3E4-8073-87B4A85A61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2B8CA785-D255-6D1D-78C6-8F2942CBAB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28397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2523237-93E9-632E-1E17-A885307C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E38FC7A8-58FC-E71F-D832-687A68CADC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6CFE63F3-4CAB-2779-4F5E-DF5394D742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98202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AF884C66-2DF7-C077-707F-6B9A38D8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>
            <a:extLst>
              <a:ext uri="{FF2B5EF4-FFF2-40B4-BE49-F238E27FC236}">
                <a16:creationId xmlns:a16="http://schemas.microsoft.com/office/drawing/2014/main" id="{41828F5E-BA47-3AE0-91C0-DE06664A6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>
            <a:extLst>
              <a:ext uri="{FF2B5EF4-FFF2-40B4-BE49-F238E27FC236}">
                <a16:creationId xmlns:a16="http://schemas.microsoft.com/office/drawing/2014/main" id="{B33B61A7-AB13-DF88-BFA3-949A8F0C2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25589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D21BF37E-94F0-6840-55FE-BCF2F9F9F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>
            <a:extLst>
              <a:ext uri="{FF2B5EF4-FFF2-40B4-BE49-F238E27FC236}">
                <a16:creationId xmlns:a16="http://schemas.microsoft.com/office/drawing/2014/main" id="{FE934B02-409E-8666-BC9C-03754E102F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>
            <a:extLst>
              <a:ext uri="{FF2B5EF4-FFF2-40B4-BE49-F238E27FC236}">
                <a16:creationId xmlns:a16="http://schemas.microsoft.com/office/drawing/2014/main" id="{AE47FBB8-1493-8115-D195-2A472A63EF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9134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3648DB61-1254-0EFA-B7A8-8C9032936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>
            <a:extLst>
              <a:ext uri="{FF2B5EF4-FFF2-40B4-BE49-F238E27FC236}">
                <a16:creationId xmlns:a16="http://schemas.microsoft.com/office/drawing/2014/main" id="{762CAFD9-A20E-E03E-317B-6EF7DE3C2B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>
            <a:extLst>
              <a:ext uri="{FF2B5EF4-FFF2-40B4-BE49-F238E27FC236}">
                <a16:creationId xmlns:a16="http://schemas.microsoft.com/office/drawing/2014/main" id="{E4623D7D-3A91-08D4-8597-51F4E7D276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52705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85a0414e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b85a0414e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abff5344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babff5344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abff5344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babff5344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B8B670-62CD-5B56-BF4D-7F23D590A3E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35145" y="1418534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279400" marR="635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for Code Generation with Hallucination-Aware Fine Tuning</a:t>
            </a:r>
            <a:br>
              <a:rPr lang="e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VIVA</a:t>
            </a:r>
            <a:endParaRPr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79" y="3679587"/>
            <a:ext cx="2974875" cy="105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BF0FC89-364A-B060-FD66-D0ABA636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E93A0-171F-26CD-CDF3-E083911A513F}"/>
              </a:ext>
            </a:extLst>
          </p:cNvPr>
          <p:cNvSpPr txBox="1"/>
          <p:nvPr/>
        </p:nvSpPr>
        <p:spPr>
          <a:xfrm>
            <a:off x="2725615" y="1062382"/>
            <a:ext cx="3739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CS6811 – Project Work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80D0B-7259-0BDE-42B1-D560F27479CB}"/>
              </a:ext>
            </a:extLst>
          </p:cNvPr>
          <p:cNvSpPr txBox="1"/>
          <p:nvPr/>
        </p:nvSpPr>
        <p:spPr>
          <a:xfrm>
            <a:off x="7039778" y="3734718"/>
            <a:ext cx="1792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Thanasekhar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Technology, MIT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163100" y="108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 dirty="0"/>
              <a:t>INTRODUCTION</a:t>
            </a:r>
            <a:endParaRPr sz="1720" b="1"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248700" y="681450"/>
            <a:ext cx="8895300" cy="4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have  remarkable capabilities in code generation ,enabling automated solutions to a wide range of software engineering tasks.</a:t>
            </a: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However  LLMs frequently suffer from hallucinations in code generation, producing syntactically valid but semantically incorrect programs, non-existent APIs, or logically flawed implementations.</a:t>
            </a: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to mitigating code hallucinations primarily rely on prompt engineering, repeated sampling, or full model fine-tuning.</a:t>
            </a: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 fine-tuning is computationally expensive and impractical in low-resource or decentralized settings, and repeated sampling does not address the underlying causes and mitigation of hallucination.</a:t>
            </a: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development environments, code generation systems are often deployed across multiple decentralized clients where data cannot be centrally aggregated due to privacy, ownership.</a:t>
            </a: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these limitations we propose a hallucination-aware code generation framework that combines program analysis, and federated parameter-efficient fine-tuning using </a:t>
            </a:r>
            <a:r>
              <a:rPr lang="en-US" sz="136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136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36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C85887-3AF5-B7BF-F37B-DF5D5B29410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3109946-00BA-10F5-050F-85C317F8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124350" y="10725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17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24350" y="316523"/>
            <a:ext cx="8895300" cy="46248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Code generation using large language models (LLMs) is currently hindered by hallucinations. Existing mitigation strategies typically rely on supervised fine-tuning or reinforcement learning from human feedback (RLHF), where models are trained to align with human preferences .While parameter-efficient fine-tuning methods such as LoRA reduce computational overhead compared to full fine-tuning, both approaches primarily optimize model behavior but without explicit verification of program correctness. As a result, these methods may improve correctness but often fail to systematically detect and correct deeper structural, semantic, and execution-level errors in generated code.</a:t>
            </a:r>
            <a:endParaRPr sz="1388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Furthermore, in real world scenarios, high-quality code and execution feedback are distributed across multiple organizations making centralized data collection infeasible due to privacy concerns. Without a secure and decentralized learning mechanism, models are unable to effectively learn from diverse hallucination patterns observed across clients. This creates a critical gap for a unified framework that integrates explicit hallucination detection and automated program verification with privacy-preserving, parameter-efficient adaptation to improve the quality of code generation .</a:t>
            </a:r>
            <a:endParaRPr sz="1388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1075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768264-C0F3-1231-F996-DD7CC1B12AA8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6BAA4D4-6C1C-EB49-40FE-BF3E2415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81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17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F0B119-3AAD-D2FF-D013-2AD7FC43E74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2E21217-6E82-46C8-71AE-06EEB751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AE77B9-6F62-D285-F536-1B50BBC6B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146" y="768200"/>
            <a:ext cx="8520600" cy="3416400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17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To. Develop a federated learning framework for LLM-based code generation using </a:t>
            </a:r>
            <a:r>
              <a:rPr lang="en-IN" sz="1388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enabling decentralized training across clients while preserving privacy and reducing computational overhead.</a:t>
            </a:r>
          </a:p>
          <a:p>
            <a:pPr marL="285750" indent="-285750">
              <a:lnSpc>
                <a:spcPct val="17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hallucination-aware pipeline that detects and classifies code errors using static analysis (AST, LIB/API) and dynamic execution, forming a structured fault taxonomy.</a:t>
            </a:r>
          </a:p>
          <a:p>
            <a:pPr marL="285750" indent="-285750">
              <a:lnSpc>
                <a:spcPct val="17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 Fed-Error Average, an error-aware aggregation strategy that weights client updates based on hallucination error distributions to handle heterogeneous, non-IID data.</a:t>
            </a:r>
          </a:p>
          <a:p>
            <a:pPr marL="285750" indent="-285750">
              <a:lnSpc>
                <a:spcPct val="170000"/>
              </a:lnSpc>
              <a:spcBef>
                <a:spcPts val="1200"/>
              </a:spcBef>
              <a:buClr>
                <a:schemeClr val="dk1"/>
              </a:buClr>
              <a:buSzPts val="688"/>
            </a:pP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framework on </a:t>
            </a:r>
            <a:r>
              <a:rPr lang="en-IN" sz="1388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HumanEval</a:t>
            </a: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MBPP, and DS-1000 using Pass@1 and </a:t>
            </a:r>
            <a:r>
              <a:rPr lang="en-IN" sz="1388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CodeBLEU</a:t>
            </a:r>
            <a:r>
              <a:rPr lang="en-IN" sz="1388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metrics to validate improvements in functional correctness and hallucination reduction.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6C8BF9-75E2-B7B2-ECF0-9A40F06A8B7D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1"/>
          </p:nvPr>
        </p:nvSpPr>
        <p:spPr>
          <a:xfrm>
            <a:off x="163932" y="456274"/>
            <a:ext cx="55653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2332744" y="3401646"/>
            <a:ext cx="6307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Fig1. Client side hallucination detection and mitigation framework</a:t>
            </a:r>
            <a:endParaRPr sz="1200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8B23330-663D-1AEF-F51C-EE96C793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A2E8C-1D91-BF38-1B45-1241B0035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79" y="1628423"/>
            <a:ext cx="7784782" cy="1419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subTitle" idx="1"/>
          </p:nvPr>
        </p:nvSpPr>
        <p:spPr>
          <a:xfrm>
            <a:off x="85350" y="155452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2549032" y="4041914"/>
            <a:ext cx="6307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2. Federated learning + LoRA for fine-tuning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6BB976-DEB5-A5C2-93C1-523D90EC7116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CED99A-9F58-45EF-73A3-80A411D1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E2ED85-C2F8-4DC0-A777-61E7B6598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929" y="772620"/>
            <a:ext cx="4564380" cy="31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128588" y="63112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8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METHODS/MODULES USED</a:t>
            </a:r>
            <a:endParaRPr sz="178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1.Problem ingestion and code generation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158527-112C-4FBE-D52C-38F0198A80FF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2B8F1C5-C050-FEF3-3944-3AF236AC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0">
            <a:extLst>
              <a:ext uri="{FF2B5EF4-FFF2-40B4-BE49-F238E27FC236}">
                <a16:creationId xmlns:a16="http://schemas.microsoft.com/office/drawing/2014/main" id="{5527F9DE-E17B-B949-D840-FE6998E8E5C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96602" y="1257300"/>
            <a:ext cx="6350795" cy="322897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2.Hallucination detection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CFC8F1-C376-EDC8-EA17-FAC3823E541F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9ACE23-3038-F57B-4AEC-D110BEB5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964AEA-8AA1-03A8-FA47-6A14A92CB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943" y="902206"/>
            <a:ext cx="6163119" cy="32268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93D2638D-C749-0B6F-3612-1FF61E8B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>
            <a:extLst>
              <a:ext uri="{FF2B5EF4-FFF2-40B4-BE49-F238E27FC236}">
                <a16:creationId xmlns:a16="http://schemas.microsoft.com/office/drawing/2014/main" id="{2887BE04-C63B-715F-7C2E-D4872D5644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2.Hallucination detection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A500C4-C56C-F828-F3A4-0E41A07DDD6B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40A916-81C6-720D-D10E-2AFA15873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BF1A27-5105-CDEC-3D4C-9F6C1BAE7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996" y="985890"/>
            <a:ext cx="6461786" cy="342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39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3.Dataset creation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126B6B-7FAF-936D-7C0D-C90E15EFD3AD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E856FD-B837-1E3E-D7F1-977C5A902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22">
            <a:extLst>
              <a:ext uri="{FF2B5EF4-FFF2-40B4-BE49-F238E27FC236}">
                <a16:creationId xmlns:a16="http://schemas.microsoft.com/office/drawing/2014/main" id="{568485CD-1465-04E4-230D-F2EDB5C6921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038936" y="973296"/>
            <a:ext cx="5059680" cy="32969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4.Fine tuning using LoRA 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F63ED-81F1-A185-9C1A-55D1DA58BFD1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A71592-BBFB-A9B9-DE96-5029813F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23">
            <a:extLst>
              <a:ext uri="{FF2B5EF4-FFF2-40B4-BE49-F238E27FC236}">
                <a16:creationId xmlns:a16="http://schemas.microsoft.com/office/drawing/2014/main" id="{FD7A8155-E47A-BE4C-2435-6B751BD1A3A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37678" y="926783"/>
            <a:ext cx="5348922" cy="315944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5.Federated Aggregation and Distribution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F5D337-080A-C199-465B-7B3CC8DD65C8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1B03BA-AE62-BA9C-6B2F-6E813D5A1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24">
            <a:extLst>
              <a:ext uri="{FF2B5EF4-FFF2-40B4-BE49-F238E27FC236}">
                <a16:creationId xmlns:a16="http://schemas.microsoft.com/office/drawing/2014/main" id="{EDEF888F-5B36-B967-1F45-657B876BC85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58845" y="940197"/>
            <a:ext cx="6026309" cy="3263106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>
            <a:spLocks noGrp="1"/>
          </p:cNvSpPr>
          <p:nvPr>
            <p:ph type="title"/>
          </p:nvPr>
        </p:nvSpPr>
        <p:spPr>
          <a:xfrm>
            <a:off x="192075" y="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/>
              <a:t>6.Evaluation and </a:t>
            </a: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1BAF71-B3D6-A546-2872-64D3E0326647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D91FD8-9D0D-4589-F757-04E0BAA8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1">
            <a:extLst>
              <a:ext uri="{FF2B5EF4-FFF2-40B4-BE49-F238E27FC236}">
                <a16:creationId xmlns:a16="http://schemas.microsoft.com/office/drawing/2014/main" id="{2D55144F-E416-9426-B14A-0B8A533066B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82847" y="718820"/>
            <a:ext cx="6110922" cy="340312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0F717B6-8DAC-29CD-7A1E-DB7512A5C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4CC932F3-C9D3-1459-5A7E-AE61B1733C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1.Problem ingestion and code generation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3D8730-E790-1FE7-6B5C-A56ADBB329E0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A971EA-B1D1-F41B-DFED-9D85EFC6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C45EA-66E6-273B-DE89-B958AB885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84" y="810539"/>
            <a:ext cx="5183368" cy="17504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7052F4-FF1C-FC8F-1F17-5AB24CF60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176" y="2627591"/>
            <a:ext cx="5183369" cy="21295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5C6184-A537-309F-F8E3-23A3A5B1BEE2}"/>
              </a:ext>
            </a:extLst>
          </p:cNvPr>
          <p:cNvSpPr txBox="1"/>
          <p:nvPr/>
        </p:nvSpPr>
        <p:spPr>
          <a:xfrm>
            <a:off x="5524940" y="1531852"/>
            <a:ext cx="2274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HumanEval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4C5D93-A698-9A28-7ABA-EC237023FD43}"/>
              </a:ext>
            </a:extLst>
          </p:cNvPr>
          <p:cNvSpPr txBox="1"/>
          <p:nvPr/>
        </p:nvSpPr>
        <p:spPr>
          <a:xfrm>
            <a:off x="1242930" y="3210194"/>
            <a:ext cx="18966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MBPP dataset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27E962-7DEB-2E08-C8A0-659B7997C52F}"/>
              </a:ext>
            </a:extLst>
          </p:cNvPr>
          <p:cNvSpPr txBox="1"/>
          <p:nvPr/>
        </p:nvSpPr>
        <p:spPr>
          <a:xfrm>
            <a:off x="1000876" y="3488774"/>
            <a:ext cx="25506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Extraction function signature in MBPP</a:t>
            </a:r>
          </a:p>
          <a:p>
            <a:r>
              <a:rPr lang="en-IN" sz="1100" dirty="0"/>
              <a:t> which will be later used for testing.</a:t>
            </a:r>
          </a:p>
        </p:txBody>
      </p:sp>
    </p:spTree>
    <p:extLst>
      <p:ext uri="{BB962C8B-B14F-4D97-AF65-F5344CB8AC3E}">
        <p14:creationId xmlns:p14="http://schemas.microsoft.com/office/powerpoint/2010/main" val="1330453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E13670-8CAA-0586-E87E-5B5168DD3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C4BC080D-B478-D150-645A-EED2B6156F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1.Problem ingestion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5E089-E419-E6E8-DED2-F787B1DA0557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F263C1-D0B2-3F70-8FCC-9AA6F842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A9E2D-79FD-8A79-5F4F-869832B59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340" y="1000124"/>
            <a:ext cx="6690212" cy="28880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75F6E7-FE22-036A-3B3D-5D0998748AC0}"/>
              </a:ext>
            </a:extLst>
          </p:cNvPr>
          <p:cNvSpPr txBox="1"/>
          <p:nvPr/>
        </p:nvSpPr>
        <p:spPr>
          <a:xfrm>
            <a:off x="3200400" y="4060062"/>
            <a:ext cx="1960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DS1000 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31676-B4C1-3325-DCCC-6F8A14CB410E}"/>
              </a:ext>
            </a:extLst>
          </p:cNvPr>
          <p:cNvSpPr txBox="1"/>
          <p:nvPr/>
        </p:nvSpPr>
        <p:spPr>
          <a:xfrm>
            <a:off x="2980788" y="4278104"/>
            <a:ext cx="23471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column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task_id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track data</a:t>
            </a:r>
          </a:p>
        </p:txBody>
      </p:sp>
    </p:spTree>
    <p:extLst>
      <p:ext uri="{BB962C8B-B14F-4D97-AF65-F5344CB8AC3E}">
        <p14:creationId xmlns:p14="http://schemas.microsoft.com/office/powerpoint/2010/main" val="1942828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4C4D94F7-3368-247C-0427-2B70745E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1C597E7B-F35F-0934-5EA8-29109723C4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80000"/>
              </a:lnSpc>
              <a:buClr>
                <a:schemeClr val="dk1"/>
              </a:buClr>
              <a:buSzPts val="11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2.Hallucination detection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B98097-CFF5-45EA-7575-89678F8E41A7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E902E-0CC5-FFBB-0D39-BD2CED44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1A8094-A7CC-96D2-A554-29AC00B13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43" y="944243"/>
            <a:ext cx="5374214" cy="3113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1669F9-6D64-E332-A21F-14F3B9715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076" y="1319173"/>
            <a:ext cx="3263444" cy="24527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A15B91-94E9-E90A-E274-B73D3599C298}"/>
              </a:ext>
            </a:extLst>
          </p:cNvPr>
          <p:cNvSpPr txBox="1"/>
          <p:nvPr/>
        </p:nvSpPr>
        <p:spPr>
          <a:xfrm>
            <a:off x="1493044" y="4089396"/>
            <a:ext cx="3929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Hallucinated Vs Pass count across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B720A-21AB-FB79-071F-8C51B3880264}"/>
              </a:ext>
            </a:extLst>
          </p:cNvPr>
          <p:cNvSpPr txBox="1"/>
          <p:nvPr/>
        </p:nvSpPr>
        <p:spPr>
          <a:xfrm>
            <a:off x="6398279" y="4038641"/>
            <a:ext cx="3512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pass and hallucinated code</a:t>
            </a:r>
          </a:p>
        </p:txBody>
      </p:sp>
    </p:spTree>
    <p:extLst>
      <p:ext uri="{BB962C8B-B14F-4D97-AF65-F5344CB8AC3E}">
        <p14:creationId xmlns:p14="http://schemas.microsoft.com/office/powerpoint/2010/main" val="3137950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F4707DC-0352-441F-1151-C01874E2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1064338C-9371-AE64-E6C1-E939DAEC4FE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2.Dynamic Analaysis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BC5420-ADCD-2A16-9793-C5147CEA353E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4A8BEB-DFC8-8560-A880-0B414823B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435A7-0AED-1E89-3EF4-D88C1BB6A7D5}"/>
              </a:ext>
            </a:extLst>
          </p:cNvPr>
          <p:cNvSpPr txBox="1"/>
          <p:nvPr/>
        </p:nvSpPr>
        <p:spPr>
          <a:xfrm>
            <a:off x="3469932" y="3812099"/>
            <a:ext cx="2244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hallucination at runtime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270710-2DE3-5981-D14D-968E62D4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71" y="941946"/>
            <a:ext cx="7379150" cy="283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74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78662B6A-F016-5AC9-921A-EBA0EE5A2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0FDB4C76-1B17-8695-65BB-04B2E4B3A54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3.Dataset creation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6C023E-3271-8ADA-5DA8-86953B341BD1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AA233-0839-5987-1CA8-A3B123E3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134955-2E36-838B-CB05-36D84922B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72" y="1687803"/>
            <a:ext cx="1824380" cy="1754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477B7D-407C-9C70-CF14-E4E230B25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616" y="1052554"/>
            <a:ext cx="3217088" cy="3328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EF5698-45EA-C664-6147-2C0804F0B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168" y="1390212"/>
            <a:ext cx="2557954" cy="24027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78BE0E-0BD7-AD55-3057-5C6BEEB722C1}"/>
              </a:ext>
            </a:extLst>
          </p:cNvPr>
          <p:cNvSpPr txBox="1"/>
          <p:nvPr/>
        </p:nvSpPr>
        <p:spPr>
          <a:xfrm>
            <a:off x="875314" y="4429875"/>
            <a:ext cx="6782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information across different modules are collected for dataset creation and fine-tuning</a:t>
            </a:r>
          </a:p>
        </p:txBody>
      </p:sp>
    </p:spTree>
    <p:extLst>
      <p:ext uri="{BB962C8B-B14F-4D97-AF65-F5344CB8AC3E}">
        <p14:creationId xmlns:p14="http://schemas.microsoft.com/office/powerpoint/2010/main" val="489852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BC3B754-AABC-6990-D012-D334C059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3E9F53D9-7D0F-E7D6-C6DD-9A93FCB7752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4.LoRA Fine Tuning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D6C8CC-1B42-677D-428E-3A5CA879E19D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1213C7-875F-5B78-7104-FB87FF5A6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1B830E-5EE2-D007-EC03-4C299B6DD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383352"/>
              </p:ext>
            </p:extLst>
          </p:nvPr>
        </p:nvGraphicFramePr>
        <p:xfrm>
          <a:off x="604043" y="1404558"/>
          <a:ext cx="7811294" cy="2292290"/>
        </p:xfrm>
        <a:graphic>
          <a:graphicData uri="http://schemas.openxmlformats.org/drawingml/2006/table">
            <a:tbl>
              <a:tblPr firstRow="1" firstCol="1" bandRow="1">
                <a:tableStyleId>{73B37524-8608-4B16-BC45-35DD96E42492}</a:tableStyleId>
              </a:tblPr>
              <a:tblGrid>
                <a:gridCol w="3905647">
                  <a:extLst>
                    <a:ext uri="{9D8B030D-6E8A-4147-A177-3AD203B41FA5}">
                      <a16:colId xmlns:a16="http://schemas.microsoft.com/office/drawing/2014/main" val="1752498795"/>
                    </a:ext>
                  </a:extLst>
                </a:gridCol>
                <a:gridCol w="3905647">
                  <a:extLst>
                    <a:ext uri="{9D8B030D-6E8A-4147-A177-3AD203B41FA5}">
                      <a16:colId xmlns:a16="http://schemas.microsoft.com/office/drawing/2014/main" val="1339110211"/>
                    </a:ext>
                  </a:extLst>
                </a:gridCol>
              </a:tblGrid>
              <a:tr h="2353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4352323"/>
                  </a:ext>
                </a:extLst>
              </a:tr>
              <a:tr h="2353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 (rank)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5753318"/>
                  </a:ext>
                </a:extLst>
              </a:tr>
              <a:tr h="2353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lora_alpha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9385593"/>
                  </a:ext>
                </a:extLst>
              </a:tr>
              <a:tr h="5027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target_modules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 projections (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gate_proj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down_proj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7440477"/>
                  </a:ext>
                </a:extLst>
              </a:tr>
              <a:tr h="2353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lora_dropout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6188904"/>
                  </a:ext>
                </a:extLst>
              </a:tr>
              <a:tr h="2353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bias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"none"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5521904"/>
                  </a:ext>
                </a:extLst>
              </a:tr>
              <a:tr h="2353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task_type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CAUSAL_LM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634689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1105FFF-1AD6-52B3-5201-907767FD3E86}"/>
              </a:ext>
            </a:extLst>
          </p:cNvPr>
          <p:cNvSpPr txBox="1"/>
          <p:nvPr/>
        </p:nvSpPr>
        <p:spPr>
          <a:xfrm>
            <a:off x="3309682" y="3947113"/>
            <a:ext cx="2400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Configuration for PEFT</a:t>
            </a:r>
          </a:p>
        </p:txBody>
      </p:sp>
    </p:spTree>
    <p:extLst>
      <p:ext uri="{BB962C8B-B14F-4D97-AF65-F5344CB8AC3E}">
        <p14:creationId xmlns:p14="http://schemas.microsoft.com/office/powerpoint/2010/main" val="24717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1AE862F5-5196-1963-F118-55B24A85E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E99E1420-FEAB-AD78-4FB2-3F405797A3D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4.LoRA Fine Tuning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1836C-527D-8B81-EB74-7AB9393AC6C0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810947-0A9C-C5C7-04BE-BA93C6D8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E83349-37D7-F8AB-413B-2F32DDB1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719223"/>
              </p:ext>
            </p:extLst>
          </p:nvPr>
        </p:nvGraphicFramePr>
        <p:xfrm>
          <a:off x="425450" y="1037572"/>
          <a:ext cx="8521700" cy="3200400"/>
        </p:xfrm>
        <a:graphic>
          <a:graphicData uri="http://schemas.openxmlformats.org/drawingml/2006/table">
            <a:tbl>
              <a:tblPr firstRow="1" firstCol="1" bandRow="1">
                <a:tableStyleId>{73B37524-8608-4B16-BC45-35DD96E42492}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1642617804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4273070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9344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num_train_epochs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7083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per_device_train_batch_size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6968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gradient_accumulation_steps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3541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learning_rate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2e-4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032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weight_decay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919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warmup_ratio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5481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lr_scheduler_type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cosine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126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max_grad_norm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7589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max_seq_length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2048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8820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packing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8089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bf16 / fp16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auto-detect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916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save_strategy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epoch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8537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save_total_limit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6080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logging_steps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602894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4829F49-C703-A29D-91C8-893340783BC0}"/>
              </a:ext>
            </a:extLst>
          </p:cNvPr>
          <p:cNvSpPr txBox="1"/>
          <p:nvPr/>
        </p:nvSpPr>
        <p:spPr>
          <a:xfrm>
            <a:off x="3623064" y="4338553"/>
            <a:ext cx="18421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for SFT </a:t>
            </a:r>
          </a:p>
        </p:txBody>
      </p:sp>
    </p:spTree>
    <p:extLst>
      <p:ext uri="{BB962C8B-B14F-4D97-AF65-F5344CB8AC3E}">
        <p14:creationId xmlns:p14="http://schemas.microsoft.com/office/powerpoint/2010/main" val="1632203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E0410A4-0D50-CA31-C542-D14C3B5A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5455E6F9-6E38-7053-CB7E-7CBEBDADAAC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4.LoRA Fine Tuning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6C438E-F04F-6541-8B69-197F521DD06F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1E60F9-1398-0E13-74A0-DE4AA184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D2C22-9ECD-9631-B428-4AA499F69352}"/>
              </a:ext>
            </a:extLst>
          </p:cNvPr>
          <p:cNvSpPr txBox="1"/>
          <p:nvPr/>
        </p:nvSpPr>
        <p:spPr>
          <a:xfrm>
            <a:off x="3215870" y="3718633"/>
            <a:ext cx="2432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Adapters obtained after SFT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2BD6E8-BABC-3142-3F83-6F75541D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025" y="1163920"/>
            <a:ext cx="5949950" cy="24676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C2CA75-2D88-D6EC-229F-B92440F95332}"/>
              </a:ext>
            </a:extLst>
          </p:cNvPr>
          <p:cNvSpPr txBox="1"/>
          <p:nvPr/>
        </p:nvSpPr>
        <p:spPr>
          <a:xfrm>
            <a:off x="457847" y="4159951"/>
            <a:ext cx="7662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The number of trainable parameters gets reduced from 2.7B to 29.9 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Each targeted projection of layer get’s two matrices A and B. Having 36 transformer layers and 7 projection </a:t>
            </a:r>
          </a:p>
          <a:p>
            <a:r>
              <a:rPr lang="en-IN" sz="1200" dirty="0"/>
              <a:t>    per layer on decomposition we yield  504 adapters.</a:t>
            </a:r>
          </a:p>
        </p:txBody>
      </p:sp>
    </p:spTree>
    <p:extLst>
      <p:ext uri="{BB962C8B-B14F-4D97-AF65-F5344CB8AC3E}">
        <p14:creationId xmlns:p14="http://schemas.microsoft.com/office/powerpoint/2010/main" val="3078641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91C21564-4689-E19E-3F65-522E4DF84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DB0CD014-50DB-DFFD-F59A-480B3954B4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399"/>
            <a:ext cx="6043988" cy="10918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Federated aggregation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A249C3-C5A0-2174-6FD5-911BE8379556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CABA0A-A1F9-D3F4-5D04-0371617F5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33" name="Picture 13">
            <a:extLst>
              <a:ext uri="{FF2B5EF4-FFF2-40B4-BE49-F238E27FC236}">
                <a16:creationId xmlns:a16="http://schemas.microsoft.com/office/drawing/2014/main" id="{33E783BB-2BBC-2415-E984-9258D0C7B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208" y="1168706"/>
            <a:ext cx="5951538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FB6CE573-C65C-7F0C-0410-DAD2579E0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208" y="2056226"/>
            <a:ext cx="5951538" cy="29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1" name="Picture 11">
            <a:extLst>
              <a:ext uri="{FF2B5EF4-FFF2-40B4-BE49-F238E27FC236}">
                <a16:creationId xmlns:a16="http://schemas.microsoft.com/office/drawing/2014/main" id="{78FB076D-F9B2-4696-6C3D-F6F6ABD79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208" y="2719112"/>
            <a:ext cx="5951538" cy="40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">
            <a:extLst>
              <a:ext uri="{FF2B5EF4-FFF2-40B4-BE49-F238E27FC236}">
                <a16:creationId xmlns:a16="http://schemas.microsoft.com/office/drawing/2014/main" id="{560D75CD-335C-F374-4C5A-D41C6CE09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208" y="3530786"/>
            <a:ext cx="5951538" cy="3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4">
            <a:extLst>
              <a:ext uri="{FF2B5EF4-FFF2-40B4-BE49-F238E27FC236}">
                <a16:creationId xmlns:a16="http://schemas.microsoft.com/office/drawing/2014/main" id="{A927AA81-E541-0FC4-A548-2603B2128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2" y="30003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5DB299A0-7081-C92A-4B5D-6D7968371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181" y="194048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Figure 6.1.a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Output of fine-tuned adapters after Federated average (complete dataset)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14422B2A-7A39-9A3C-C679-9773858E7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181" y="34727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Figure 6.1.b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Output of fine-tuned adapters after Federated Error average (complete dataset)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600B2729-D4D6-A2DD-BC2D-9331DD4C0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208" y="266170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Figure 6.2.a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Output of fine-tuned adapters after Federated average (Training dataset)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54D89636-3CB8-27FC-D996-7C6E95080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0098" y="41186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Figure 6.2.b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Output of fine-tuned adapters after Federated Error average (Training dataset)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926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>
            <a:spLocks noGrp="1"/>
          </p:cNvSpPr>
          <p:nvPr>
            <p:ph type="title"/>
          </p:nvPr>
        </p:nvSpPr>
        <p:spPr>
          <a:xfrm>
            <a:off x="192075" y="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/>
              <a:t>EVALUVATION METRIC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Google Shape;208;p40"/>
          <p:cNvSpPr txBox="1">
            <a:spLocks noGrp="1"/>
          </p:cNvSpPr>
          <p:nvPr>
            <p:ph type="body" idx="1"/>
          </p:nvPr>
        </p:nvSpPr>
        <p:spPr>
          <a:xfrm>
            <a:off x="420300" y="641243"/>
            <a:ext cx="8723700" cy="47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0">
              <a:spcBef>
                <a:spcPts val="12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count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Total number of tasks that pass all detection stages (AST +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API+Dynamic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285750">
              <a:spcBef>
                <a:spcPts val="1200"/>
              </a:spcBef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285750">
              <a:spcBef>
                <a:spcPts val="1200"/>
              </a:spcBef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Bef>
                <a:spcPts val="12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count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:Total number of hallucination errors (by type) detected across all datasets.  	              Each task can contribute multiple error types, so this counts error  		             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instances,not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tasks.</a:t>
            </a:r>
          </a:p>
          <a:p>
            <a:pPr lvl="0" indent="0">
              <a:spcBef>
                <a:spcPts val="12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1BAF71-B3D6-A546-2872-64D3E0326647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D91FD8-9D0D-4589-F757-04E0BAA8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CF226C-8956-5BC4-24B8-45ABB482A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512" y="1309622"/>
            <a:ext cx="3193531" cy="771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D2A02E-4381-FE79-7B98-1460180A2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53" y="3315111"/>
            <a:ext cx="3957385" cy="77476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EF5E3A90-ECDF-5813-510A-24267BA4D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>
            <a:extLst>
              <a:ext uri="{FF2B5EF4-FFF2-40B4-BE49-F238E27FC236}">
                <a16:creationId xmlns:a16="http://schemas.microsoft.com/office/drawing/2014/main" id="{E509DE3B-7ADB-CDFB-0E0E-0FE2D350B9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075" y="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/>
              <a:t>EVALUVATION METRIC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Google Shape;208;p40">
            <a:extLst>
              <a:ext uri="{FF2B5EF4-FFF2-40B4-BE49-F238E27FC236}">
                <a16:creationId xmlns:a16="http://schemas.microsoft.com/office/drawing/2014/main" id="{CB954494-8A5F-BBA0-5363-80BB9CFE16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0300" y="641243"/>
            <a:ext cx="8723700" cy="47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0" algn="just">
              <a:spcBef>
                <a:spcPts val="1200"/>
              </a:spcBef>
              <a:buNone/>
            </a:pP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CodeBLEU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similarity metric that measures the lexical and syntactic alignment between generated code and reference solutions, incorporating n-gram matching, syntax structure similarity and data flow similarity.</a:t>
            </a:r>
          </a:p>
          <a:p>
            <a:pPr indent="0">
              <a:spcBef>
                <a:spcPts val="1200"/>
              </a:spcBef>
              <a:buNone/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285750">
              <a:spcBef>
                <a:spcPts val="1200"/>
              </a:spcBef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Bef>
                <a:spcPts val="12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reduction: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measures the percentage decrease in hallucination errors achieved by the model compared to the baseline.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79C8E7-1A75-1DCD-4AB1-1BDD9CEDE2B3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8E61EE-11CA-761B-97B1-B2CFB02F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9032DA-B2A1-660D-08ED-52E228F5E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677" y="1814456"/>
            <a:ext cx="3563068" cy="8907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08C55C-3C4F-0548-AF21-467AA60FF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970" y="3435157"/>
            <a:ext cx="3209036" cy="97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783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52BA0B0-4851-ECD3-F040-72847A35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3C96698F-2630-C964-FEFC-03D7965876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F16DC6-A4C1-682E-47DF-55F36D3FE5F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3E095-FB73-D1DF-463B-AC88A31AF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8BB995-A165-6FEC-54DC-2B22C0C26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040" y="844232"/>
            <a:ext cx="5963920" cy="34550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3FB7D4-542D-88C1-AD87-637BDDFB4DB8}"/>
              </a:ext>
            </a:extLst>
          </p:cNvPr>
          <p:cNvSpPr txBox="1"/>
          <p:nvPr/>
        </p:nvSpPr>
        <p:spPr>
          <a:xfrm>
            <a:off x="3457575" y="4333826"/>
            <a:ext cx="35798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and pass count for benchmarking dataset</a:t>
            </a:r>
          </a:p>
        </p:txBody>
      </p:sp>
    </p:spTree>
    <p:extLst>
      <p:ext uri="{BB962C8B-B14F-4D97-AF65-F5344CB8AC3E}">
        <p14:creationId xmlns:p14="http://schemas.microsoft.com/office/powerpoint/2010/main" val="3855407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2AFC684F-75AF-8E0E-4C47-2C2E77414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97751CEF-3C61-D1A0-AE2C-1284F638BC7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4916AD-DF4A-FBB3-78D8-16B8A37A6ED5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B7B71D-09F5-8EA8-7AB9-1AAA7A98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70240-BF3F-53A3-31C6-D6E77A0EB7AB}"/>
              </a:ext>
            </a:extLst>
          </p:cNvPr>
          <p:cNvSpPr txBox="1"/>
          <p:nvPr/>
        </p:nvSpPr>
        <p:spPr>
          <a:xfrm>
            <a:off x="2721769" y="4498882"/>
            <a:ext cx="3767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errors with frozen model across all three dataset.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A62D85-88FA-6B83-C6D1-A19885364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308217"/>
              </p:ext>
            </p:extLst>
          </p:nvPr>
        </p:nvGraphicFramePr>
        <p:xfrm>
          <a:off x="742436" y="608603"/>
          <a:ext cx="7659128" cy="3855720"/>
        </p:xfrm>
        <a:graphic>
          <a:graphicData uri="http://schemas.openxmlformats.org/drawingml/2006/table">
            <a:tbl>
              <a:tblPr firstRow="1" firstCol="1" bandRow="1">
                <a:tableStyleId>{73B37524-8608-4B16-BC45-35DD96E42492}</a:tableStyleId>
              </a:tblPr>
              <a:tblGrid>
                <a:gridCol w="1615002">
                  <a:extLst>
                    <a:ext uri="{9D8B030D-6E8A-4147-A177-3AD203B41FA5}">
                      <a16:colId xmlns:a16="http://schemas.microsoft.com/office/drawing/2014/main" val="1668126652"/>
                    </a:ext>
                  </a:extLst>
                </a:gridCol>
                <a:gridCol w="1352951">
                  <a:extLst>
                    <a:ext uri="{9D8B030D-6E8A-4147-A177-3AD203B41FA5}">
                      <a16:colId xmlns:a16="http://schemas.microsoft.com/office/drawing/2014/main" val="1488149854"/>
                    </a:ext>
                  </a:extLst>
                </a:gridCol>
                <a:gridCol w="1563725">
                  <a:extLst>
                    <a:ext uri="{9D8B030D-6E8A-4147-A177-3AD203B41FA5}">
                      <a16:colId xmlns:a16="http://schemas.microsoft.com/office/drawing/2014/main" val="3996870246"/>
                    </a:ext>
                  </a:extLst>
                </a:gridCol>
                <a:gridCol w="1563725">
                  <a:extLst>
                    <a:ext uri="{9D8B030D-6E8A-4147-A177-3AD203B41FA5}">
                      <a16:colId xmlns:a16="http://schemas.microsoft.com/office/drawing/2014/main" val="3820387453"/>
                    </a:ext>
                  </a:extLst>
                </a:gridCol>
                <a:gridCol w="1563725">
                  <a:extLst>
                    <a:ext uri="{9D8B030D-6E8A-4147-A177-3AD203B41FA5}">
                      <a16:colId xmlns:a16="http://schemas.microsoft.com/office/drawing/2014/main" val="4194436796"/>
                    </a:ext>
                  </a:extLst>
                </a:gridCol>
              </a:tblGrid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Error_Type</a:t>
                      </a:r>
                      <a:endParaRPr lang="en-IN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DS1000</a:t>
                      </a:r>
                      <a:endParaRPr lang="en-IN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HumanEval</a:t>
                      </a:r>
                      <a:endParaRPr lang="en-IN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MBPP</a:t>
                      </a:r>
                      <a:endParaRPr lang="en-IN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100142093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AssertionError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427568823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4058768254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AxisError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121962696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IndentationError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459183508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4198079339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IndexingError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398936731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InvalidIndexError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870660763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283104915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ModuleNotFoundError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374692116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458664025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827712607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532953401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TimeoutError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1108778271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1732061796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UnboundLocalError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1873199371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689612956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attribute_error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754825597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missing_return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199711963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module_not_found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2030533215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name_error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1044469789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type_error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386930314"/>
                  </a:ext>
                </a:extLst>
              </a:tr>
              <a:tr h="15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1392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1791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64" marR="60764" marT="0" marB="0"/>
                </a:tc>
                <a:extLst>
                  <a:ext uri="{0D108BD9-81ED-4DB2-BD59-A6C34878D82A}">
                    <a16:rowId xmlns:a16="http://schemas.microsoft.com/office/drawing/2014/main" val="3219396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633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05600D2-7A09-71E7-773D-AC90E0626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D378DCCE-A283-A0C2-13FA-292DE4AA14C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48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E7197E-2F89-B6D6-32AC-11603FA3A9C6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B77085-607B-7F2C-FF67-986BC71B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0E31CE1-1450-B6AB-E07F-413643C71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03" y="942801"/>
            <a:ext cx="4036218" cy="252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9" name="Picture 1">
            <a:extLst>
              <a:ext uri="{FF2B5EF4-FFF2-40B4-BE49-F238E27FC236}">
                <a16:creationId xmlns:a16="http://schemas.microsoft.com/office/drawing/2014/main" id="{FCD53F88-5007-0FBD-B567-1F15BCA59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017" y="975579"/>
            <a:ext cx="3879490" cy="242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BF62186-6F31-03EA-62A6-93CDB9571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4187B54-A331-B7F8-91B2-55E632FCA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351FBA-F27E-B40B-2702-6366E3D50DF7}"/>
              </a:ext>
            </a:extLst>
          </p:cNvPr>
          <p:cNvSpPr txBox="1"/>
          <p:nvPr/>
        </p:nvSpPr>
        <p:spPr>
          <a:xfrm>
            <a:off x="404110" y="3498301"/>
            <a:ext cx="36808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count </a:t>
            </a:r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datasets after federated average,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complete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510ACF-4F1B-D87E-FC64-F4D66D1F9429}"/>
              </a:ext>
            </a:extLst>
          </p:cNvPr>
          <p:cNvSpPr txBox="1"/>
          <p:nvPr/>
        </p:nvSpPr>
        <p:spPr>
          <a:xfrm>
            <a:off x="4810015" y="3498705"/>
            <a:ext cx="353654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count across all datasets after federated average,</a:t>
            </a:r>
          </a:p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testing part of the dataset</a:t>
            </a:r>
          </a:p>
        </p:txBody>
      </p:sp>
    </p:spTree>
    <p:extLst>
      <p:ext uri="{BB962C8B-B14F-4D97-AF65-F5344CB8AC3E}">
        <p14:creationId xmlns:p14="http://schemas.microsoft.com/office/powerpoint/2010/main" val="4197010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002B411-5540-32FA-11FA-155843E76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D005BD6C-A2BD-9C35-CBB9-EDDDE7A9B8C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3078"/>
            <a:ext cx="5701800" cy="48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172CC8-4065-1823-89F1-F50BD460B6BF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5A7B14-F0D5-9425-1498-9A7ABDCA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D9FDE-7425-DB55-2A7F-67C3CB71B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8F2090A-97BA-D76D-FD24-CAECC771A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35FC4B-F5BA-08CF-E9AF-2A9090B4C4C2}"/>
              </a:ext>
            </a:extLst>
          </p:cNvPr>
          <p:cNvSpPr txBox="1"/>
          <p:nvPr/>
        </p:nvSpPr>
        <p:spPr>
          <a:xfrm>
            <a:off x="404110" y="3498301"/>
            <a:ext cx="37128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count </a:t>
            </a:r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datasets after Fed-Error average,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complete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25BE67-2A10-A246-C505-F372A3D47BFF}"/>
              </a:ext>
            </a:extLst>
          </p:cNvPr>
          <p:cNvSpPr txBox="1"/>
          <p:nvPr/>
        </p:nvSpPr>
        <p:spPr>
          <a:xfrm>
            <a:off x="4810015" y="3498705"/>
            <a:ext cx="356860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count across all datasets after Fed-Error average,</a:t>
            </a:r>
          </a:p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testing part of the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27ADB6-A961-873E-4B02-7AB85C257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10" y="777320"/>
            <a:ext cx="4024610" cy="2515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AD2FFA-A157-F9DA-6E18-004929FE4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015" y="891540"/>
            <a:ext cx="3691048" cy="230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34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EF87EB5-A1FE-10B3-CF47-5D56495F6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CC97D6F4-FBC2-AC99-FB7F-DF934D73D89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48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F6485B-F7A5-5938-986C-E20703CDA7A9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D8BD16-68EA-3B4B-5920-E072026F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55E76C-F79A-021C-E692-2C81A812A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A2C8BB7-6D2E-506F-9FF2-86599AB37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A8A133-676A-49A8-D0D6-59FD9724E80C}"/>
              </a:ext>
            </a:extLst>
          </p:cNvPr>
          <p:cNvSpPr txBox="1"/>
          <p:nvPr/>
        </p:nvSpPr>
        <p:spPr>
          <a:xfrm>
            <a:off x="404110" y="3498301"/>
            <a:ext cx="30957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rate </a:t>
            </a:r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datasets after Fed-Error average,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complete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7110BF-9058-32F7-F1BE-E47D0DA52E7E}"/>
              </a:ext>
            </a:extLst>
          </p:cNvPr>
          <p:cNvSpPr txBox="1"/>
          <p:nvPr/>
        </p:nvSpPr>
        <p:spPr>
          <a:xfrm>
            <a:off x="4810015" y="3498705"/>
            <a:ext cx="298190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rate across all datasets after Fed-Error average,</a:t>
            </a:r>
          </a:p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testing part of the dataset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6F53F2-DBF4-65DF-ABF5-4BE9DA687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43" y="833681"/>
            <a:ext cx="4289426" cy="2421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44605E-157A-E853-5F20-C99AD8B83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805" y="836558"/>
            <a:ext cx="4750540" cy="228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8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14A6CD0-9DDA-A2EB-E714-CCEEDFE4E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EC1BCE60-921F-2D18-C703-65593CE513D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48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69B31-B897-C078-9A85-162E034E488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ECC9BF-CD34-F52F-6A96-CFF4BE59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18ED0-4DCD-B526-041D-2A758D0A0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83E0CF1-0D40-260E-3783-948C8B60B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70D741-0898-F6DC-D35F-66FB4009E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985" y="1464579"/>
            <a:ext cx="4751705" cy="23755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CE0E48-8634-9BCA-BA40-38015AF29170}"/>
              </a:ext>
            </a:extLst>
          </p:cNvPr>
          <p:cNvSpPr txBox="1"/>
          <p:nvPr/>
        </p:nvSpPr>
        <p:spPr>
          <a:xfrm>
            <a:off x="1863566" y="3794076"/>
            <a:ext cx="49391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CodeBLEU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 between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baseline,FedAverage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FedErrorAverage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A5C1D2-2A16-9086-1166-A1E1E78F0143}"/>
              </a:ext>
            </a:extLst>
          </p:cNvPr>
          <p:cNvSpPr txBox="1"/>
          <p:nvPr/>
        </p:nvSpPr>
        <p:spPr>
          <a:xfrm>
            <a:off x="200025" y="683945"/>
            <a:ext cx="704071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CodeBLEU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metric for evaluating the quality of AI-generated code against reference code.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an extension of the classic BLEU score but specifically designed for code.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2491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753A7FA-871F-D6D5-DD41-BD2AF817F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50B71056-FC18-9F74-5602-60BE5F4086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211844"/>
            <a:ext cx="5701800" cy="488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B28AFE-1E17-0D45-945C-3D461EE47B6B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4CBD71-77ED-71E6-8EEB-9F52A401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0AE5AE-CE68-354B-17FA-B4D4B9C07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E22BA0B-CF06-047A-ADB4-69D20CBDD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F4D8D7-760B-0E2F-2EC3-AB25BB4F0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567912"/>
              </p:ext>
            </p:extLst>
          </p:nvPr>
        </p:nvGraphicFramePr>
        <p:xfrm>
          <a:off x="2788037" y="732691"/>
          <a:ext cx="4055676" cy="3482010"/>
        </p:xfrm>
        <a:graphic>
          <a:graphicData uri="http://schemas.openxmlformats.org/drawingml/2006/table">
            <a:tbl>
              <a:tblPr firstRow="1" firstCol="1" bandRow="1">
                <a:tableStyleId>{73B37524-8608-4B16-BC45-35DD96E42492}</a:tableStyleId>
              </a:tblPr>
              <a:tblGrid>
                <a:gridCol w="1327178">
                  <a:extLst>
                    <a:ext uri="{9D8B030D-6E8A-4147-A177-3AD203B41FA5}">
                      <a16:colId xmlns:a16="http://schemas.microsoft.com/office/drawing/2014/main" val="3132774420"/>
                    </a:ext>
                  </a:extLst>
                </a:gridCol>
                <a:gridCol w="829270">
                  <a:extLst>
                    <a:ext uri="{9D8B030D-6E8A-4147-A177-3AD203B41FA5}">
                      <a16:colId xmlns:a16="http://schemas.microsoft.com/office/drawing/2014/main" val="3677721800"/>
                    </a:ext>
                  </a:extLst>
                </a:gridCol>
                <a:gridCol w="728946">
                  <a:extLst>
                    <a:ext uri="{9D8B030D-6E8A-4147-A177-3AD203B41FA5}">
                      <a16:colId xmlns:a16="http://schemas.microsoft.com/office/drawing/2014/main" val="3484056511"/>
                    </a:ext>
                  </a:extLst>
                </a:gridCol>
                <a:gridCol w="589360">
                  <a:extLst>
                    <a:ext uri="{9D8B030D-6E8A-4147-A177-3AD203B41FA5}">
                      <a16:colId xmlns:a16="http://schemas.microsoft.com/office/drawing/2014/main" val="2014410953"/>
                    </a:ext>
                  </a:extLst>
                </a:gridCol>
                <a:gridCol w="580922">
                  <a:extLst>
                    <a:ext uri="{9D8B030D-6E8A-4147-A177-3AD203B41FA5}">
                      <a16:colId xmlns:a16="http://schemas.microsoft.com/office/drawing/2014/main" val="1701745086"/>
                    </a:ext>
                  </a:extLst>
                </a:gridCol>
              </a:tblGrid>
              <a:tr h="445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</a:rPr>
                        <a:t>error_type</a:t>
                      </a:r>
                      <a:endParaRPr lang="en-IN" sz="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</a:rPr>
                        <a:t>baseline_</a:t>
                      </a:r>
                      <a:endParaRPr lang="en-IN" sz="800" b="1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IN" sz="1000" b="1">
                          <a:effectLst/>
                        </a:rPr>
                        <a:t>count</a:t>
                      </a:r>
                      <a:endParaRPr lang="en-IN" sz="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 err="1">
                          <a:effectLst/>
                        </a:rPr>
                        <a:t>fedavg</a:t>
                      </a:r>
                      <a:r>
                        <a:rPr lang="en-IN" sz="1000" b="1" dirty="0">
                          <a:effectLst/>
                        </a:rPr>
                        <a:t>_</a:t>
                      </a:r>
                      <a:endParaRPr lang="en-IN" sz="800" b="1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IN" sz="1000" b="1" dirty="0">
                          <a:effectLst/>
                        </a:rPr>
                        <a:t>count</a:t>
                      </a:r>
                      <a:endParaRPr lang="en-IN" sz="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effectLst/>
                        </a:rPr>
                        <a:t>federroravg_</a:t>
                      </a:r>
                      <a:endParaRPr lang="en-IN" sz="800" b="1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IN" sz="1000" b="1">
                          <a:effectLst/>
                        </a:rPr>
                        <a:t>count</a:t>
                      </a:r>
                      <a:endParaRPr lang="en-IN" sz="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effectLst/>
                        </a:rPr>
                        <a:t>reduction</a:t>
                      </a:r>
                      <a:endParaRPr lang="en-IN" sz="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1003066692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AssertionError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126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135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126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2492902082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AttributeError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14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7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7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944748517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AxisError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168849977"/>
                  </a:ext>
                </a:extLst>
              </a:tr>
              <a:tr h="297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FileNotFoundError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2132556839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IndentationError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18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3325840700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IndexError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4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1139422080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InternalError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1141898099"/>
                  </a:ext>
                </a:extLst>
              </a:tr>
              <a:tr h="297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InvalidIndexError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357474033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KeyError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555528085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NameError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71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17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13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58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1897701030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NotFittedError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2515962030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RuntimeError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3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3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2865652655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SyntaxError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19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9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9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656561758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TimeoutError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3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3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3247003271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TypeError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24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17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18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753326695"/>
                  </a:ext>
                </a:extLst>
              </a:tr>
              <a:tr h="297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 err="1">
                          <a:effectLst/>
                        </a:rPr>
                        <a:t>UnboundLocalError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1885724379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ValueError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16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20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0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7743" marR="47743" marT="0" marB="0"/>
                </a:tc>
                <a:extLst>
                  <a:ext uri="{0D108BD9-81ED-4DB2-BD59-A6C34878D82A}">
                    <a16:rowId xmlns:a16="http://schemas.microsoft.com/office/drawing/2014/main" val="3088353496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A7B92D8A-332F-2E7C-0851-5FBE21A43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427" y="4430857"/>
            <a:ext cx="627935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44536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Error reduction comparison for Fed- Error average and baseline</a:t>
            </a:r>
            <a:r>
              <a:rPr lang="en-US" altLang="en-US" sz="400" dirty="0">
                <a:ea typeface="Times New Roman" panose="02020603050405020304" pitchFamily="18" charset="0"/>
              </a:rPr>
              <a:t> 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44536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for test dataset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6466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F391AF51-1422-83D0-19D3-A6DE8AA1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C5C01B-7B27-AA36-4C0A-34465296F653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3AC23A-43EC-F298-3D59-BB08A471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71F723-1326-EA8C-9469-E474C3362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0D0C76C-9086-C567-0D0A-D8C0146DA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33501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2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55E592B-D9CB-78D3-0E53-F46C2379C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48185"/>
              </p:ext>
            </p:extLst>
          </p:nvPr>
        </p:nvGraphicFramePr>
        <p:xfrm>
          <a:off x="589935" y="255463"/>
          <a:ext cx="8229599" cy="4178792"/>
        </p:xfrm>
        <a:graphic>
          <a:graphicData uri="http://schemas.openxmlformats.org/drawingml/2006/table">
            <a:tbl>
              <a:tblPr firstRow="1" firstCol="1" bandRow="1">
                <a:tableStyleId>{73B37524-8608-4B16-BC45-35DD96E42492}</a:tableStyleId>
              </a:tblPr>
              <a:tblGrid>
                <a:gridCol w="2278698">
                  <a:extLst>
                    <a:ext uri="{9D8B030D-6E8A-4147-A177-3AD203B41FA5}">
                      <a16:colId xmlns:a16="http://schemas.microsoft.com/office/drawing/2014/main" val="4000271127"/>
                    </a:ext>
                  </a:extLst>
                </a:gridCol>
                <a:gridCol w="1753773">
                  <a:extLst>
                    <a:ext uri="{9D8B030D-6E8A-4147-A177-3AD203B41FA5}">
                      <a16:colId xmlns:a16="http://schemas.microsoft.com/office/drawing/2014/main" val="2894871864"/>
                    </a:ext>
                  </a:extLst>
                </a:gridCol>
                <a:gridCol w="1216321">
                  <a:extLst>
                    <a:ext uri="{9D8B030D-6E8A-4147-A177-3AD203B41FA5}">
                      <a16:colId xmlns:a16="http://schemas.microsoft.com/office/drawing/2014/main" val="423125282"/>
                    </a:ext>
                  </a:extLst>
                </a:gridCol>
                <a:gridCol w="1906860">
                  <a:extLst>
                    <a:ext uri="{9D8B030D-6E8A-4147-A177-3AD203B41FA5}">
                      <a16:colId xmlns:a16="http://schemas.microsoft.com/office/drawing/2014/main" val="1494052329"/>
                    </a:ext>
                  </a:extLst>
                </a:gridCol>
                <a:gridCol w="1073947">
                  <a:extLst>
                    <a:ext uri="{9D8B030D-6E8A-4147-A177-3AD203B41FA5}">
                      <a16:colId xmlns:a16="http://schemas.microsoft.com/office/drawing/2014/main" val="528244240"/>
                    </a:ext>
                  </a:extLst>
                </a:gridCol>
              </a:tblGrid>
              <a:tr h="1063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 err="1">
                          <a:effectLst/>
                        </a:rPr>
                        <a:t>error_type</a:t>
                      </a:r>
                      <a:endParaRPr lang="en-IN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 err="1">
                          <a:effectLst/>
                        </a:rPr>
                        <a:t>baseline_count</a:t>
                      </a:r>
                      <a:endParaRPr lang="en-IN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 err="1">
                          <a:effectLst/>
                        </a:rPr>
                        <a:t>fedavg_count</a:t>
                      </a:r>
                      <a:endParaRPr lang="en-IN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 err="1">
                          <a:effectLst/>
                        </a:rPr>
                        <a:t>federroravg_count</a:t>
                      </a:r>
                      <a:endParaRPr lang="en-IN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effectLst/>
                        </a:rPr>
                        <a:t>reduction</a:t>
                      </a:r>
                      <a:endParaRPr lang="en-IN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410019524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 err="1">
                          <a:effectLst/>
                        </a:rPr>
                        <a:t>AssertionError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379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364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365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14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579656290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AttributeError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58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43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18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872767034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AxisError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4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134113770"/>
                  </a:ext>
                </a:extLst>
              </a:tr>
              <a:tr h="184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FileNotFoundError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3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3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82335315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 err="1">
                          <a:effectLst/>
                        </a:rPr>
                        <a:t>IndentationError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69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48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60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9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622986893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IndexError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6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9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9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927596398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IndexingError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2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1853673793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InvalidIndexError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119273493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KeyError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19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54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18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873511990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LinAlgError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0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736651507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ModuleNotFoundError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1236467413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NameError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201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56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161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639247701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NotFittedError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6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5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1143038893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NotImplementedError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82601514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OverflowError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0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0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327967285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QhullError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65810488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RecursionError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172198024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RuntimeError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7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7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1841018088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SyntaxError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4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1451738413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TimeoutError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483126562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TypeError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80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85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84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120450409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UFuncTypeError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4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3112563312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UnboundLocalError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1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871663463"/>
                  </a:ext>
                </a:extLst>
              </a:tr>
              <a:tr h="184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UnidentifiedImageError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4144160871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ValueError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61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62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55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6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946782039"/>
                  </a:ext>
                </a:extLst>
              </a:tr>
              <a:tr h="119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return_outside_function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16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6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0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176" marR="44176" marT="0" marB="0"/>
                </a:tc>
                <a:extLst>
                  <a:ext uri="{0D108BD9-81ED-4DB2-BD59-A6C34878D82A}">
                    <a16:rowId xmlns:a16="http://schemas.microsoft.com/office/drawing/2014/main" val="2888022342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3BD6C76E-DE3E-223F-34C7-33E24CDCA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5360" y="4538578"/>
            <a:ext cx="52245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44536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Error reduction comparison for Fed- Error average and baseline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629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4EA19133-3F5A-2601-B1F9-CC43843E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>
            <a:extLst>
              <a:ext uri="{FF2B5EF4-FFF2-40B4-BE49-F238E27FC236}">
                <a16:creationId xmlns:a16="http://schemas.microsoft.com/office/drawing/2014/main" id="{3F7796B5-939E-F597-F0E2-9FE2DAF2EA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075" y="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Google Shape;208;p40">
            <a:extLst>
              <a:ext uri="{FF2B5EF4-FFF2-40B4-BE49-F238E27FC236}">
                <a16:creationId xmlns:a16="http://schemas.microsoft.com/office/drawing/2014/main" id="{241702EF-059D-D700-E436-5EE20C247D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525" y="612668"/>
            <a:ext cx="8723700" cy="47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30200">
              <a:buClr>
                <a:schemeClr val="dk1"/>
              </a:buClr>
              <a:buSzPts val="1600"/>
            </a:pPr>
            <a:endParaRPr lang="en-IN"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0" indent="0">
              <a:buClr>
                <a:schemeClr val="dk1"/>
              </a:buClr>
              <a:buSzPts val="1600"/>
              <a:buNone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127000" indent="0">
              <a:buClr>
                <a:schemeClr val="dk1"/>
              </a:buClr>
              <a:buSzPts val="1600"/>
              <a:buNone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0" indent="0">
              <a:buClr>
                <a:schemeClr val="dk1"/>
              </a:buClr>
              <a:buSzPts val="1600"/>
              <a:buNone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FA385F-67C3-F8D6-6892-F7C0C4802E0B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496906-8FC7-6105-DF61-2E2AA0474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208;p40">
            <a:extLst>
              <a:ext uri="{FF2B5EF4-FFF2-40B4-BE49-F238E27FC236}">
                <a16:creationId xmlns:a16="http://schemas.microsoft.com/office/drawing/2014/main" id="{0C7F4AD3-8C7C-9EAC-FCE0-E491CE44003E}"/>
              </a:ext>
            </a:extLst>
          </p:cNvPr>
          <p:cNvSpPr txBox="1">
            <a:spLocks/>
          </p:cNvSpPr>
          <p:nvPr/>
        </p:nvSpPr>
        <p:spPr>
          <a:xfrm>
            <a:off x="292875" y="502337"/>
            <a:ext cx="8723700" cy="47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0200"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LLM </a:t>
            </a:r>
            <a:r>
              <a:rPr lang="en-US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US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QwenCoder2.5-3B parameter is used as base model.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US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Type: Causal Language Models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US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Stage: Pretraining &amp; Post-training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US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Parameters: 3.09B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US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Paramaters (Non-Embedding): 2.77B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US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Layers: 36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US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Attention Heads (GQA): 16 for Q and 2 for KV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Length: Full 32,768 tokens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Generation Settings: We configured do_sample = False and temperature = 1.0 to ensure deterministic and reproducible code generation across multiple runs.</a:t>
            </a:r>
          </a:p>
          <a:p>
            <a:pPr marL="755650" lvl="1" indent="-171450">
              <a:spcBef>
                <a:spcPts val="1200"/>
              </a:spcBef>
              <a:buClr>
                <a:schemeClr val="dk1"/>
              </a:buClr>
              <a:buSzPts val="1600"/>
            </a:pPr>
            <a:endParaRPr lang="en-US" sz="12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Bef>
                <a:spcPts val="1200"/>
              </a:spcBef>
              <a:buFont typeface="Arial"/>
              <a:buNone/>
            </a:pPr>
            <a:endParaRPr lang="en-US" sz="1600" b="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Bef>
                <a:spcPts val="1200"/>
              </a:spcBef>
              <a:buFont typeface="Arial"/>
              <a:buNone/>
            </a:pPr>
            <a:endParaRPr lang="en-US" sz="1500" b="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Bef>
                <a:spcPts val="1200"/>
              </a:spcBef>
              <a:buFont typeface="Arial"/>
              <a:buNone/>
            </a:pPr>
            <a:endParaRPr lang="en-US" sz="15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Font typeface="Arial"/>
              <a:buNone/>
            </a:pPr>
            <a:endParaRPr lang="en-US" sz="1600" b="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indent="0">
              <a:lnSpc>
                <a:spcPct val="100000"/>
              </a:lnSpc>
              <a:spcBef>
                <a:spcPts val="1200"/>
              </a:spcBef>
              <a:buFont typeface="Arial"/>
              <a:buNone/>
            </a:pPr>
            <a:endParaRPr lang="en-US" sz="1500" b="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Font typeface="Arial"/>
              <a:buNone/>
            </a:pPr>
            <a:endParaRPr lang="en-US" sz="15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buFont typeface="Arial"/>
              <a:buNone/>
            </a:pPr>
            <a:endParaRPr lang="en-US" sz="15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Font typeface="Arial"/>
              <a:buNone/>
            </a:pPr>
            <a:r>
              <a:rPr lang="en-US" sz="1500" b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Font typeface="Arial"/>
              <a:buNone/>
            </a:pPr>
            <a:r>
              <a:rPr lang="en-US" sz="1500" b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Font typeface="Arial"/>
              <a:buNone/>
            </a:pPr>
            <a:endParaRPr lang="en-US" sz="15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Font typeface="Arial"/>
              <a:buNone/>
            </a:pPr>
            <a:endParaRPr lang="en-US" sz="15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/>
              <a:buNone/>
            </a:pPr>
            <a:endParaRPr lang="en-US"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6470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6E09AC4D-14CF-1E9C-9532-347582614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>
            <a:extLst>
              <a:ext uri="{FF2B5EF4-FFF2-40B4-BE49-F238E27FC236}">
                <a16:creationId xmlns:a16="http://schemas.microsoft.com/office/drawing/2014/main" id="{EFBBB720-F106-A3CB-32F8-F9C5DA8D6E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075" y="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Google Shape;208;p40">
            <a:extLst>
              <a:ext uri="{FF2B5EF4-FFF2-40B4-BE49-F238E27FC236}">
                <a16:creationId xmlns:a16="http://schemas.microsoft.com/office/drawing/2014/main" id="{4AF2DBF2-3884-D5EA-66DF-E92BB7C431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525" y="612668"/>
            <a:ext cx="8723700" cy="47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30200">
              <a:buClr>
                <a:schemeClr val="dk1"/>
              </a:buClr>
              <a:buSzPts val="1600"/>
            </a:pPr>
            <a:r>
              <a:rPr lang="en-IN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7000" indent="0">
              <a:buClr>
                <a:schemeClr val="dk1"/>
              </a:buClr>
              <a:buSzPts val="1600"/>
              <a:buNone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127000" indent="0">
              <a:buClr>
                <a:schemeClr val="dk1"/>
              </a:buClr>
              <a:buSzPts val="1600"/>
              <a:buNone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0" indent="0">
              <a:buClr>
                <a:schemeClr val="dk1"/>
              </a:buClr>
              <a:buSzPts val="1600"/>
              <a:buNone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FD8E88-9BDE-4EFB-8161-8B3986C816BB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A36E8-E098-5C24-18A3-BE68624E0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E04964-A079-6398-3A1D-066800C4AC11}"/>
              </a:ext>
            </a:extLst>
          </p:cNvPr>
          <p:cNvGraphicFramePr>
            <a:graphicFrameLocks noGrp="1"/>
          </p:cNvGraphicFramePr>
          <p:nvPr/>
        </p:nvGraphicFramePr>
        <p:xfrm>
          <a:off x="1600200" y="1163136"/>
          <a:ext cx="6257650" cy="286593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{73B37524-8608-4B16-BC45-35DD96E42492}</a:tableStyleId>
              </a:tblPr>
              <a:tblGrid>
                <a:gridCol w="911905">
                  <a:extLst>
                    <a:ext uri="{9D8B030D-6E8A-4147-A177-3AD203B41FA5}">
                      <a16:colId xmlns:a16="http://schemas.microsoft.com/office/drawing/2014/main" val="2486235400"/>
                    </a:ext>
                  </a:extLst>
                </a:gridCol>
                <a:gridCol w="1189355">
                  <a:extLst>
                    <a:ext uri="{9D8B030D-6E8A-4147-A177-3AD203B41FA5}">
                      <a16:colId xmlns:a16="http://schemas.microsoft.com/office/drawing/2014/main" val="1727450749"/>
                    </a:ext>
                  </a:extLst>
                </a:gridCol>
                <a:gridCol w="666547">
                  <a:extLst>
                    <a:ext uri="{9D8B030D-6E8A-4147-A177-3AD203B41FA5}">
                      <a16:colId xmlns:a16="http://schemas.microsoft.com/office/drawing/2014/main" val="1103671061"/>
                    </a:ext>
                  </a:extLst>
                </a:gridCol>
                <a:gridCol w="1429365">
                  <a:extLst>
                    <a:ext uri="{9D8B030D-6E8A-4147-A177-3AD203B41FA5}">
                      <a16:colId xmlns:a16="http://schemas.microsoft.com/office/drawing/2014/main" val="3463592701"/>
                    </a:ext>
                  </a:extLst>
                </a:gridCol>
                <a:gridCol w="2060478">
                  <a:extLst>
                    <a:ext uri="{9D8B030D-6E8A-4147-A177-3AD203B41FA5}">
                      <a16:colId xmlns:a16="http://schemas.microsoft.com/office/drawing/2014/main" val="3044333344"/>
                    </a:ext>
                  </a:extLst>
                </a:gridCol>
              </a:tblGrid>
              <a:tr h="412031">
                <a:tc>
                  <a:txBody>
                    <a:bodyPr/>
                    <a:lstStyle/>
                    <a:p>
                      <a:pPr marL="68580">
                        <a:lnSpc>
                          <a:spcPts val="1355"/>
                        </a:lnSpc>
                        <a:buNone/>
                      </a:pPr>
                      <a:r>
                        <a:rPr lang="en-US" sz="1200" b="1" spc="-10" dirty="0">
                          <a:effectLst/>
                        </a:rPr>
                        <a:t>Dataset</a:t>
                      </a:r>
                      <a:endParaRPr lang="en-IN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55"/>
                        </a:lnSpc>
                        <a:buNone/>
                      </a:pPr>
                      <a:r>
                        <a:rPr lang="en-US" sz="1200" b="1" spc="-10">
                          <a:effectLst/>
                        </a:rPr>
                        <a:t>Source</a:t>
                      </a:r>
                      <a:endParaRPr lang="en-IN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355"/>
                        </a:lnSpc>
                        <a:buNone/>
                      </a:pPr>
                      <a:r>
                        <a:rPr lang="en-US" sz="1200" b="1" spc="-20">
                          <a:effectLst/>
                        </a:rPr>
                        <a:t>Task</a:t>
                      </a:r>
                      <a:endParaRPr lang="en-IN" sz="1100" b="1">
                        <a:effectLst/>
                      </a:endParaRPr>
                    </a:p>
                    <a:p>
                      <a:pPr marL="68580">
                        <a:lnSpc>
                          <a:spcPts val="1255"/>
                        </a:lnSpc>
                        <a:buNone/>
                      </a:pPr>
                      <a:r>
                        <a:rPr lang="en-US" sz="1200" b="1" spc="-10">
                          <a:effectLst/>
                        </a:rPr>
                        <a:t>Count</a:t>
                      </a:r>
                      <a:endParaRPr lang="en-IN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55"/>
                        </a:lnSpc>
                        <a:buNone/>
                      </a:pPr>
                      <a:r>
                        <a:rPr lang="en-US" sz="1200" b="1" spc="-10">
                          <a:effectLst/>
                        </a:rPr>
                        <a:t>Domain</a:t>
                      </a:r>
                      <a:endParaRPr lang="en-IN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55"/>
                        </a:lnSpc>
                        <a:buNone/>
                      </a:pPr>
                      <a:r>
                        <a:rPr lang="en-US" sz="1200" b="1" dirty="0">
                          <a:effectLst/>
                        </a:rPr>
                        <a:t>Used</a:t>
                      </a:r>
                      <a:r>
                        <a:rPr lang="en-US" sz="1200" b="1" spc="-25" dirty="0">
                          <a:effectLst/>
                        </a:rPr>
                        <a:t> For</a:t>
                      </a:r>
                      <a:endParaRPr lang="en-IN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4652291"/>
                  </a:ext>
                </a:extLst>
              </a:tr>
              <a:tr h="412793">
                <a:tc>
                  <a:txBody>
                    <a:bodyPr/>
                    <a:lstStyle/>
                    <a:p>
                      <a:pPr marL="68580">
                        <a:lnSpc>
                          <a:spcPts val="1355"/>
                        </a:lnSpc>
                        <a:buNone/>
                      </a:pPr>
                      <a:r>
                        <a:rPr lang="en-US" sz="1200" spc="-10">
                          <a:effectLst/>
                        </a:rPr>
                        <a:t>HumanEval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5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Hugging</a:t>
                      </a:r>
                      <a:r>
                        <a:rPr lang="en-US" sz="1200" spc="-15">
                          <a:effectLst/>
                        </a:rPr>
                        <a:t> </a:t>
                      </a:r>
                      <a:r>
                        <a:rPr lang="en-US" sz="1200" spc="-20">
                          <a:effectLst/>
                        </a:rPr>
                        <a:t>Face</a:t>
                      </a:r>
                      <a:endParaRPr lang="en-IN" sz="1100">
                        <a:effectLst/>
                      </a:endParaRPr>
                    </a:p>
                    <a:p>
                      <a:pPr marL="67945">
                        <a:lnSpc>
                          <a:spcPts val="1255"/>
                        </a:lnSpc>
                        <a:buNone/>
                      </a:pPr>
                      <a:r>
                        <a:rPr lang="en-US" sz="1200" spc="-10">
                          <a:effectLst/>
                        </a:rPr>
                        <a:t>(openai/evals)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355"/>
                        </a:lnSpc>
                        <a:buNone/>
                      </a:pPr>
                      <a:r>
                        <a:rPr lang="en-US" sz="1200" spc="-25">
                          <a:effectLst/>
                        </a:rPr>
                        <a:t>164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55"/>
                        </a:lnSpc>
                        <a:buNone/>
                      </a:pPr>
                      <a:r>
                        <a:rPr lang="en-US" sz="1200" spc="-10">
                          <a:effectLst/>
                        </a:rPr>
                        <a:t>Functional</a:t>
                      </a:r>
                      <a:endParaRPr lang="en-IN" sz="1100">
                        <a:effectLst/>
                      </a:endParaRPr>
                    </a:p>
                    <a:p>
                      <a:pPr marL="67945">
                        <a:lnSpc>
                          <a:spcPts val="1255"/>
                        </a:lnSpc>
                        <a:buNone/>
                      </a:pPr>
                      <a:r>
                        <a:rPr lang="en-US" sz="1200" spc="-10">
                          <a:effectLst/>
                        </a:rPr>
                        <a:t>correctness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5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Code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generation,</a:t>
                      </a:r>
                      <a:endParaRPr lang="en-IN" sz="1100">
                        <a:effectLst/>
                      </a:endParaRPr>
                    </a:p>
                    <a:p>
                      <a:pPr marL="67945">
                        <a:lnSpc>
                          <a:spcPts val="125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hallucination detection, </a:t>
                      </a:r>
                      <a:r>
                        <a:rPr lang="en-US" sz="1200" spc="-25">
                          <a:effectLst/>
                        </a:rPr>
                        <a:t>SFT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0373735"/>
                  </a:ext>
                </a:extLst>
              </a:tr>
              <a:tr h="1294737">
                <a:tc>
                  <a:txBody>
                    <a:bodyPr/>
                    <a:lstStyle/>
                    <a:p>
                      <a:pPr marL="68580">
                        <a:lnSpc>
                          <a:spcPts val="1355"/>
                        </a:lnSpc>
                        <a:buNone/>
                      </a:pPr>
                      <a:r>
                        <a:rPr lang="en-US" sz="1200" spc="-20" dirty="0">
                          <a:effectLst/>
                        </a:rPr>
                        <a:t>MBPP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144780">
                        <a:lnSpc>
                          <a:spcPts val="123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Hugging Face </a:t>
                      </a:r>
                      <a:r>
                        <a:rPr lang="en-US" sz="1200" spc="-10">
                          <a:effectLst/>
                        </a:rPr>
                        <a:t>(google- research- datasets/mbpp,</a:t>
                      </a:r>
                      <a:endParaRPr lang="en-IN" sz="1100">
                        <a:effectLst/>
                      </a:endParaRPr>
                    </a:p>
                    <a:p>
                      <a:pPr marL="67945">
                        <a:lnSpc>
                          <a:spcPts val="1255"/>
                        </a:lnSpc>
                        <a:buNone/>
                      </a:pPr>
                      <a:r>
                        <a:rPr lang="en-US" sz="1200" spc="-10">
                          <a:effectLst/>
                        </a:rPr>
                        <a:t>sanitized)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355"/>
                        </a:lnSpc>
                        <a:buNone/>
                      </a:pPr>
                      <a:r>
                        <a:rPr lang="en-US" sz="1200" spc="-25">
                          <a:effectLst/>
                        </a:rPr>
                        <a:t>377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55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Basic</a:t>
                      </a:r>
                      <a:r>
                        <a:rPr lang="en-US" sz="1200" spc="-10">
                          <a:effectLst/>
                        </a:rPr>
                        <a:t> algorithms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58420">
                        <a:lnSpc>
                          <a:spcPts val="123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Code generation, hallucination</a:t>
                      </a:r>
                      <a:r>
                        <a:rPr lang="en-US" sz="1200" spc="-7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detection,</a:t>
                      </a:r>
                      <a:r>
                        <a:rPr lang="en-US" sz="1200" spc="-7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SFT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92039363"/>
                  </a:ext>
                </a:extLst>
              </a:tr>
              <a:tr h="746378">
                <a:tc>
                  <a:txBody>
                    <a:bodyPr/>
                    <a:lstStyle/>
                    <a:p>
                      <a:pPr marL="68580">
                        <a:lnSpc>
                          <a:spcPts val="1355"/>
                        </a:lnSpc>
                        <a:buNone/>
                      </a:pPr>
                      <a:r>
                        <a:rPr lang="en-US" sz="1200" spc="-10" dirty="0">
                          <a:effectLst/>
                        </a:rPr>
                        <a:t>DS-</a:t>
                      </a:r>
                      <a:r>
                        <a:rPr lang="en-US" sz="1200" spc="-20" dirty="0">
                          <a:effectLst/>
                        </a:rPr>
                        <a:t>1000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193675">
                        <a:lnSpc>
                          <a:spcPts val="123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Hugging</a:t>
                      </a:r>
                      <a:r>
                        <a:rPr lang="en-US" sz="1200" spc="-7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Face </a:t>
                      </a:r>
                      <a:r>
                        <a:rPr lang="en-US" sz="1200" spc="-10" dirty="0">
                          <a:effectLst/>
                        </a:rPr>
                        <a:t>(</a:t>
                      </a:r>
                      <a:r>
                        <a:rPr lang="en-US" sz="1200" spc="-10" dirty="0" err="1">
                          <a:effectLst/>
                        </a:rPr>
                        <a:t>xlangai</a:t>
                      </a:r>
                      <a:r>
                        <a:rPr lang="en-US" sz="1200" spc="-10" dirty="0">
                          <a:effectLst/>
                        </a:rPr>
                        <a:t>/DS-</a:t>
                      </a:r>
                      <a:endParaRPr lang="en-IN" sz="1100" dirty="0">
                        <a:effectLst/>
                      </a:endParaRPr>
                    </a:p>
                    <a:p>
                      <a:pPr marL="67945">
                        <a:lnSpc>
                          <a:spcPts val="1255"/>
                        </a:lnSpc>
                        <a:buNone/>
                      </a:pPr>
                      <a:r>
                        <a:rPr lang="en-US" sz="1200" spc="-10" dirty="0">
                          <a:effectLst/>
                        </a:rPr>
                        <a:t>1000)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355"/>
                        </a:lnSpc>
                        <a:buNone/>
                      </a:pPr>
                      <a:r>
                        <a:rPr lang="en-US" sz="1200" spc="-20">
                          <a:effectLst/>
                        </a:rPr>
                        <a:t>1000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Data science </a:t>
                      </a:r>
                      <a:r>
                        <a:rPr lang="en-US" sz="1200" spc="-10">
                          <a:effectLst/>
                        </a:rPr>
                        <a:t>(NumPy,</a:t>
                      </a:r>
                      <a:r>
                        <a:rPr lang="en-US" sz="1200" spc="-65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Pandas,</a:t>
                      </a:r>
                      <a:endParaRPr lang="en-IN" sz="1100">
                        <a:effectLst/>
                      </a:endParaRPr>
                    </a:p>
                    <a:p>
                      <a:pPr marL="67945">
                        <a:lnSpc>
                          <a:spcPts val="1255"/>
                        </a:lnSpc>
                        <a:buNone/>
                      </a:pPr>
                      <a:r>
                        <a:rPr lang="en-US" sz="1200" spc="-10">
                          <a:effectLst/>
                        </a:rPr>
                        <a:t>etc.)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marR="58420">
                        <a:lnSpc>
                          <a:spcPts val="123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Code generation, hallucination</a:t>
                      </a:r>
                      <a:r>
                        <a:rPr lang="en-US" sz="1200" spc="-7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detection,</a:t>
                      </a:r>
                      <a:r>
                        <a:rPr lang="en-US" sz="1200" spc="-7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SFT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07985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1459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0E3FE298-2B43-2233-E25A-66052E69A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>
            <a:extLst>
              <a:ext uri="{FF2B5EF4-FFF2-40B4-BE49-F238E27FC236}">
                <a16:creationId xmlns:a16="http://schemas.microsoft.com/office/drawing/2014/main" id="{3040562A-8083-F079-8F71-6501A9077D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075" y="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Google Shape;208;p40">
            <a:extLst>
              <a:ext uri="{FF2B5EF4-FFF2-40B4-BE49-F238E27FC236}">
                <a16:creationId xmlns:a16="http://schemas.microsoft.com/office/drawing/2014/main" id="{5B9078F8-DB12-1AA4-CB3A-F6D4FCE8D0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525" y="612668"/>
            <a:ext cx="8723700" cy="47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2750" indent="-285750">
              <a:buClr>
                <a:schemeClr val="dk1"/>
              </a:buClr>
              <a:buSzPts val="1600"/>
            </a:pPr>
            <a:r>
              <a:rPr lang="en-IN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 Environment</a:t>
            </a: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7000" indent="0">
              <a:buClr>
                <a:schemeClr val="dk1"/>
              </a:buClr>
              <a:buSzPts val="1600"/>
              <a:buNone/>
            </a:pPr>
            <a:endParaRPr lang="en-IN"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9950" lvl="1" indent="-285750">
              <a:lnSpc>
                <a:spcPct val="150000"/>
              </a:lnSpc>
              <a:buClr>
                <a:schemeClr val="dk1"/>
              </a:buClr>
              <a:buSzPts val="1600"/>
            </a:pP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16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for LLM inference, code generation, and initial pipeline development; utilized NVIDIA T4 GPU with CUDA support. </a:t>
            </a:r>
          </a:p>
          <a:p>
            <a:pPr marL="869950" lvl="1" indent="-285750">
              <a:lnSpc>
                <a:spcPct val="150000"/>
              </a:lnSpc>
              <a:buClr>
                <a:schemeClr val="dk1"/>
              </a:buClr>
              <a:buSzPts val="1600"/>
            </a:pP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for local development of static and dynamic analysis modules, dataset processing, and result analysis; integrated with Git/GitHub for version control. </a:t>
            </a:r>
          </a:p>
          <a:p>
            <a:pPr marL="869950" lvl="1" indent="-285750">
              <a:lnSpc>
                <a:spcPct val="150000"/>
              </a:lnSpc>
              <a:buClr>
                <a:schemeClr val="dk1"/>
              </a:buClr>
              <a:buSzPts val="1600"/>
            </a:pPr>
            <a:r>
              <a:rPr lang="en-IN" sz="16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JupyterHub</a:t>
            </a: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(CTSKII): </a:t>
            </a:r>
            <a:r>
              <a:rPr lang="en-I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fine-tuning and federated learning experiments; provided NVIDIA A4000 GPU with persistent storage and containerized environment. </a:t>
            </a:r>
          </a:p>
          <a:p>
            <a:pPr marL="127000" indent="0">
              <a:buClr>
                <a:schemeClr val="dk1"/>
              </a:buClr>
              <a:buSzPts val="1600"/>
              <a:buNone/>
            </a:pPr>
            <a:endParaRPr lang="en-IN"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0" indent="0">
              <a:buClr>
                <a:schemeClr val="dk1"/>
              </a:buClr>
              <a:buSzPts val="1600"/>
              <a:buNone/>
            </a:pPr>
            <a:r>
              <a:rPr lang="en-I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127000" indent="0">
              <a:buClr>
                <a:schemeClr val="dk1"/>
              </a:buClr>
              <a:buSzPts val="1600"/>
              <a:buNone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0" indent="0">
              <a:buClr>
                <a:schemeClr val="dk1"/>
              </a:buClr>
              <a:buSzPts val="1600"/>
              <a:buNone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30200">
              <a:buClr>
                <a:schemeClr val="dk1"/>
              </a:buClr>
              <a:buSzPts val="1600"/>
            </a:pPr>
            <a:endParaRPr lang="en-IN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1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4DEAED-5548-175F-54A9-A3A64875BA54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FB9831-6225-0C9F-7518-D8AA0B2B7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9548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>
            <a:spLocks noGrp="1"/>
          </p:cNvSpPr>
          <p:nvPr>
            <p:ph type="title"/>
          </p:nvPr>
        </p:nvSpPr>
        <p:spPr>
          <a:xfrm>
            <a:off x="43500" y="65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sz="16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Google Shape;275;p42"/>
          <p:cNvSpPr txBox="1"/>
          <p:nvPr/>
        </p:nvSpPr>
        <p:spPr>
          <a:xfrm>
            <a:off x="357675" y="558450"/>
            <a:ext cx="8096400" cy="404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lnSpc>
                <a:spcPct val="11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 Fakhoury, A. Naik, G. Sakkas, S. Chakraborty and S. K. Lahiri, "LLM Based Test-Driven Interactive Code Generation: User Study and Empirical Evaluation," IEEE Transactions on Software Engineering, vol. 50, no. 9, pp. 2254–2268, Sept. 2024,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10.1109/TSE.2024.3428972.</a:t>
            </a:r>
          </a:p>
          <a:p>
            <a:pPr lvl="0" algn="just">
              <a:lnSpc>
                <a:spcPct val="110000"/>
              </a:lnSpc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[2] R.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Khojah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 G. de Oliveira Neto, M. Mohamad and P. Leitner, "The Impact of Prompt Programming on Function-Level Code Generation," IEEE Transactions on Software Engineering, vol. 51, no. 8, pp. 2381–2395, Aug. 2025,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10.1109/TSE.2025.3587794.</a:t>
            </a:r>
          </a:p>
          <a:p>
            <a:pPr lvl="0" algn="just">
              <a:lnSpc>
                <a:spcPct val="110000"/>
              </a:lnSpc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[3] J. Chen, Z. Cai, W. Chen, W. Wang, Z. Zheng and P. S. Yu, "A Federated Adaptive Large Language Model Fine-Tuning Framework for Software Development," IEEE Transactions on Services Computing, vol. 19, pp. 32 43, Feb. 2026,doi: 10.1109/TSC.2025.3623626. </a:t>
            </a:r>
          </a:p>
          <a:p>
            <a:pPr lvl="0" algn="just">
              <a:lnSpc>
                <a:spcPct val="110000"/>
              </a:lnSpc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Z. Liu, Y. Tang, X. Luo, Y. Zhou and L. F. Zhang, "No Need to Lift a Finger Anymore? Assessing the Quality of Code Generation by ChatGPT," IEEE Transactions on Software Engineering, vol. 50, no. 6, pp. 1548–1584, June 2024,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10.1109/TSE.2024.3392499. </a:t>
            </a:r>
          </a:p>
          <a:p>
            <a:pPr lvl="0" algn="just">
              <a:lnSpc>
                <a:spcPct val="110000"/>
              </a:lnSpc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M. Nashaat and J. Miller, "Towards Efficient Fine-Tuning of Language Models With Organizational Data for Automated Software Review," IEEE Transactions on Software Engineering, vol. 50, no. 9, pp. 2240–2253, Sept. 2024,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10.1109/TSE.2024.3428324.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01E48B-87A2-2BCF-E349-A9BD23A6C061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99B3B4-0693-4394-8204-0345F0F0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>
            <a:spLocks noGrp="1"/>
          </p:cNvSpPr>
          <p:nvPr>
            <p:ph type="title"/>
          </p:nvPr>
        </p:nvSpPr>
        <p:spPr>
          <a:xfrm>
            <a:off x="43500" y="65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sz="16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Google Shape;281;p43"/>
          <p:cNvSpPr txBox="1"/>
          <p:nvPr/>
        </p:nvSpPr>
        <p:spPr>
          <a:xfrm>
            <a:off x="357675" y="558450"/>
            <a:ext cx="8096400" cy="3637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lnSpc>
                <a:spcPct val="11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S. Ouyang, J. M. Zhang, Z. Sun and A. M. Penuela, "Knowledge-Enhanced Program Repair for Data Science Code," in Proc. IEEE/ACM 47th Int. Conf. Software Engineering (ICSE), Ottawa, Canada,, pp. 898–910, 2025,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10.1109/ICSE55347.2025.00246. 68</a:t>
            </a:r>
          </a:p>
          <a:p>
            <a:pPr lvl="0" algn="just">
              <a:lnSpc>
                <a:spcPct val="110000"/>
              </a:lnSpc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[7] Q. Wang, C. Li, Y. Liu, Q. Zhu, J. Song and T. Shen, "An Adaptive Framework Embedded With LLM for Knowledge Graph Construction," IEEE Transactions on Multimedia, vol. 27, pp. 2912–2923, 2025,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10.1109/TMM.2025.3557717.</a:t>
            </a:r>
          </a:p>
          <a:p>
            <a:pPr lvl="0" algn="just">
              <a:lnSpc>
                <a:spcPct val="110000"/>
              </a:lnSpc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[8] B. Yang, J. Dang, H. Liu and Z. Jin, "Advancing LLM-Generated Code Reliability: A Hybrid Approach for Hallucination Detection," IEEE Transactions on Software Engineering, pp. 1–17, 2025,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10.1109/TSE.2025.3640641.</a:t>
            </a:r>
          </a:p>
          <a:p>
            <a:pPr lvl="0" algn="just">
              <a:lnSpc>
                <a:spcPct val="110000"/>
              </a:lnSpc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[9] X. Yi, C. Hu, B. Cai, H. Huang, Y. Chen and K. Wang, "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FedALoRA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Adaptive Local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Aggregation for Personalized Federated Learning in LLM," IEEE Internet of Things Journal, vol. 12, no. 24, pp. 51854–51865, Dec. 2025,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10.1109/JIOT.2025.3582427. </a:t>
            </a:r>
          </a:p>
          <a:p>
            <a:pPr lvl="0" algn="just">
              <a:lnSpc>
                <a:spcPct val="110000"/>
              </a:lnSpc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X. Yu, L. Liu, X. Hu, J. W. Keung, J. Liu and X. Xia, "Fight Fire With Fire: How Much Can We Trust ChatGPT on Source Code-Related Tasks?," IEEE Transactions on Software Engineering, vol. 50, no. 12, pp. 3435–3453, Dec. 2024,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10.1109/TSE.2024.3492204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0F5BB5-7582-8009-95B3-892C991DC818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2807D-FBEA-42BB-AD63-CB591C89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>
            <a:spLocks noGrp="1"/>
          </p:cNvSpPr>
          <p:nvPr>
            <p:ph type="title"/>
          </p:nvPr>
        </p:nvSpPr>
        <p:spPr>
          <a:xfrm>
            <a:off x="43500" y="65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sz="16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Google Shape;287;p44"/>
          <p:cNvSpPr txBox="1"/>
          <p:nvPr/>
        </p:nvSpPr>
        <p:spPr>
          <a:xfrm>
            <a:off x="255600" y="540681"/>
            <a:ext cx="8096400" cy="424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lnSpc>
                <a:spcPct val="11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H. Zhang, Q. Yan, W. Min, C. Zhang, L. Kuang and Y. Xia, "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EvoAPR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Enhancing Large Language Models for Automatic Program Repair with Genetic Algorithm and Dynamic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 in Proc. IEEE Int. Conf. Web Services (ICWS), Helsinki, Finland, pp. 946–956,2025,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10.1109/ICWS67624.2025.00123.</a:t>
            </a:r>
          </a:p>
          <a:p>
            <a:pPr lvl="0" algn="just">
              <a:lnSpc>
                <a:spcPct val="110000"/>
              </a:lnSpc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[12] J. Seo, N. Zhang and C. Rong, "Flexible and Secure Code Deployment in Federated Learning using Large Language Models: Prompt Engineering to Enhance Malicious Code Detection," in Proc. IEEE Int. Conf. Cloud Computing Technology and Science 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CloudCom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Naples, Italy, pp. 341 349,2023,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10.1109/CloudCom59040.2023.00062. 68</a:t>
            </a:r>
          </a:p>
          <a:p>
            <a:pPr lvl="0" algn="just">
              <a:lnSpc>
                <a:spcPct val="110000"/>
              </a:lnSpc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[13] J. Liu, Y. Liao, H. Xu, Y. Xu, J. Liu and C. Qian, "Adaptive Parameter Efficient Federated Fine-Tuning on Heterogeneous Devices," IEEE Transactions on Mobile Computing, vol. 24, no. 11, pp. 12533–12549, Nov. 2025,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10.1109/TMC.2025.3586644. </a:t>
            </a:r>
          </a:p>
          <a:p>
            <a:pPr lvl="0" algn="just">
              <a:lnSpc>
                <a:spcPct val="110000"/>
              </a:lnSpc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Y. Tian, W. Yan, Q. Yang, X. Zhao, Q. Chen, W. Wang, Z. Luo, L. Ma and D. Song, "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CodeHalu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Investigating Code Hallucinations in LLMs via Execution- based Verification," in Proc. AAAI Conf. Artificial Intelligence (AAAI), pp. 25300–25308, 2025,doi: 10.1609/aaai.v39i24.34717.</a:t>
            </a:r>
          </a:p>
          <a:p>
            <a:pPr lvl="0" algn="just">
              <a:lnSpc>
                <a:spcPct val="110000"/>
              </a:lnSpc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[15] J. Liu, Y. Zhang, D. Wang, Y. Li and W. Dong, "THINK: Tackling API Hallucinations in LLMs via Injecting Knowledge," in Proc. IEEE Int. Conf. Software Analysis, Evolution and Reengineering (SANER), Montreal, QC, Canada, pp. 229–240, 2025,doi: 10.1109/SANER64311.2025.00029.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BAA438-3A28-B6E8-51AD-06BFE843BA8C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A786E8-CB83-1655-EC66-3A251ED3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2236</TotalTime>
  <Words>2903</Words>
  <Application>Microsoft Office PowerPoint</Application>
  <PresentationFormat>On-screen Show (16:9)</PresentationFormat>
  <Paragraphs>700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Times New Roman</vt:lpstr>
      <vt:lpstr>Arial</vt:lpstr>
      <vt:lpstr>Simple Light</vt:lpstr>
      <vt:lpstr>Federated Learning for Code Generation with Hallucination-Aware Fine Tuning  EXTERNAL VIVA </vt:lpstr>
      <vt:lpstr>INTRODUCTION</vt:lpstr>
      <vt:lpstr>PROBLEM STATEMENT</vt:lpstr>
      <vt:lpstr>OBJECTIVES</vt:lpstr>
      <vt:lpstr>PowerPoint Presentation</vt:lpstr>
      <vt:lpstr>PowerPoint Presentation</vt:lpstr>
      <vt:lpstr>METHODS/MODULES USED 1.Problem ingestion and code generation</vt:lpstr>
      <vt:lpstr>2.Hallucination detection</vt:lpstr>
      <vt:lpstr>2.Hallucination detection</vt:lpstr>
      <vt:lpstr>3.Dataset creation</vt:lpstr>
      <vt:lpstr>4.Fine tuning using LoRA </vt:lpstr>
      <vt:lpstr>5.Federated Aggregation and Distribution</vt:lpstr>
      <vt:lpstr>6.Evaluation and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EVALUVATION METRIC</vt:lpstr>
      <vt:lpstr>EVALUVATION METRIC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EXPERIMENTAL SETUP</vt:lpstr>
      <vt:lpstr>EXPERIMENTAL SETUP</vt:lpstr>
      <vt:lpstr>EXPERIMENTAL SETUP</vt:lpstr>
      <vt:lpstr>REFERENCE</vt:lpstr>
      <vt:lpstr>REFERENCE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PRABHAKARA ARJUN R</cp:lastModifiedBy>
  <cp:revision>60</cp:revision>
  <dcterms:modified xsi:type="dcterms:W3CDTF">2026-04-06T06:26:40Z</dcterms:modified>
</cp:coreProperties>
</file>